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051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200400"/>
            <a:ext cx="1645920" cy="1645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Chapter 02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Engineering Students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· Variables · Functions · Classes · Objects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· Built-in Names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124712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Identifiers are and the rules for naming them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8600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2313432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Variables store and manage data in Python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42900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747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4128" y="3502152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use Functions to write reusable logic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5156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0972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13248" y="1124712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Classes and understand Object-Oriented principles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4028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28600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13248" y="2313432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Python's reserved Keywords and their purpose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2900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4747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13248" y="3502152"/>
            <a:ext cx="3429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Python's powerful Built-in names and functions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Identifier?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identifier is a name given to a program element — variable, function, class, module, or object.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8470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40233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start with a letter (a–z, A–Z) or underscore _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contain letters, digits (0–9), and underscores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Case-sensitive: myVar ≠ MyVar ≠ MYVAR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 Python keyword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spaces or special characters allowed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847088"/>
            <a:ext cx="43434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Valid Identifiers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22860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student_name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'Alice'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_count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42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TotalMarks2024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95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9160" y="3246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Invalid Identifiers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356616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2marks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starts with digit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my-var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hyphen not allowed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reserved keyword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Python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memory location that stores a value. Python is dynamically typed — no need to declare type explicitly.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01168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2011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317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0" y="1874520"/>
            <a:ext cx="20116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2304288"/>
            <a:ext cx="2011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3317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20116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304288"/>
            <a:ext cx="2011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3317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1874520"/>
            <a:ext cx="20116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2304288"/>
            <a:ext cx="2011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33172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is_on = True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53035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1272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assignment &amp; type() function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347472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z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10, 20, 30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b = c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(x)) 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'int'&gt;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52160" y="3063240"/>
            <a:ext cx="2926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0" y="3127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0" y="3493008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declaration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changes at runtime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an object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snake_case naming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in Python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named block of reusable code that performs a specific task. Defined with the def keyword.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5720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7452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calculate_area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"""Returns area of a rectangle"""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length * width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Function Call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calculate_area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(5, 3)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 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15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20640" y="1737360"/>
            <a:ext cx="3703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1737360"/>
            <a:ext cx="73152" cy="68580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7739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20665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to the function (length, width)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514600"/>
            <a:ext cx="3703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0640" y="2514600"/>
            <a:ext cx="73152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25511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8437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string describing the function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3291840"/>
            <a:ext cx="3703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0" y="3291840"/>
            <a:ext cx="73152" cy="6858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33284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6210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result back to caller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4069080"/>
            <a:ext cx="3703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0640" y="4069080"/>
            <a:ext cx="73152" cy="6858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41056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4398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function with actual arguments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4800600"/>
            <a:ext cx="37033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480060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promote code reuse, modularity, and readability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— Blueprint for Objects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 (template) for creating objects. It bundles data (attributes) and behavior (methods) together.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93776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7452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Student: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2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name, roll):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name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roll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{self.name}</a:t>
            </a:r>
            <a:r>
              <a:rPr lang="en-US" sz="12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Roll: 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{self.roll}")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40680" y="1737360"/>
            <a:ext cx="33375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40680" y="1737360"/>
            <a:ext cx="64008" cy="53949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9552" y="177393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keyword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59552" y="201168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a new class named Student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0680" y="2359152"/>
            <a:ext cx="33375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2359152"/>
            <a:ext cx="64008" cy="53949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239572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59552" y="263347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— runs when object is created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0680" y="2980944"/>
            <a:ext cx="33375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2980944"/>
            <a:ext cx="64008" cy="5394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301752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59552" y="325526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to the current instance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3602736"/>
            <a:ext cx="33375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40680" y="3602736"/>
            <a:ext cx="64008" cy="5394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363931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9552" y="387705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roll — data stored in each object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0680" y="4224528"/>
            <a:ext cx="33375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40680" y="4224528"/>
            <a:ext cx="64008" cy="5394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426110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59552" y="449884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— behavior of the class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Objects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200400" cy="2286000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(Blueprint)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Student: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display()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03320" y="2057400"/>
            <a:ext cx="731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148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1965960" cy="2286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0058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 s1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4813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= "101"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30428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1965960" cy="2286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0058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 s2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148132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"Bob"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= "102"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230428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84124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566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Creating instance objects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('Alice', 101)   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('Bob', 102)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.display()  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Alice - Roll: 101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s2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.display()   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Bob - Roll: 102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Keywords — Reserved Words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35 reserved keywords that cannot be used as identifiers: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15214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527048" y="1371600"/>
            <a:ext cx="115214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7048" y="1371600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34056" y="1371600"/>
            <a:ext cx="115214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34056" y="1371600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41064" y="1371600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41064" y="1371600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48072" y="1371600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8072" y="1371600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1371600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371600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62088" y="1371600"/>
            <a:ext cx="115214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2088" y="1371600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1792224"/>
            <a:ext cx="115214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7922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527048" y="1792224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27048" y="17922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34056" y="1792224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34056" y="17922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941064" y="1792224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41064" y="17922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148072" y="1792224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8072" y="17922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1792224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7922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562088" y="1792224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62088" y="17922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" y="2212848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212848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527048" y="2212848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27048" y="2212848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34056" y="2212848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34056" y="2212848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941064" y="2212848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41064" y="2212848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148072" y="2212848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48072" y="2212848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55080" y="2212848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212848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562088" y="2212848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62088" y="2212848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20040" y="2633472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263347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527048" y="2633472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27048" y="263347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2734056" y="2633472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34056" y="263347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941064" y="2633472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41064" y="263347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148072" y="2633472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48072" y="263347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nonlocal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355080" y="2633472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263347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562088" y="2633472"/>
            <a:ext cx="1152144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62088" y="263347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20040" y="3054096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05409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1527048" y="3054096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27048" y="305409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2734056" y="3054096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34056" y="305409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941064" y="3054096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41064" y="305409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5148072" y="3054096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48072" y="305409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355080" y="3054096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55080" y="305409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7562088" y="3054096"/>
            <a:ext cx="115214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62088" y="305409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365760" y="457200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4944" y="45537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560320" y="4572000"/>
            <a:ext cx="27432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889504" y="45537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/ Logic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754880" y="4572000"/>
            <a:ext cx="2743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84064" y="45537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/ Scope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949440" y="4572000"/>
            <a:ext cx="2743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78624" y="45537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/ Async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— Usage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25196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elif / else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" y="1463040"/>
            <a:ext cx="4096512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99616"/>
            <a:ext cx="40050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'A'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75: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'B'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'C'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25196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42416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/ while / break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28032" y="1463040"/>
            <a:ext cx="4096512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99616"/>
            <a:ext cx="40050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3: break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 # 0 1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425196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54096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/ return / lambda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3192" y="3474720"/>
            <a:ext cx="4096512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11296"/>
            <a:ext cx="40050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square(x): return x**2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= lambda n: n * 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print(square(4))   # 16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425196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54096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/ except / finally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3474720"/>
            <a:ext cx="4096512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511296"/>
            <a:ext cx="40050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int(input())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print('Invalid!')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print('Done')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Use import keyword to check all keywords — import keyword; print(keyword.kwlist)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Built-in Names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names are pre-defined and always available — no import needed. They live in the __builtins__ module.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81635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816352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49047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679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   input()   open()   format()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91256" y="1463040"/>
            <a:ext cx="281635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91256" y="1463040"/>
            <a:ext cx="2816352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49047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82696" y="1874520"/>
            <a:ext cx="2679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   float()   str()   bool()   list()   tuple()   dict()   set()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62472" y="1463040"/>
            <a:ext cx="281635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62472" y="1463040"/>
            <a:ext cx="2816352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149047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&amp; Info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53912" y="1874520"/>
            <a:ext cx="2679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type()   len()   id()   dir()   help()   isinstance()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281635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91840"/>
            <a:ext cx="281635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31927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Logic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3703320"/>
            <a:ext cx="2679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abs()   max()   min()   sum()   round()   pow()   divmod()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91256" y="3291840"/>
            <a:ext cx="281635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91256" y="3291840"/>
            <a:ext cx="2816352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331927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&amp; Sequence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82696" y="3703320"/>
            <a:ext cx="2679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range()   enumerate()   zip()   map()   filter()   sorted()   reversed()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62472" y="3291840"/>
            <a:ext cx="281635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62472" y="3291840"/>
            <a:ext cx="2816352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331927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Types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53912" y="3703320"/>
            <a:ext cx="2679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float   str   list   dict   tuple   set   bool   bytes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Names — Usage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51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25196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 / input() / len()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3192" y="146304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517904"/>
            <a:ext cx="39959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input('Enter name: 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print('Hello,', name)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= [85, 90, 78, 92]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print(len(marks))   # 4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51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25196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4241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type() / int() / str()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36592" y="146304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517904"/>
            <a:ext cx="39959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'42'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print(type(x))     # &lt;class 'str'&gt;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int(x)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print(type(y))     # &lt;class 'int'&gt;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4251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43200"/>
            <a:ext cx="425196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797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range() / enumerate() / zip()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93192" y="320040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3255264"/>
            <a:ext cx="39959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val in enumerate(['a','b','c']):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val)  # 0 a, 1 b, 2 c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a, b in zip([1,2], ['x','y']):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print(a, b)   # 1 x, 2 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251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43200"/>
            <a:ext cx="4251960" cy="384048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7797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max() / min() / sorted()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36592" y="320040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3255264"/>
            <a:ext cx="39959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[3, 1, 4, 1, 5, 9, 2]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print(max(nums))    # 9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print(min(nums))    # 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print(sorted(nums)) # [1,1,2,3,4,5,9]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011680" cy="2011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3657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16052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" y="1152144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42646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for program elements — follow strict rules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416052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2996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12140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87552" y="208483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359152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storage; dynamically typed in Python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416052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62656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05409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7552" y="301752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329184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 blocks defined with def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895344"/>
            <a:ext cx="416052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95344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9867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87552" y="395020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552" y="422452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that bundle data and methods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1097280"/>
            <a:ext cx="416052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09728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1188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76672" y="1152144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Objects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76672" y="142646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instances created from a class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2029968"/>
            <a:ext cx="416052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02996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12140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76672" y="208483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(35)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76672" y="2359152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words — cannot be used as identifiers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2962656"/>
            <a:ext cx="416052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962656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05409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376672" y="301752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Names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76672" y="329184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functions always available — no import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concepts daily — Python mastery comes with consistent hands-on coding!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1243</Words>
  <Application>Microsoft Office PowerPoint</Application>
  <PresentationFormat>On-screen Show (16:9)</PresentationFormat>
  <Paragraphs>244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Fundamentals for Engineering Students</dc:title>
  <dc:subject>PptxGenJS Presentation</dc:subject>
  <dc:creator>PptxGenJS</dc:creator>
  <cp:lastModifiedBy>Triveni Singh</cp:lastModifiedBy>
  <cp:revision>2</cp:revision>
  <dcterms:created xsi:type="dcterms:W3CDTF">2026-05-20T02:07:59Z</dcterms:created>
  <dcterms:modified xsi:type="dcterms:W3CDTF">2026-05-20T05:56:10Z</dcterms:modified>
</cp:coreProperties>
</file>