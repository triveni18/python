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9" r:id="rId3"/>
    <p:sldId id="271" r:id="rId4"/>
    <p:sldId id="272" r:id="rId5"/>
    <p:sldId id="258" r:id="rId6"/>
    <p:sldId id="267" r:id="rId7"/>
    <p:sldId id="268" r:id="rId8"/>
    <p:sldId id="259" r:id="rId9"/>
    <p:sldId id="260" r:id="rId10"/>
    <p:sldId id="261" r:id="rId11"/>
    <p:sldId id="262" r:id="rId12"/>
    <p:sldId id="273" r:id="rId13"/>
    <p:sldId id="263" r:id="rId14"/>
    <p:sldId id="265" r:id="rId15"/>
    <p:sldId id="266" r:id="rId16"/>
  </p:sldIdLst>
  <p:sldSz cx="18288000" cy="10287000"/>
  <p:notesSz cx="6858000" cy="9144000"/>
  <p:embeddedFontLst>
    <p:embeddedFont>
      <p:font typeface="Agrandir Grand Bold" panose="020B0604020202020204" charset="0"/>
      <p:regular r:id="rId17"/>
    </p:embeddedFont>
    <p:embeddedFont>
      <p:font typeface="Montaser Arabic" panose="020B0604020202020204" charset="-78"/>
      <p:regular r:id="rId18"/>
    </p:embeddedFont>
    <p:embeddedFont>
      <p:font typeface="Montaser Arabic Bold" panose="020B0604020202020204" charset="-78"/>
      <p:regular r:id="rId19"/>
    </p:embeddedFont>
    <p:embeddedFont>
      <p:font typeface="Montaser Arabic Light" panose="020B0604020202020204" charset="-78"/>
      <p:regular r:id="rId20"/>
    </p:embeddedFont>
    <p:embeddedFont>
      <p:font typeface="TT Supermolot Neue Expanded" panose="020B0604020202020204" charset="0"/>
      <p:regular r:id="rId21"/>
    </p:embeddedFont>
    <p:embeddedFont>
      <p:font typeface="TT Supermolot Neue Expanded Bold"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E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86" autoAdjust="0"/>
    <p:restoredTop sz="94622" autoAdjust="0"/>
  </p:normalViewPr>
  <p:slideViewPr>
    <p:cSldViewPr>
      <p:cViewPr varScale="1">
        <p:scale>
          <a:sx n="60" d="100"/>
          <a:sy n="60" d="100"/>
        </p:scale>
        <p:origin x="408"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FEEEB"/>
        </a:solidFill>
        <a:effectLst/>
      </p:bgPr>
    </p:bg>
    <p:spTree>
      <p:nvGrpSpPr>
        <p:cNvPr id="1" name=""/>
        <p:cNvGrpSpPr/>
        <p:nvPr/>
      </p:nvGrpSpPr>
      <p:grpSpPr>
        <a:xfrm>
          <a:off x="0" y="0"/>
          <a:ext cx="0" cy="0"/>
          <a:chOff x="0" y="0"/>
          <a:chExt cx="0" cy="0"/>
        </a:xfrm>
      </p:grpSpPr>
      <p:sp>
        <p:nvSpPr>
          <p:cNvPr id="2" name="Freeform 2"/>
          <p:cNvSpPr/>
          <p:nvPr/>
        </p:nvSpPr>
        <p:spPr>
          <a:xfrm>
            <a:off x="8428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3" name="Freeform 3"/>
          <p:cNvSpPr/>
          <p:nvPr/>
        </p:nvSpPr>
        <p:spPr>
          <a:xfrm>
            <a:off x="-427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AutoShape 4"/>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5" name="Freeform 5"/>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6" name="Group 6"/>
          <p:cNvGrpSpPr/>
          <p:nvPr/>
        </p:nvGrpSpPr>
        <p:grpSpPr>
          <a:xfrm>
            <a:off x="1085850" y="665030"/>
            <a:ext cx="92277" cy="524320"/>
            <a:chOff x="0" y="0"/>
            <a:chExt cx="24303" cy="138092"/>
          </a:xfrm>
        </p:grpSpPr>
        <p:sp>
          <p:nvSpPr>
            <p:cNvPr id="7" name="Freeform 7"/>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8" name="TextBox 8"/>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9" name="Group 9"/>
          <p:cNvGrpSpPr/>
          <p:nvPr/>
        </p:nvGrpSpPr>
        <p:grpSpPr>
          <a:xfrm>
            <a:off x="10328121" y="1359977"/>
            <a:ext cx="1080278" cy="106932"/>
            <a:chOff x="0" y="0"/>
            <a:chExt cx="284518" cy="28163"/>
          </a:xfrm>
        </p:grpSpPr>
        <p:sp>
          <p:nvSpPr>
            <p:cNvPr id="10" name="Freeform 10"/>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1" name="TextBox 11"/>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p:cNvGrpSpPr/>
          <p:nvPr/>
        </p:nvGrpSpPr>
        <p:grpSpPr>
          <a:xfrm>
            <a:off x="1028700" y="8478095"/>
            <a:ext cx="16230600" cy="943898"/>
            <a:chOff x="0" y="0"/>
            <a:chExt cx="4274726" cy="248599"/>
          </a:xfrm>
        </p:grpSpPr>
        <p:sp>
          <p:nvSpPr>
            <p:cNvPr id="13" name="Freeform 13"/>
            <p:cNvSpPr/>
            <p:nvPr/>
          </p:nvSpPr>
          <p:spPr>
            <a:xfrm>
              <a:off x="0" y="0"/>
              <a:ext cx="4274726" cy="248599"/>
            </a:xfrm>
            <a:custGeom>
              <a:avLst/>
              <a:gdLst/>
              <a:ahLst/>
              <a:cxnLst/>
              <a:rect l="l" t="t" r="r" b="b"/>
              <a:pathLst>
                <a:path w="4274726" h="248599">
                  <a:moveTo>
                    <a:pt x="24327" y="0"/>
                  </a:moveTo>
                  <a:lnTo>
                    <a:pt x="4250399" y="0"/>
                  </a:lnTo>
                  <a:cubicBezTo>
                    <a:pt x="4263834" y="0"/>
                    <a:pt x="4274726" y="10891"/>
                    <a:pt x="4274726" y="24327"/>
                  </a:cubicBezTo>
                  <a:lnTo>
                    <a:pt x="4274726" y="224272"/>
                  </a:lnTo>
                  <a:cubicBezTo>
                    <a:pt x="4274726" y="230724"/>
                    <a:pt x="4272163" y="236911"/>
                    <a:pt x="4267601" y="241474"/>
                  </a:cubicBezTo>
                  <a:cubicBezTo>
                    <a:pt x="4263039" y="246036"/>
                    <a:pt x="4256851" y="248599"/>
                    <a:pt x="4250399" y="248599"/>
                  </a:cubicBezTo>
                  <a:lnTo>
                    <a:pt x="24327" y="248599"/>
                  </a:lnTo>
                  <a:cubicBezTo>
                    <a:pt x="10891" y="248599"/>
                    <a:pt x="0" y="237707"/>
                    <a:pt x="0" y="224272"/>
                  </a:cubicBezTo>
                  <a:lnTo>
                    <a:pt x="0" y="24327"/>
                  </a:lnTo>
                  <a:cubicBezTo>
                    <a:pt x="0" y="10891"/>
                    <a:pt x="10891" y="0"/>
                    <a:pt x="24327" y="0"/>
                  </a:cubicBezTo>
                  <a:close/>
                </a:path>
              </a:pathLst>
            </a:custGeom>
            <a:solidFill>
              <a:srgbClr val="283396"/>
            </a:solidFill>
            <a:ln w="19050" cap="rnd">
              <a:solidFill>
                <a:srgbClr val="283396"/>
              </a:solidFill>
              <a:prstDash val="solid"/>
              <a:round/>
            </a:ln>
          </p:spPr>
        </p:sp>
        <p:sp>
          <p:nvSpPr>
            <p:cNvPr id="14" name="TextBox 14"/>
            <p:cNvSpPr txBox="1"/>
            <p:nvPr/>
          </p:nvSpPr>
          <p:spPr>
            <a:xfrm>
              <a:off x="0" y="-38100"/>
              <a:ext cx="4274726" cy="286699"/>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p:cNvGrpSpPr/>
          <p:nvPr/>
        </p:nvGrpSpPr>
        <p:grpSpPr>
          <a:xfrm>
            <a:off x="1085850" y="2119722"/>
            <a:ext cx="6419658" cy="5848164"/>
            <a:chOff x="0" y="0"/>
            <a:chExt cx="1752642" cy="1596617"/>
          </a:xfrm>
        </p:grpSpPr>
        <p:sp>
          <p:nvSpPr>
            <p:cNvPr id="16" name="Freeform 16"/>
            <p:cNvSpPr/>
            <p:nvPr/>
          </p:nvSpPr>
          <p:spPr>
            <a:xfrm>
              <a:off x="0" y="0"/>
              <a:ext cx="1752642" cy="1596617"/>
            </a:xfrm>
            <a:custGeom>
              <a:avLst/>
              <a:gdLst/>
              <a:ahLst/>
              <a:cxnLst/>
              <a:rect l="l" t="t" r="r" b="b"/>
              <a:pathLst>
                <a:path w="1752642" h="1596617">
                  <a:moveTo>
                    <a:pt x="61505" y="0"/>
                  </a:moveTo>
                  <a:lnTo>
                    <a:pt x="1691137" y="0"/>
                  </a:lnTo>
                  <a:cubicBezTo>
                    <a:pt x="1725105" y="0"/>
                    <a:pt x="1752642" y="27537"/>
                    <a:pt x="1752642" y="61505"/>
                  </a:cubicBezTo>
                  <a:lnTo>
                    <a:pt x="1752642" y="1535113"/>
                  </a:lnTo>
                  <a:cubicBezTo>
                    <a:pt x="1752642" y="1569081"/>
                    <a:pt x="1725105" y="1596617"/>
                    <a:pt x="1691137" y="1596617"/>
                  </a:cubicBezTo>
                  <a:lnTo>
                    <a:pt x="61505" y="1596617"/>
                  </a:lnTo>
                  <a:cubicBezTo>
                    <a:pt x="27537" y="1596617"/>
                    <a:pt x="0" y="1569081"/>
                    <a:pt x="0" y="1535113"/>
                  </a:cubicBezTo>
                  <a:lnTo>
                    <a:pt x="0" y="61505"/>
                  </a:lnTo>
                  <a:cubicBezTo>
                    <a:pt x="0" y="27537"/>
                    <a:pt x="27537" y="0"/>
                    <a:pt x="61505" y="0"/>
                  </a:cubicBezTo>
                  <a:close/>
                </a:path>
              </a:pathLst>
            </a:custGeom>
            <a:ln w="19050" cap="rnd">
              <a:solidFill>
                <a:srgbClr val="283396"/>
              </a:solidFill>
              <a:prstDash val="solid"/>
              <a:round/>
            </a:ln>
          </p:spPr>
        </p:sp>
        <p:sp>
          <p:nvSpPr>
            <p:cNvPr id="17" name="TextBox 17"/>
            <p:cNvSpPr txBox="1"/>
            <p:nvPr/>
          </p:nvSpPr>
          <p:spPr>
            <a:xfrm>
              <a:off x="0" y="-38100"/>
              <a:ext cx="1752642" cy="1634717"/>
            </a:xfrm>
            <a:prstGeom prst="rect">
              <a:avLst/>
            </a:prstGeom>
          </p:spPr>
          <p:txBody>
            <a:bodyPr lIns="50800" tIns="50800" rIns="50800" bIns="50800" rtlCol="0" anchor="ctr"/>
            <a:lstStyle/>
            <a:p>
              <a:pPr marL="0" lvl="0" indent="0" algn="ctr">
                <a:lnSpc>
                  <a:spcPts val="2659"/>
                </a:lnSpc>
              </a:pPr>
              <a:endParaRPr/>
            </a:p>
          </p:txBody>
        </p:sp>
      </p:grpSp>
      <p:grpSp>
        <p:nvGrpSpPr>
          <p:cNvPr id="18" name="Group 18"/>
          <p:cNvGrpSpPr/>
          <p:nvPr/>
        </p:nvGrpSpPr>
        <p:grpSpPr>
          <a:xfrm>
            <a:off x="1085850" y="6860295"/>
            <a:ext cx="6419658" cy="1107591"/>
            <a:chOff x="0" y="0"/>
            <a:chExt cx="1690774" cy="291711"/>
          </a:xfrm>
        </p:grpSpPr>
        <p:sp>
          <p:nvSpPr>
            <p:cNvPr id="19" name="Freeform 19"/>
            <p:cNvSpPr/>
            <p:nvPr/>
          </p:nvSpPr>
          <p:spPr>
            <a:xfrm>
              <a:off x="0" y="0"/>
              <a:ext cx="1690774" cy="291711"/>
            </a:xfrm>
            <a:custGeom>
              <a:avLst/>
              <a:gdLst/>
              <a:ahLst/>
              <a:cxnLst/>
              <a:rect l="l" t="t" r="r" b="b"/>
              <a:pathLst>
                <a:path w="1690774" h="291711">
                  <a:moveTo>
                    <a:pt x="61505" y="0"/>
                  </a:moveTo>
                  <a:lnTo>
                    <a:pt x="1629270" y="0"/>
                  </a:lnTo>
                  <a:cubicBezTo>
                    <a:pt x="1663238" y="0"/>
                    <a:pt x="1690774" y="27537"/>
                    <a:pt x="1690774" y="61505"/>
                  </a:cubicBezTo>
                  <a:lnTo>
                    <a:pt x="1690774" y="230207"/>
                  </a:lnTo>
                  <a:cubicBezTo>
                    <a:pt x="1690774" y="246519"/>
                    <a:pt x="1684294" y="262163"/>
                    <a:pt x="1672760" y="273697"/>
                  </a:cubicBezTo>
                  <a:cubicBezTo>
                    <a:pt x="1661226" y="285231"/>
                    <a:pt x="1645582" y="291711"/>
                    <a:pt x="1629270" y="291711"/>
                  </a:cubicBezTo>
                  <a:lnTo>
                    <a:pt x="61505" y="291711"/>
                  </a:lnTo>
                  <a:cubicBezTo>
                    <a:pt x="27537" y="291711"/>
                    <a:pt x="0" y="264175"/>
                    <a:pt x="0" y="230207"/>
                  </a:cubicBezTo>
                  <a:lnTo>
                    <a:pt x="0" y="61505"/>
                  </a:lnTo>
                  <a:cubicBezTo>
                    <a:pt x="0" y="27537"/>
                    <a:pt x="27537" y="0"/>
                    <a:pt x="61505" y="0"/>
                  </a:cubicBezTo>
                  <a:close/>
                </a:path>
              </a:pathLst>
            </a:custGeom>
            <a:solidFill>
              <a:srgbClr val="283396"/>
            </a:solidFill>
            <a:ln w="19050" cap="rnd">
              <a:solidFill>
                <a:srgbClr val="283396"/>
              </a:solidFill>
              <a:prstDash val="solid"/>
              <a:round/>
            </a:ln>
          </p:spPr>
        </p:sp>
        <p:sp>
          <p:nvSpPr>
            <p:cNvPr id="20" name="TextBox 20"/>
            <p:cNvSpPr txBox="1"/>
            <p:nvPr/>
          </p:nvSpPr>
          <p:spPr>
            <a:xfrm>
              <a:off x="0" y="-38100"/>
              <a:ext cx="1690774" cy="329811"/>
            </a:xfrm>
            <a:prstGeom prst="rect">
              <a:avLst/>
            </a:prstGeom>
          </p:spPr>
          <p:txBody>
            <a:bodyPr lIns="50800" tIns="50800" rIns="50800" bIns="50800" rtlCol="0" anchor="ctr"/>
            <a:lstStyle/>
            <a:p>
              <a:pPr marL="0" lvl="0" indent="0" algn="ctr">
                <a:lnSpc>
                  <a:spcPts val="2659"/>
                </a:lnSpc>
              </a:pPr>
              <a:endParaRPr/>
            </a:p>
          </p:txBody>
        </p:sp>
      </p:grpSp>
      <p:sp>
        <p:nvSpPr>
          <p:cNvPr id="21" name="Freeform 21"/>
          <p:cNvSpPr/>
          <p:nvPr/>
        </p:nvSpPr>
        <p:spPr>
          <a:xfrm>
            <a:off x="1608363" y="2483495"/>
            <a:ext cx="4668231" cy="4609878"/>
          </a:xfrm>
          <a:custGeom>
            <a:avLst/>
            <a:gdLst/>
            <a:ahLst/>
            <a:cxnLst/>
            <a:rect l="l" t="t" r="r" b="b"/>
            <a:pathLst>
              <a:path w="4668231" h="4609878">
                <a:moveTo>
                  <a:pt x="0" y="0"/>
                </a:moveTo>
                <a:lnTo>
                  <a:pt x="4668231" y="0"/>
                </a:lnTo>
                <a:lnTo>
                  <a:pt x="4668231" y="4609878"/>
                </a:lnTo>
                <a:lnTo>
                  <a:pt x="0" y="4609878"/>
                </a:lnTo>
                <a:lnTo>
                  <a:pt x="0" y="0"/>
                </a:lnTo>
                <a:close/>
              </a:path>
            </a:pathLst>
          </a:custGeom>
          <a:blipFill>
            <a:blip r:embed="rId4"/>
            <a:stretch>
              <a:fillRect/>
            </a:stretch>
          </a:blipFill>
        </p:spPr>
      </p:sp>
      <p:sp>
        <p:nvSpPr>
          <p:cNvPr id="22" name="TextBox 22"/>
          <p:cNvSpPr txBox="1"/>
          <p:nvPr/>
        </p:nvSpPr>
        <p:spPr>
          <a:xfrm>
            <a:off x="1350057" y="703130"/>
            <a:ext cx="2657415" cy="472149"/>
          </a:xfrm>
          <a:prstGeom prst="rect">
            <a:avLst/>
          </a:prstGeom>
        </p:spPr>
        <p:txBody>
          <a:bodyPr lIns="0" tIns="0" rIns="0" bIns="0" rtlCol="0" anchor="t">
            <a:spAutoFit/>
          </a:bodyPr>
          <a:lstStyle/>
          <a:p>
            <a:pPr marL="0" lvl="0" indent="0" algn="l">
              <a:lnSpc>
                <a:spcPts val="1860"/>
              </a:lnSpc>
            </a:pPr>
            <a:r>
              <a:rPr lang="en-US" sz="1898" b="1" spc="-115">
                <a:solidFill>
                  <a:srgbClr val="283396"/>
                </a:solidFill>
                <a:latin typeface="Montaser Arabic Bold"/>
                <a:ea typeface="Montaser Arabic Bold"/>
                <a:cs typeface="Montaser Arabic Bold"/>
                <a:sym typeface="Montaser Arabic Bold"/>
              </a:rPr>
              <a:t>PYTHON</a:t>
            </a:r>
          </a:p>
          <a:p>
            <a:pPr marL="0" lvl="0" indent="0" algn="l">
              <a:lnSpc>
                <a:spcPts val="1860"/>
              </a:lnSpc>
            </a:pPr>
            <a:r>
              <a:rPr lang="en-US" sz="1898" b="1" spc="-115">
                <a:solidFill>
                  <a:srgbClr val="283396"/>
                </a:solidFill>
                <a:latin typeface="Montaser Arabic Bold"/>
                <a:ea typeface="Montaser Arabic Bold"/>
                <a:cs typeface="Montaser Arabic Bold"/>
                <a:sym typeface="Montaser Arabic Bold"/>
              </a:rPr>
              <a:t>PRESENTATION</a:t>
            </a:r>
          </a:p>
        </p:txBody>
      </p:sp>
      <p:sp>
        <p:nvSpPr>
          <p:cNvPr id="23" name="TextBox 23"/>
          <p:cNvSpPr txBox="1"/>
          <p:nvPr/>
        </p:nvSpPr>
        <p:spPr>
          <a:xfrm>
            <a:off x="5337971" y="765300"/>
            <a:ext cx="1755559"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HOME</a:t>
            </a:r>
          </a:p>
        </p:txBody>
      </p:sp>
      <p:sp>
        <p:nvSpPr>
          <p:cNvPr id="24" name="TextBox 24"/>
          <p:cNvSpPr txBox="1"/>
          <p:nvPr/>
        </p:nvSpPr>
        <p:spPr>
          <a:xfrm>
            <a:off x="7463217" y="765300"/>
            <a:ext cx="2013772"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ABOUT</a:t>
            </a:r>
          </a:p>
        </p:txBody>
      </p:sp>
      <p:sp>
        <p:nvSpPr>
          <p:cNvPr id="25" name="TextBox 25"/>
          <p:cNvSpPr txBox="1"/>
          <p:nvPr/>
        </p:nvSpPr>
        <p:spPr>
          <a:xfrm>
            <a:off x="9856201" y="765300"/>
            <a:ext cx="2024119" cy="323249"/>
          </a:xfrm>
          <a:prstGeom prst="rect">
            <a:avLst/>
          </a:prstGeom>
        </p:spPr>
        <p:txBody>
          <a:bodyPr lIns="0" tIns="0" rIns="0" bIns="0" rtlCol="0" anchor="t">
            <a:spAutoFit/>
          </a:bodyPr>
          <a:lstStyle/>
          <a:p>
            <a:pPr marL="0" lvl="0" indent="0" algn="ctr">
              <a:lnSpc>
                <a:spcPts val="2658"/>
              </a:lnSpc>
              <a:spcBef>
                <a:spcPct val="0"/>
              </a:spcBef>
            </a:pPr>
            <a:r>
              <a:rPr lang="en-US" sz="1898" b="1">
                <a:solidFill>
                  <a:srgbClr val="283396"/>
                </a:solidFill>
                <a:latin typeface="Montaser Arabic Bold"/>
                <a:ea typeface="Montaser Arabic Bold"/>
                <a:cs typeface="Montaser Arabic Bold"/>
                <a:sym typeface="Montaser Arabic Bold"/>
              </a:rPr>
              <a:t>CONTENT</a:t>
            </a:r>
          </a:p>
        </p:txBody>
      </p:sp>
      <p:sp>
        <p:nvSpPr>
          <p:cNvPr id="26" name="TextBox 26"/>
          <p:cNvSpPr txBox="1"/>
          <p:nvPr/>
        </p:nvSpPr>
        <p:spPr>
          <a:xfrm>
            <a:off x="12101593" y="765300"/>
            <a:ext cx="2349448"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OTHERS</a:t>
            </a:r>
          </a:p>
        </p:txBody>
      </p:sp>
      <p:sp>
        <p:nvSpPr>
          <p:cNvPr id="27" name="TextBox 27"/>
          <p:cNvSpPr txBox="1"/>
          <p:nvPr/>
        </p:nvSpPr>
        <p:spPr>
          <a:xfrm>
            <a:off x="1080344" y="8773170"/>
            <a:ext cx="16127312" cy="379119"/>
          </a:xfrm>
          <a:prstGeom prst="rect">
            <a:avLst/>
          </a:prstGeom>
        </p:spPr>
        <p:txBody>
          <a:bodyPr lIns="0" tIns="0" rIns="0" bIns="0" rtlCol="0" anchor="t">
            <a:spAutoFit/>
          </a:bodyPr>
          <a:lstStyle/>
          <a:p>
            <a:pPr marL="0" lvl="0" indent="0" algn="ctr">
              <a:lnSpc>
                <a:spcPts val="2466"/>
              </a:lnSpc>
            </a:pPr>
            <a:r>
              <a:rPr lang="en-US" sz="2417" b="1" spc="-87">
                <a:solidFill>
                  <a:srgbClr val="EFEEEB"/>
                </a:solidFill>
                <a:latin typeface="Agrandir Grand Bold"/>
                <a:ea typeface="Agrandir Grand Bold"/>
                <a:cs typeface="Agrandir Grand Bold"/>
                <a:sym typeface="Agrandir Grand Bold"/>
              </a:rPr>
              <a:t>PYTHON PROGRAMMING LANGUAGE - YOUR GATEWAY TO MODERN DEVELOPMENT</a:t>
            </a:r>
          </a:p>
        </p:txBody>
      </p:sp>
      <p:grpSp>
        <p:nvGrpSpPr>
          <p:cNvPr id="29" name="Group 29"/>
          <p:cNvGrpSpPr/>
          <p:nvPr/>
        </p:nvGrpSpPr>
        <p:grpSpPr>
          <a:xfrm>
            <a:off x="8620698" y="6970921"/>
            <a:ext cx="2119546" cy="627805"/>
            <a:chOff x="0" y="0"/>
            <a:chExt cx="558234" cy="165348"/>
          </a:xfrm>
        </p:grpSpPr>
        <p:sp>
          <p:nvSpPr>
            <p:cNvPr id="30" name="Freeform 30"/>
            <p:cNvSpPr/>
            <p:nvPr/>
          </p:nvSpPr>
          <p:spPr>
            <a:xfrm>
              <a:off x="0" y="0"/>
              <a:ext cx="558234" cy="165348"/>
            </a:xfrm>
            <a:custGeom>
              <a:avLst/>
              <a:gdLst/>
              <a:ahLst/>
              <a:cxnLst/>
              <a:rect l="l" t="t" r="r" b="b"/>
              <a:pathLst>
                <a:path w="558234" h="165348">
                  <a:moveTo>
                    <a:pt x="82674" y="0"/>
                  </a:moveTo>
                  <a:lnTo>
                    <a:pt x="475560" y="0"/>
                  </a:lnTo>
                  <a:cubicBezTo>
                    <a:pt x="521220" y="0"/>
                    <a:pt x="558234" y="37014"/>
                    <a:pt x="558234" y="82674"/>
                  </a:cubicBezTo>
                  <a:lnTo>
                    <a:pt x="558234" y="82674"/>
                  </a:lnTo>
                  <a:cubicBezTo>
                    <a:pt x="558234" y="104600"/>
                    <a:pt x="549524" y="125629"/>
                    <a:pt x="534020" y="141133"/>
                  </a:cubicBezTo>
                  <a:cubicBezTo>
                    <a:pt x="518515" y="156638"/>
                    <a:pt x="497487" y="165348"/>
                    <a:pt x="475560" y="165348"/>
                  </a:cubicBezTo>
                  <a:lnTo>
                    <a:pt x="82674" y="165348"/>
                  </a:lnTo>
                  <a:cubicBezTo>
                    <a:pt x="37014" y="165348"/>
                    <a:pt x="0" y="128334"/>
                    <a:pt x="0" y="82674"/>
                  </a:cubicBezTo>
                  <a:lnTo>
                    <a:pt x="0" y="82674"/>
                  </a:lnTo>
                  <a:cubicBezTo>
                    <a:pt x="0" y="37014"/>
                    <a:pt x="37014" y="0"/>
                    <a:pt x="82674" y="0"/>
                  </a:cubicBezTo>
                  <a:close/>
                </a:path>
              </a:pathLst>
            </a:custGeom>
            <a:solidFill>
              <a:srgbClr val="D43838"/>
            </a:solidFill>
            <a:ln cap="rnd">
              <a:noFill/>
              <a:prstDash val="solid"/>
              <a:round/>
            </a:ln>
          </p:spPr>
        </p:sp>
        <p:sp>
          <p:nvSpPr>
            <p:cNvPr id="31" name="TextBox 31"/>
            <p:cNvSpPr txBox="1"/>
            <p:nvPr/>
          </p:nvSpPr>
          <p:spPr>
            <a:xfrm>
              <a:off x="0" y="-38100"/>
              <a:ext cx="558234" cy="203448"/>
            </a:xfrm>
            <a:prstGeom prst="rect">
              <a:avLst/>
            </a:prstGeom>
          </p:spPr>
          <p:txBody>
            <a:bodyPr lIns="50800" tIns="50800" rIns="50800" bIns="50800" rtlCol="0" anchor="ctr"/>
            <a:lstStyle/>
            <a:p>
              <a:pPr marL="0" lvl="0" indent="0" algn="ctr">
                <a:lnSpc>
                  <a:spcPts val="2658"/>
                </a:lnSpc>
              </a:pPr>
              <a:r>
                <a:rPr lang="en-US" sz="1898" b="1">
                  <a:solidFill>
                    <a:srgbClr val="FFFFFF"/>
                  </a:solidFill>
                  <a:latin typeface="Montaser Arabic Bold"/>
                  <a:ea typeface="Montaser Arabic Bold"/>
                  <a:cs typeface="Montaser Arabic Bold"/>
                  <a:sym typeface="Montaser Arabic Bold"/>
                </a:rPr>
                <a:t>GET STARTED</a:t>
              </a:r>
            </a:p>
          </p:txBody>
        </p:sp>
      </p:grpSp>
      <p:grpSp>
        <p:nvGrpSpPr>
          <p:cNvPr id="32" name="Group 32"/>
          <p:cNvGrpSpPr/>
          <p:nvPr/>
        </p:nvGrpSpPr>
        <p:grpSpPr>
          <a:xfrm>
            <a:off x="6653138" y="4776361"/>
            <a:ext cx="1396060" cy="1396060"/>
            <a:chOff x="0" y="0"/>
            <a:chExt cx="812800" cy="812800"/>
          </a:xfrm>
        </p:grpSpPr>
        <p:sp>
          <p:nvSpPr>
            <p:cNvPr id="33" name="Freeform 3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34" name="TextBox 34"/>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35" name="Group 35"/>
          <p:cNvGrpSpPr/>
          <p:nvPr/>
        </p:nvGrpSpPr>
        <p:grpSpPr>
          <a:xfrm>
            <a:off x="6955918" y="5101099"/>
            <a:ext cx="790500" cy="746583"/>
            <a:chOff x="0" y="0"/>
            <a:chExt cx="685800" cy="647700"/>
          </a:xfrm>
        </p:grpSpPr>
        <p:sp>
          <p:nvSpPr>
            <p:cNvPr id="36" name="Freeform 36"/>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37" name="TextBox 37"/>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grpSp>
        <p:nvGrpSpPr>
          <p:cNvPr id="38" name="Group 18">
            <a:extLst>
              <a:ext uri="{FF2B5EF4-FFF2-40B4-BE49-F238E27FC236}">
                <a16:creationId xmlns:a16="http://schemas.microsoft.com/office/drawing/2014/main" id="{0BF347CC-359D-DAFC-003D-EEC195E2F021}"/>
              </a:ext>
            </a:extLst>
          </p:cNvPr>
          <p:cNvGrpSpPr>
            <a:grpSpLocks/>
          </p:cNvGrpSpPr>
          <p:nvPr/>
        </p:nvGrpSpPr>
        <p:grpSpPr>
          <a:xfrm>
            <a:off x="7805984" y="2403335"/>
            <a:ext cx="10065040" cy="1107591"/>
            <a:chOff x="0" y="0"/>
            <a:chExt cx="1690774" cy="291711"/>
          </a:xfrm>
        </p:grpSpPr>
        <p:sp>
          <p:nvSpPr>
            <p:cNvPr id="39" name="Freeform 19">
              <a:extLst>
                <a:ext uri="{FF2B5EF4-FFF2-40B4-BE49-F238E27FC236}">
                  <a16:creationId xmlns:a16="http://schemas.microsoft.com/office/drawing/2014/main" id="{66BE34BF-5D26-ACCF-9E2E-3A514C0700C1}"/>
                </a:ext>
              </a:extLst>
            </p:cNvPr>
            <p:cNvSpPr>
              <a:spLocks/>
            </p:cNvSpPr>
            <p:nvPr/>
          </p:nvSpPr>
          <p:spPr>
            <a:xfrm>
              <a:off x="0" y="0"/>
              <a:ext cx="1690774" cy="291711"/>
            </a:xfrm>
            <a:custGeom>
              <a:avLst/>
              <a:gdLst/>
              <a:ahLst/>
              <a:cxnLst/>
              <a:rect l="l" t="t" r="r" b="b"/>
              <a:pathLst>
                <a:path w="1690774" h="291711">
                  <a:moveTo>
                    <a:pt x="61505" y="0"/>
                  </a:moveTo>
                  <a:lnTo>
                    <a:pt x="1629270" y="0"/>
                  </a:lnTo>
                  <a:cubicBezTo>
                    <a:pt x="1663238" y="0"/>
                    <a:pt x="1690774" y="27537"/>
                    <a:pt x="1690774" y="61505"/>
                  </a:cubicBezTo>
                  <a:lnTo>
                    <a:pt x="1690774" y="230207"/>
                  </a:lnTo>
                  <a:cubicBezTo>
                    <a:pt x="1690774" y="246519"/>
                    <a:pt x="1684294" y="262163"/>
                    <a:pt x="1672760" y="273697"/>
                  </a:cubicBezTo>
                  <a:cubicBezTo>
                    <a:pt x="1661226" y="285231"/>
                    <a:pt x="1645582" y="291711"/>
                    <a:pt x="1629270" y="291711"/>
                  </a:cubicBezTo>
                  <a:lnTo>
                    <a:pt x="61505" y="291711"/>
                  </a:lnTo>
                  <a:cubicBezTo>
                    <a:pt x="27537" y="291711"/>
                    <a:pt x="0" y="264175"/>
                    <a:pt x="0" y="230207"/>
                  </a:cubicBezTo>
                  <a:lnTo>
                    <a:pt x="0" y="61505"/>
                  </a:lnTo>
                  <a:cubicBezTo>
                    <a:pt x="0" y="27537"/>
                    <a:pt x="27537" y="0"/>
                    <a:pt x="61505" y="0"/>
                  </a:cubicBezTo>
                  <a:close/>
                </a:path>
              </a:pathLst>
            </a:custGeom>
            <a:solidFill>
              <a:srgbClr val="283396"/>
            </a:solidFill>
            <a:ln w="19050" cap="rnd">
              <a:solidFill>
                <a:srgbClr val="283396"/>
              </a:solidFill>
              <a:prstDash val="solid"/>
              <a:round/>
            </a:ln>
          </p:spPr>
        </p:sp>
        <p:sp>
          <p:nvSpPr>
            <p:cNvPr id="40" name="TextBox 20">
              <a:extLst>
                <a:ext uri="{FF2B5EF4-FFF2-40B4-BE49-F238E27FC236}">
                  <a16:creationId xmlns:a16="http://schemas.microsoft.com/office/drawing/2014/main" id="{217F5ADC-4C34-F1A0-A999-794AABAD9A1F}"/>
                </a:ext>
              </a:extLst>
            </p:cNvPr>
            <p:cNvSpPr txBox="1">
              <a:spLocks/>
            </p:cNvSpPr>
            <p:nvPr/>
          </p:nvSpPr>
          <p:spPr>
            <a:xfrm>
              <a:off x="0" y="-38100"/>
              <a:ext cx="1690774" cy="329811"/>
            </a:xfrm>
            <a:prstGeom prst="rect">
              <a:avLst/>
            </a:prstGeom>
          </p:spPr>
          <p:txBody>
            <a:bodyPr lIns="50800" tIns="50800" rIns="50800" bIns="50800" rtlCol="0" anchor="ctr"/>
            <a:lstStyle/>
            <a:p>
              <a:pPr marL="0" lvl="0" indent="0" algn="ctr">
                <a:lnSpc>
                  <a:spcPts val="2659"/>
                </a:lnSpc>
              </a:pPr>
              <a:endParaRPr/>
            </a:p>
          </p:txBody>
        </p:sp>
      </p:grpSp>
      <p:sp>
        <p:nvSpPr>
          <p:cNvPr id="46" name="TextBox 45">
            <a:extLst>
              <a:ext uri="{FF2B5EF4-FFF2-40B4-BE49-F238E27FC236}">
                <a16:creationId xmlns:a16="http://schemas.microsoft.com/office/drawing/2014/main" id="{E1E2A62A-F8BE-4378-1712-7576F6733941}"/>
              </a:ext>
            </a:extLst>
          </p:cNvPr>
          <p:cNvSpPr txBox="1"/>
          <p:nvPr/>
        </p:nvSpPr>
        <p:spPr>
          <a:xfrm>
            <a:off x="8061898" y="2578203"/>
            <a:ext cx="9575800" cy="830997"/>
          </a:xfrm>
          <a:prstGeom prst="rect">
            <a:avLst/>
          </a:prstGeom>
          <a:noFill/>
        </p:spPr>
        <p:txBody>
          <a:bodyPr wrap="square">
            <a:spAutoFit/>
          </a:bodyPr>
          <a:lstStyle/>
          <a:p>
            <a:r>
              <a:rPr lang="en-IN" sz="4800" b="1" dirty="0">
                <a:solidFill>
                  <a:schemeClr val="bg2"/>
                </a:solidFill>
              </a:rPr>
              <a:t>PYTHON PROGRAMMING CONCEPTS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D64D3-F37D-5C8B-1830-C429F9614E7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36A5B9D-61FB-48C3-799F-578F9DF24991}"/>
              </a:ext>
            </a:extLst>
          </p:cNvPr>
          <p:cNvSpPr/>
          <p:nvPr/>
        </p:nvSpPr>
        <p:spPr>
          <a:xfrm>
            <a:off x="8428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51604E60-1FF5-A9D4-D98C-BC9CF8CC87BF}"/>
              </a:ext>
            </a:extLst>
          </p:cNvPr>
          <p:cNvSpPr/>
          <p:nvPr/>
        </p:nvSpPr>
        <p:spPr>
          <a:xfrm>
            <a:off x="-402697" y="0"/>
            <a:ext cx="10387384" cy="9766631"/>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AutoShape 4">
            <a:extLst>
              <a:ext uri="{FF2B5EF4-FFF2-40B4-BE49-F238E27FC236}">
                <a16:creationId xmlns:a16="http://schemas.microsoft.com/office/drawing/2014/main" id="{5A7604D3-F8B3-2997-4916-673B8A551C18}"/>
              </a:ext>
            </a:extLst>
          </p:cNvPr>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5" name="Freeform 5">
            <a:extLst>
              <a:ext uri="{FF2B5EF4-FFF2-40B4-BE49-F238E27FC236}">
                <a16:creationId xmlns:a16="http://schemas.microsoft.com/office/drawing/2014/main" id="{4A0973C1-619A-2CEF-1FA4-5FF6AA516E71}"/>
              </a:ext>
            </a:extLst>
          </p:cNvPr>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6" name="Group 6">
            <a:extLst>
              <a:ext uri="{FF2B5EF4-FFF2-40B4-BE49-F238E27FC236}">
                <a16:creationId xmlns:a16="http://schemas.microsoft.com/office/drawing/2014/main" id="{F17B169E-F79C-63CF-C1AE-9FA39C782D2A}"/>
              </a:ext>
            </a:extLst>
          </p:cNvPr>
          <p:cNvGrpSpPr/>
          <p:nvPr/>
        </p:nvGrpSpPr>
        <p:grpSpPr>
          <a:xfrm>
            <a:off x="1085850" y="665030"/>
            <a:ext cx="92277" cy="524320"/>
            <a:chOff x="0" y="0"/>
            <a:chExt cx="24303" cy="138092"/>
          </a:xfrm>
        </p:grpSpPr>
        <p:sp>
          <p:nvSpPr>
            <p:cNvPr id="7" name="Freeform 7">
              <a:extLst>
                <a:ext uri="{FF2B5EF4-FFF2-40B4-BE49-F238E27FC236}">
                  <a16:creationId xmlns:a16="http://schemas.microsoft.com/office/drawing/2014/main" id="{CE6A8FDD-290B-99DC-78BF-8121969E6B09}"/>
                </a:ext>
              </a:extLst>
            </p:cNvPr>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8" name="TextBox 8">
              <a:extLst>
                <a:ext uri="{FF2B5EF4-FFF2-40B4-BE49-F238E27FC236}">
                  <a16:creationId xmlns:a16="http://schemas.microsoft.com/office/drawing/2014/main" id="{0EC76A7B-A84A-4472-89EF-3A49C40F73F9}"/>
                </a:ext>
              </a:extLst>
            </p:cNvPr>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9" name="Group 9">
            <a:extLst>
              <a:ext uri="{FF2B5EF4-FFF2-40B4-BE49-F238E27FC236}">
                <a16:creationId xmlns:a16="http://schemas.microsoft.com/office/drawing/2014/main" id="{729A8501-5C6D-799F-FD79-C653A1C19728}"/>
              </a:ext>
            </a:extLst>
          </p:cNvPr>
          <p:cNvGrpSpPr/>
          <p:nvPr/>
        </p:nvGrpSpPr>
        <p:grpSpPr>
          <a:xfrm>
            <a:off x="10328121" y="1359977"/>
            <a:ext cx="1080278" cy="106932"/>
            <a:chOff x="0" y="0"/>
            <a:chExt cx="284518" cy="28163"/>
          </a:xfrm>
        </p:grpSpPr>
        <p:sp>
          <p:nvSpPr>
            <p:cNvPr id="10" name="Freeform 10">
              <a:extLst>
                <a:ext uri="{FF2B5EF4-FFF2-40B4-BE49-F238E27FC236}">
                  <a16:creationId xmlns:a16="http://schemas.microsoft.com/office/drawing/2014/main" id="{378D5C19-61D4-F5D5-BD90-3B7A6C6D32E2}"/>
                </a:ext>
              </a:extLst>
            </p:cNvPr>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1" name="TextBox 11">
              <a:extLst>
                <a:ext uri="{FF2B5EF4-FFF2-40B4-BE49-F238E27FC236}">
                  <a16:creationId xmlns:a16="http://schemas.microsoft.com/office/drawing/2014/main" id="{77AF0477-1E28-BD05-B70B-2E808DE304B7}"/>
                </a:ext>
              </a:extLst>
            </p:cNvPr>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a:extLst>
              <a:ext uri="{FF2B5EF4-FFF2-40B4-BE49-F238E27FC236}">
                <a16:creationId xmlns:a16="http://schemas.microsoft.com/office/drawing/2014/main" id="{7384585F-5E37-0BB4-633F-190FF3530D8E}"/>
              </a:ext>
            </a:extLst>
          </p:cNvPr>
          <p:cNvGrpSpPr/>
          <p:nvPr/>
        </p:nvGrpSpPr>
        <p:grpSpPr>
          <a:xfrm>
            <a:off x="12993425" y="1780416"/>
            <a:ext cx="4440033" cy="5655234"/>
            <a:chOff x="0" y="0"/>
            <a:chExt cx="1752642" cy="1864758"/>
          </a:xfrm>
        </p:grpSpPr>
        <p:sp>
          <p:nvSpPr>
            <p:cNvPr id="13" name="Freeform 13">
              <a:extLst>
                <a:ext uri="{FF2B5EF4-FFF2-40B4-BE49-F238E27FC236}">
                  <a16:creationId xmlns:a16="http://schemas.microsoft.com/office/drawing/2014/main" id="{E9980A35-CD01-7220-2FB5-FD81CE7D7F73}"/>
                </a:ext>
              </a:extLst>
            </p:cNvPr>
            <p:cNvSpPr/>
            <p:nvPr/>
          </p:nvSpPr>
          <p:spPr>
            <a:xfrm>
              <a:off x="0" y="0"/>
              <a:ext cx="1752642" cy="1864758"/>
            </a:xfrm>
            <a:custGeom>
              <a:avLst/>
              <a:gdLst/>
              <a:ahLst/>
              <a:cxnLst/>
              <a:rect l="l" t="t" r="r" b="b"/>
              <a:pathLst>
                <a:path w="1752642" h="1864758">
                  <a:moveTo>
                    <a:pt x="61505" y="0"/>
                  </a:moveTo>
                  <a:lnTo>
                    <a:pt x="1691137" y="0"/>
                  </a:lnTo>
                  <a:cubicBezTo>
                    <a:pt x="1725105" y="0"/>
                    <a:pt x="1752642" y="27537"/>
                    <a:pt x="1752642" y="61505"/>
                  </a:cubicBezTo>
                  <a:lnTo>
                    <a:pt x="1752642" y="1803253"/>
                  </a:lnTo>
                  <a:cubicBezTo>
                    <a:pt x="1752642" y="1819565"/>
                    <a:pt x="1746162" y="1835209"/>
                    <a:pt x="1734627" y="1846743"/>
                  </a:cubicBezTo>
                  <a:cubicBezTo>
                    <a:pt x="1723093" y="1858278"/>
                    <a:pt x="1707449" y="1864758"/>
                    <a:pt x="1691137" y="1864758"/>
                  </a:cubicBezTo>
                  <a:lnTo>
                    <a:pt x="61505" y="1864758"/>
                  </a:lnTo>
                  <a:cubicBezTo>
                    <a:pt x="27537" y="1864758"/>
                    <a:pt x="0" y="1837221"/>
                    <a:pt x="0" y="1803253"/>
                  </a:cubicBezTo>
                  <a:lnTo>
                    <a:pt x="0" y="61505"/>
                  </a:lnTo>
                  <a:cubicBezTo>
                    <a:pt x="0" y="27537"/>
                    <a:pt x="27537" y="0"/>
                    <a:pt x="61505" y="0"/>
                  </a:cubicBezTo>
                  <a:close/>
                </a:path>
              </a:pathLst>
            </a:custGeom>
            <a:ln w="19050" cap="rnd">
              <a:solidFill>
                <a:srgbClr val="283396"/>
              </a:solidFill>
              <a:prstDash val="solid"/>
              <a:round/>
            </a:ln>
          </p:spPr>
        </p:sp>
        <p:sp>
          <p:nvSpPr>
            <p:cNvPr id="14" name="TextBox 14">
              <a:extLst>
                <a:ext uri="{FF2B5EF4-FFF2-40B4-BE49-F238E27FC236}">
                  <a16:creationId xmlns:a16="http://schemas.microsoft.com/office/drawing/2014/main" id="{745A0F0A-34E2-4679-932E-EDCFB06A6BEF}"/>
                </a:ext>
              </a:extLst>
            </p:cNvPr>
            <p:cNvSpPr txBox="1"/>
            <p:nvPr/>
          </p:nvSpPr>
          <p:spPr>
            <a:xfrm>
              <a:off x="0" y="-38100"/>
              <a:ext cx="1752642" cy="1902858"/>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a:extLst>
              <a:ext uri="{FF2B5EF4-FFF2-40B4-BE49-F238E27FC236}">
                <a16:creationId xmlns:a16="http://schemas.microsoft.com/office/drawing/2014/main" id="{1099022C-F3C3-71AE-7198-2E31FA2A3442}"/>
              </a:ext>
            </a:extLst>
          </p:cNvPr>
          <p:cNvGrpSpPr/>
          <p:nvPr/>
        </p:nvGrpSpPr>
        <p:grpSpPr>
          <a:xfrm>
            <a:off x="27583" y="7940652"/>
            <a:ext cx="18232834" cy="1203348"/>
            <a:chOff x="0" y="0"/>
            <a:chExt cx="4977777" cy="328528"/>
          </a:xfrm>
        </p:grpSpPr>
        <p:sp>
          <p:nvSpPr>
            <p:cNvPr id="16" name="Freeform 16">
              <a:extLst>
                <a:ext uri="{FF2B5EF4-FFF2-40B4-BE49-F238E27FC236}">
                  <a16:creationId xmlns:a16="http://schemas.microsoft.com/office/drawing/2014/main" id="{924E5A60-2F87-9ED2-A4A4-11605C7D8A38}"/>
                </a:ext>
              </a:extLst>
            </p:cNvPr>
            <p:cNvSpPr/>
            <p:nvPr/>
          </p:nvSpPr>
          <p:spPr>
            <a:xfrm>
              <a:off x="0" y="0"/>
              <a:ext cx="4977777" cy="328528"/>
            </a:xfrm>
            <a:custGeom>
              <a:avLst/>
              <a:gdLst/>
              <a:ahLst/>
              <a:cxnLst/>
              <a:rect l="l" t="t" r="r" b="b"/>
              <a:pathLst>
                <a:path w="4977777" h="328528">
                  <a:moveTo>
                    <a:pt x="21655" y="0"/>
                  </a:moveTo>
                  <a:lnTo>
                    <a:pt x="4956122" y="0"/>
                  </a:lnTo>
                  <a:cubicBezTo>
                    <a:pt x="4968081" y="0"/>
                    <a:pt x="4977777" y="9695"/>
                    <a:pt x="4977777" y="21655"/>
                  </a:cubicBezTo>
                  <a:lnTo>
                    <a:pt x="4977777" y="306873"/>
                  </a:lnTo>
                  <a:cubicBezTo>
                    <a:pt x="4977777" y="312616"/>
                    <a:pt x="4975495" y="318124"/>
                    <a:pt x="4971434" y="322185"/>
                  </a:cubicBezTo>
                  <a:cubicBezTo>
                    <a:pt x="4967373" y="326247"/>
                    <a:pt x="4961865" y="328528"/>
                    <a:pt x="4956122" y="328528"/>
                  </a:cubicBezTo>
                  <a:lnTo>
                    <a:pt x="21655" y="328528"/>
                  </a:lnTo>
                  <a:cubicBezTo>
                    <a:pt x="9695" y="328528"/>
                    <a:pt x="0" y="318833"/>
                    <a:pt x="0" y="306873"/>
                  </a:cubicBezTo>
                  <a:lnTo>
                    <a:pt x="0" y="21655"/>
                  </a:lnTo>
                  <a:cubicBezTo>
                    <a:pt x="0" y="15912"/>
                    <a:pt x="2282" y="10404"/>
                    <a:pt x="6343" y="6343"/>
                  </a:cubicBezTo>
                  <a:cubicBezTo>
                    <a:pt x="10404" y="2282"/>
                    <a:pt x="15912" y="0"/>
                    <a:pt x="21655" y="0"/>
                  </a:cubicBezTo>
                  <a:close/>
                </a:path>
              </a:pathLst>
            </a:custGeom>
            <a:solidFill>
              <a:srgbClr val="283396"/>
            </a:solidFill>
            <a:ln w="19050" cap="rnd">
              <a:solidFill>
                <a:srgbClr val="283396"/>
              </a:solidFill>
              <a:prstDash val="solid"/>
              <a:round/>
            </a:ln>
          </p:spPr>
        </p:sp>
        <p:sp>
          <p:nvSpPr>
            <p:cNvPr id="17" name="TextBox 17">
              <a:extLst>
                <a:ext uri="{FF2B5EF4-FFF2-40B4-BE49-F238E27FC236}">
                  <a16:creationId xmlns:a16="http://schemas.microsoft.com/office/drawing/2014/main" id="{FAA8171B-045D-5407-94DF-D0FD36390E2F}"/>
                </a:ext>
              </a:extLst>
            </p:cNvPr>
            <p:cNvSpPr txBox="1"/>
            <p:nvPr/>
          </p:nvSpPr>
          <p:spPr>
            <a:xfrm>
              <a:off x="0" y="-38100"/>
              <a:ext cx="4977777" cy="366628"/>
            </a:xfrm>
            <a:prstGeom prst="rect">
              <a:avLst/>
            </a:prstGeom>
          </p:spPr>
          <p:txBody>
            <a:bodyPr lIns="50800" tIns="50800" rIns="50800" bIns="50800" rtlCol="0" anchor="ctr"/>
            <a:lstStyle/>
            <a:p>
              <a:pPr marL="0" lvl="0" indent="0" algn="ctr">
                <a:lnSpc>
                  <a:spcPts val="2659"/>
                </a:lnSpc>
              </a:pPr>
              <a:endParaRPr/>
            </a:p>
          </p:txBody>
        </p:sp>
      </p:grpSp>
      <p:sp>
        <p:nvSpPr>
          <p:cNvPr id="18" name="Freeform 18">
            <a:extLst>
              <a:ext uri="{FF2B5EF4-FFF2-40B4-BE49-F238E27FC236}">
                <a16:creationId xmlns:a16="http://schemas.microsoft.com/office/drawing/2014/main" id="{897D5C09-B541-9CB7-D599-8CAFCED41081}"/>
              </a:ext>
            </a:extLst>
          </p:cNvPr>
          <p:cNvSpPr/>
          <p:nvPr/>
        </p:nvSpPr>
        <p:spPr>
          <a:xfrm>
            <a:off x="13487399" y="1966788"/>
            <a:ext cx="3366673" cy="5683809"/>
          </a:xfrm>
          <a:custGeom>
            <a:avLst/>
            <a:gdLst/>
            <a:ahLst/>
            <a:cxnLst/>
            <a:rect l="l" t="t" r="r" b="b"/>
            <a:pathLst>
              <a:path w="5570133" h="5683809">
                <a:moveTo>
                  <a:pt x="0" y="0"/>
                </a:moveTo>
                <a:lnTo>
                  <a:pt x="5570133" y="0"/>
                </a:lnTo>
                <a:lnTo>
                  <a:pt x="5570133" y="5683810"/>
                </a:lnTo>
                <a:lnTo>
                  <a:pt x="0" y="5683810"/>
                </a:lnTo>
                <a:lnTo>
                  <a:pt x="0" y="0"/>
                </a:lnTo>
                <a:close/>
              </a:path>
            </a:pathLst>
          </a:custGeom>
          <a:blipFill>
            <a:blip r:embed="rId4"/>
            <a:stretch>
              <a:fillRect/>
            </a:stretch>
          </a:blipFill>
        </p:spPr>
      </p:sp>
      <p:sp>
        <p:nvSpPr>
          <p:cNvPr id="19" name="TextBox 19">
            <a:extLst>
              <a:ext uri="{FF2B5EF4-FFF2-40B4-BE49-F238E27FC236}">
                <a16:creationId xmlns:a16="http://schemas.microsoft.com/office/drawing/2014/main" id="{B1E16390-187E-08B3-D8DA-EAB43D2B1540}"/>
              </a:ext>
            </a:extLst>
          </p:cNvPr>
          <p:cNvSpPr txBox="1"/>
          <p:nvPr/>
        </p:nvSpPr>
        <p:spPr>
          <a:xfrm>
            <a:off x="1350057" y="703130"/>
            <a:ext cx="2657415" cy="407218"/>
          </a:xfrm>
          <a:prstGeom prst="rect">
            <a:avLst/>
          </a:prstGeom>
        </p:spPr>
        <p:txBody>
          <a:bodyPr lIns="0" tIns="0" rIns="0" bIns="0" rtlCol="0" anchor="t">
            <a:spAutoFit/>
          </a:bodyPr>
          <a:lstStyle/>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PYTHON</a:t>
            </a:r>
          </a:p>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PROGRAMMING</a:t>
            </a:r>
          </a:p>
        </p:txBody>
      </p:sp>
      <p:sp>
        <p:nvSpPr>
          <p:cNvPr id="20" name="TextBox 20">
            <a:extLst>
              <a:ext uri="{FF2B5EF4-FFF2-40B4-BE49-F238E27FC236}">
                <a16:creationId xmlns:a16="http://schemas.microsoft.com/office/drawing/2014/main" id="{77EB4605-3C35-2F32-DDF8-77BB2C5038DF}"/>
              </a:ext>
            </a:extLst>
          </p:cNvPr>
          <p:cNvSpPr txBox="1"/>
          <p:nvPr/>
        </p:nvSpPr>
        <p:spPr>
          <a:xfrm>
            <a:off x="5337971" y="774825"/>
            <a:ext cx="1755559"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HOME</a:t>
            </a:r>
          </a:p>
        </p:txBody>
      </p:sp>
      <p:sp>
        <p:nvSpPr>
          <p:cNvPr id="21" name="TextBox 21">
            <a:extLst>
              <a:ext uri="{FF2B5EF4-FFF2-40B4-BE49-F238E27FC236}">
                <a16:creationId xmlns:a16="http://schemas.microsoft.com/office/drawing/2014/main" id="{E063CA72-1D00-C23D-45E6-11698BAE42DA}"/>
              </a:ext>
            </a:extLst>
          </p:cNvPr>
          <p:cNvSpPr txBox="1"/>
          <p:nvPr/>
        </p:nvSpPr>
        <p:spPr>
          <a:xfrm>
            <a:off x="7463217" y="774825"/>
            <a:ext cx="2013772"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ABOUT</a:t>
            </a:r>
          </a:p>
        </p:txBody>
      </p:sp>
      <p:sp>
        <p:nvSpPr>
          <p:cNvPr id="22" name="TextBox 22">
            <a:extLst>
              <a:ext uri="{FF2B5EF4-FFF2-40B4-BE49-F238E27FC236}">
                <a16:creationId xmlns:a16="http://schemas.microsoft.com/office/drawing/2014/main" id="{9E0E25C4-B50D-4A6A-2E8B-A25E553030BB}"/>
              </a:ext>
            </a:extLst>
          </p:cNvPr>
          <p:cNvSpPr txBox="1"/>
          <p:nvPr/>
        </p:nvSpPr>
        <p:spPr>
          <a:xfrm>
            <a:off x="9856201" y="774825"/>
            <a:ext cx="2024119" cy="273172"/>
          </a:xfrm>
          <a:prstGeom prst="rect">
            <a:avLst/>
          </a:prstGeom>
        </p:spPr>
        <p:txBody>
          <a:bodyPr lIns="0" tIns="0" rIns="0" bIns="0" rtlCol="0" anchor="t">
            <a:spAutoFit/>
          </a:bodyPr>
          <a:lstStyle/>
          <a:p>
            <a:pPr marL="0" lvl="0" indent="0" algn="ctr">
              <a:lnSpc>
                <a:spcPts val="2268"/>
              </a:lnSpc>
              <a:spcBef>
                <a:spcPct val="0"/>
              </a:spcBef>
            </a:pPr>
            <a:r>
              <a:rPr lang="en-US" sz="1620" b="1">
                <a:solidFill>
                  <a:srgbClr val="283396"/>
                </a:solidFill>
                <a:latin typeface="Montaser Arabic Bold"/>
                <a:ea typeface="Montaser Arabic Bold"/>
                <a:cs typeface="Montaser Arabic Bold"/>
                <a:sym typeface="Montaser Arabic Bold"/>
              </a:rPr>
              <a:t>CONTENT</a:t>
            </a:r>
          </a:p>
        </p:txBody>
      </p:sp>
      <p:sp>
        <p:nvSpPr>
          <p:cNvPr id="23" name="TextBox 23">
            <a:extLst>
              <a:ext uri="{FF2B5EF4-FFF2-40B4-BE49-F238E27FC236}">
                <a16:creationId xmlns:a16="http://schemas.microsoft.com/office/drawing/2014/main" id="{2FED8788-C029-505E-F4F0-9752060CBC65}"/>
              </a:ext>
            </a:extLst>
          </p:cNvPr>
          <p:cNvSpPr txBox="1"/>
          <p:nvPr/>
        </p:nvSpPr>
        <p:spPr>
          <a:xfrm>
            <a:off x="12101593" y="774825"/>
            <a:ext cx="2349448"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OTHERS</a:t>
            </a:r>
          </a:p>
        </p:txBody>
      </p:sp>
      <p:sp>
        <p:nvSpPr>
          <p:cNvPr id="24" name="TextBox 24">
            <a:extLst>
              <a:ext uri="{FF2B5EF4-FFF2-40B4-BE49-F238E27FC236}">
                <a16:creationId xmlns:a16="http://schemas.microsoft.com/office/drawing/2014/main" id="{AA1A4895-DE86-DBCE-BEF5-B54190322E0D}"/>
              </a:ext>
            </a:extLst>
          </p:cNvPr>
          <p:cNvSpPr txBox="1"/>
          <p:nvPr/>
        </p:nvSpPr>
        <p:spPr>
          <a:xfrm>
            <a:off x="1149055" y="1142561"/>
            <a:ext cx="10471363" cy="1106137"/>
          </a:xfrm>
          <a:prstGeom prst="rect">
            <a:avLst/>
          </a:prstGeom>
        </p:spPr>
        <p:txBody>
          <a:bodyPr wrap="square" lIns="0" tIns="0" rIns="0" bIns="0" rtlCol="0" anchor="t">
            <a:spAutoFit/>
          </a:bodyPr>
          <a:lstStyle/>
          <a:p>
            <a:pPr marL="0" lvl="0" indent="0" algn="just">
              <a:lnSpc>
                <a:spcPts val="9628"/>
              </a:lnSpc>
            </a:pPr>
            <a:r>
              <a:rPr lang="en-US" sz="5400" b="1" spc="-339" dirty="0">
                <a:solidFill>
                  <a:srgbClr val="283396"/>
                </a:solidFill>
                <a:latin typeface="+mj-lt"/>
                <a:ea typeface="Agrandir Grand Bold"/>
                <a:cs typeface="Agrandir Grand Bold"/>
                <a:sym typeface="Agrandir Grand Bold"/>
              </a:rPr>
              <a:t>Objective of Session</a:t>
            </a:r>
          </a:p>
        </p:txBody>
      </p:sp>
      <p:grpSp>
        <p:nvGrpSpPr>
          <p:cNvPr id="27" name="Group 27">
            <a:extLst>
              <a:ext uri="{FF2B5EF4-FFF2-40B4-BE49-F238E27FC236}">
                <a16:creationId xmlns:a16="http://schemas.microsoft.com/office/drawing/2014/main" id="{7A28F5DA-46AE-94EC-5CA4-F67AB81AB587}"/>
              </a:ext>
            </a:extLst>
          </p:cNvPr>
          <p:cNvGrpSpPr/>
          <p:nvPr/>
        </p:nvGrpSpPr>
        <p:grpSpPr>
          <a:xfrm>
            <a:off x="1056821" y="7237596"/>
            <a:ext cx="2119546" cy="627805"/>
            <a:chOff x="0" y="0"/>
            <a:chExt cx="558234" cy="165348"/>
          </a:xfrm>
        </p:grpSpPr>
        <p:sp>
          <p:nvSpPr>
            <p:cNvPr id="28" name="Freeform 28">
              <a:extLst>
                <a:ext uri="{FF2B5EF4-FFF2-40B4-BE49-F238E27FC236}">
                  <a16:creationId xmlns:a16="http://schemas.microsoft.com/office/drawing/2014/main" id="{0D520B37-1789-7427-9356-31BCBCFE6C70}"/>
                </a:ext>
              </a:extLst>
            </p:cNvPr>
            <p:cNvSpPr/>
            <p:nvPr/>
          </p:nvSpPr>
          <p:spPr>
            <a:xfrm>
              <a:off x="0" y="0"/>
              <a:ext cx="558234" cy="165348"/>
            </a:xfrm>
            <a:custGeom>
              <a:avLst/>
              <a:gdLst/>
              <a:ahLst/>
              <a:cxnLst/>
              <a:rect l="l" t="t" r="r" b="b"/>
              <a:pathLst>
                <a:path w="558234" h="165348">
                  <a:moveTo>
                    <a:pt x="82674" y="0"/>
                  </a:moveTo>
                  <a:lnTo>
                    <a:pt x="475560" y="0"/>
                  </a:lnTo>
                  <a:cubicBezTo>
                    <a:pt x="521220" y="0"/>
                    <a:pt x="558234" y="37014"/>
                    <a:pt x="558234" y="82674"/>
                  </a:cubicBezTo>
                  <a:lnTo>
                    <a:pt x="558234" y="82674"/>
                  </a:lnTo>
                  <a:cubicBezTo>
                    <a:pt x="558234" y="104600"/>
                    <a:pt x="549524" y="125629"/>
                    <a:pt x="534020" y="141133"/>
                  </a:cubicBezTo>
                  <a:cubicBezTo>
                    <a:pt x="518515" y="156638"/>
                    <a:pt x="497487" y="165348"/>
                    <a:pt x="475560" y="165348"/>
                  </a:cubicBezTo>
                  <a:lnTo>
                    <a:pt x="82674" y="165348"/>
                  </a:lnTo>
                  <a:cubicBezTo>
                    <a:pt x="37014" y="165348"/>
                    <a:pt x="0" y="128334"/>
                    <a:pt x="0" y="82674"/>
                  </a:cubicBezTo>
                  <a:lnTo>
                    <a:pt x="0" y="82674"/>
                  </a:lnTo>
                  <a:cubicBezTo>
                    <a:pt x="0" y="37014"/>
                    <a:pt x="37014" y="0"/>
                    <a:pt x="82674" y="0"/>
                  </a:cubicBezTo>
                  <a:close/>
                </a:path>
              </a:pathLst>
            </a:custGeom>
            <a:solidFill>
              <a:srgbClr val="D43838"/>
            </a:solidFill>
            <a:ln cap="rnd">
              <a:noFill/>
              <a:prstDash val="solid"/>
              <a:round/>
            </a:ln>
          </p:spPr>
        </p:sp>
        <p:sp>
          <p:nvSpPr>
            <p:cNvPr id="29" name="TextBox 29">
              <a:extLst>
                <a:ext uri="{FF2B5EF4-FFF2-40B4-BE49-F238E27FC236}">
                  <a16:creationId xmlns:a16="http://schemas.microsoft.com/office/drawing/2014/main" id="{A59BC1A8-E016-48ED-0706-A0940351272E}"/>
                </a:ext>
              </a:extLst>
            </p:cNvPr>
            <p:cNvSpPr txBox="1"/>
            <p:nvPr/>
          </p:nvSpPr>
          <p:spPr>
            <a:xfrm>
              <a:off x="0" y="-28575"/>
              <a:ext cx="558234" cy="193923"/>
            </a:xfrm>
            <a:prstGeom prst="rect">
              <a:avLst/>
            </a:prstGeom>
          </p:spPr>
          <p:txBody>
            <a:bodyPr lIns="50800" tIns="50800" rIns="50800" bIns="50800" rtlCol="0" anchor="ctr"/>
            <a:lstStyle/>
            <a:p>
              <a:pPr marL="0" lvl="0" indent="0" algn="ctr">
                <a:lnSpc>
                  <a:spcPts val="2268"/>
                </a:lnSpc>
              </a:pPr>
              <a:r>
                <a:rPr lang="en-US" sz="1620" b="1">
                  <a:solidFill>
                    <a:srgbClr val="FFFFFF"/>
                  </a:solidFill>
                  <a:latin typeface="Montaser Arabic Bold"/>
                  <a:ea typeface="Montaser Arabic Bold"/>
                  <a:cs typeface="Montaser Arabic Bold"/>
                  <a:sym typeface="Montaser Arabic Bold"/>
                </a:rPr>
                <a:t>NEXT SLIDE</a:t>
              </a:r>
            </a:p>
          </p:txBody>
        </p:sp>
      </p:grpSp>
      <p:grpSp>
        <p:nvGrpSpPr>
          <p:cNvPr id="30" name="Group 30">
            <a:extLst>
              <a:ext uri="{FF2B5EF4-FFF2-40B4-BE49-F238E27FC236}">
                <a16:creationId xmlns:a16="http://schemas.microsoft.com/office/drawing/2014/main" id="{1E02ACD1-B39A-7ACD-68EB-91706AF723C6}"/>
              </a:ext>
            </a:extLst>
          </p:cNvPr>
          <p:cNvGrpSpPr/>
          <p:nvPr/>
        </p:nvGrpSpPr>
        <p:grpSpPr>
          <a:xfrm>
            <a:off x="16858126" y="3093354"/>
            <a:ext cx="1513917" cy="1513917"/>
            <a:chOff x="0" y="0"/>
            <a:chExt cx="812800" cy="812800"/>
          </a:xfrm>
        </p:grpSpPr>
        <p:sp>
          <p:nvSpPr>
            <p:cNvPr id="31" name="Freeform 31">
              <a:extLst>
                <a:ext uri="{FF2B5EF4-FFF2-40B4-BE49-F238E27FC236}">
                  <a16:creationId xmlns:a16="http://schemas.microsoft.com/office/drawing/2014/main" id="{BC047159-78EF-3C89-0F0A-809CB7DDE3B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32" name="TextBox 32">
              <a:extLst>
                <a:ext uri="{FF2B5EF4-FFF2-40B4-BE49-F238E27FC236}">
                  <a16:creationId xmlns:a16="http://schemas.microsoft.com/office/drawing/2014/main" id="{29D05151-DDC4-D04B-1097-E739CC5EA468}"/>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33" name="Group 33">
            <a:extLst>
              <a:ext uri="{FF2B5EF4-FFF2-40B4-BE49-F238E27FC236}">
                <a16:creationId xmlns:a16="http://schemas.microsoft.com/office/drawing/2014/main" id="{45CE50BA-AAB1-203D-2B7F-BAA87BE8CAD5}"/>
              </a:ext>
            </a:extLst>
          </p:cNvPr>
          <p:cNvGrpSpPr/>
          <p:nvPr/>
        </p:nvGrpSpPr>
        <p:grpSpPr>
          <a:xfrm>
            <a:off x="17129845" y="3500369"/>
            <a:ext cx="857235" cy="809611"/>
            <a:chOff x="0" y="0"/>
            <a:chExt cx="685800" cy="647700"/>
          </a:xfrm>
        </p:grpSpPr>
        <p:sp>
          <p:nvSpPr>
            <p:cNvPr id="34" name="Freeform 34">
              <a:extLst>
                <a:ext uri="{FF2B5EF4-FFF2-40B4-BE49-F238E27FC236}">
                  <a16:creationId xmlns:a16="http://schemas.microsoft.com/office/drawing/2014/main" id="{13CD4D62-99E4-9EF3-9889-972AA1E6697D}"/>
                </a:ext>
              </a:extLst>
            </p:cNvPr>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35" name="TextBox 35">
              <a:extLst>
                <a:ext uri="{FF2B5EF4-FFF2-40B4-BE49-F238E27FC236}">
                  <a16:creationId xmlns:a16="http://schemas.microsoft.com/office/drawing/2014/main" id="{A37CB27C-A736-45B9-5050-B198BAC0AA05}"/>
                </a:ext>
              </a:extLst>
            </p:cNvPr>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sp>
        <p:nvSpPr>
          <p:cNvPr id="37" name="TextBox 36">
            <a:extLst>
              <a:ext uri="{FF2B5EF4-FFF2-40B4-BE49-F238E27FC236}">
                <a16:creationId xmlns:a16="http://schemas.microsoft.com/office/drawing/2014/main" id="{C72E162B-E810-8BD2-036F-811F5976092C}"/>
              </a:ext>
            </a:extLst>
          </p:cNvPr>
          <p:cNvSpPr txBox="1"/>
          <p:nvPr/>
        </p:nvSpPr>
        <p:spPr>
          <a:xfrm>
            <a:off x="1131988" y="2203063"/>
            <a:ext cx="11411908" cy="5016758"/>
          </a:xfrm>
          <a:prstGeom prst="rect">
            <a:avLst/>
          </a:prstGeom>
          <a:noFill/>
        </p:spPr>
        <p:txBody>
          <a:bodyPr wrap="square">
            <a:spAutoFit/>
          </a:bodyPr>
          <a:lstStyle/>
          <a:p>
            <a:pPr algn="just"/>
            <a:r>
              <a:rPr lang="en-US" sz="3200" b="1" dirty="0">
                <a:solidFill>
                  <a:srgbClr val="283396"/>
                </a:solidFill>
                <a:latin typeface="+mj-lt"/>
              </a:rPr>
              <a:t>What is a programming language?</a:t>
            </a:r>
            <a:endParaRPr lang="en-IN" sz="3200" b="1" dirty="0">
              <a:solidFill>
                <a:srgbClr val="283396"/>
              </a:solidFill>
              <a:latin typeface="+mj-lt"/>
            </a:endParaRPr>
          </a:p>
          <a:p>
            <a:pPr algn="just"/>
            <a:r>
              <a:rPr lang="en-US" sz="3200" b="1" dirty="0">
                <a:solidFill>
                  <a:srgbClr val="283396"/>
                </a:solidFill>
                <a:latin typeface="+mj-lt"/>
              </a:rPr>
              <a:t>What is  program implementation?</a:t>
            </a:r>
            <a:endParaRPr lang="en-IN" sz="3200" b="1" dirty="0">
              <a:solidFill>
                <a:srgbClr val="283396"/>
              </a:solidFill>
              <a:latin typeface="+mj-lt"/>
            </a:endParaRPr>
          </a:p>
          <a:p>
            <a:pPr algn="just"/>
            <a:r>
              <a:rPr lang="en-US" sz="3200" b="1" dirty="0">
                <a:solidFill>
                  <a:srgbClr val="283396"/>
                </a:solidFill>
                <a:latin typeface="+mj-lt"/>
              </a:rPr>
              <a:t>What is IDEL and IDE?</a:t>
            </a:r>
            <a:endParaRPr lang="en-IN" sz="3200" b="1" dirty="0">
              <a:solidFill>
                <a:srgbClr val="283396"/>
              </a:solidFill>
              <a:latin typeface="+mj-lt"/>
            </a:endParaRPr>
          </a:p>
          <a:p>
            <a:pPr algn="just"/>
            <a:r>
              <a:rPr lang="en-US" sz="3200" b="1" dirty="0">
                <a:solidFill>
                  <a:srgbClr val="283396"/>
                </a:solidFill>
                <a:latin typeface="+mj-lt"/>
              </a:rPr>
              <a:t>What is Complier and Interpreter ?</a:t>
            </a:r>
            <a:endParaRPr lang="en-IN" sz="3200" b="1" dirty="0">
              <a:solidFill>
                <a:srgbClr val="283396"/>
              </a:solidFill>
              <a:latin typeface="+mj-lt"/>
            </a:endParaRPr>
          </a:p>
          <a:p>
            <a:pPr algn="just"/>
            <a:r>
              <a:rPr lang="en-US" sz="3200" b="1" dirty="0">
                <a:solidFill>
                  <a:srgbClr val="283396"/>
                </a:solidFill>
                <a:latin typeface="+mj-lt"/>
              </a:rPr>
              <a:t>What is Virtual Machines (VMS) Python Virtual Machine (PVM)  ?</a:t>
            </a:r>
            <a:endParaRPr lang="en-IN" sz="3200" b="1" dirty="0">
              <a:solidFill>
                <a:srgbClr val="283396"/>
              </a:solidFill>
              <a:latin typeface="+mj-lt"/>
            </a:endParaRPr>
          </a:p>
          <a:p>
            <a:pPr algn="just"/>
            <a:r>
              <a:rPr lang="en-US" sz="3200" b="1" dirty="0">
                <a:solidFill>
                  <a:srgbClr val="283396"/>
                </a:solidFill>
                <a:latin typeface="+mj-lt"/>
              </a:rPr>
              <a:t>What is source code ?</a:t>
            </a:r>
            <a:endParaRPr lang="en-IN" sz="3200" b="1" dirty="0">
              <a:solidFill>
                <a:srgbClr val="283396"/>
              </a:solidFill>
              <a:latin typeface="+mj-lt"/>
            </a:endParaRPr>
          </a:p>
          <a:p>
            <a:pPr algn="just"/>
            <a:r>
              <a:rPr lang="en-US" sz="3200" b="1" dirty="0">
                <a:solidFill>
                  <a:srgbClr val="283396"/>
                </a:solidFill>
                <a:latin typeface="+mj-lt"/>
              </a:rPr>
              <a:t>What is compilation ?</a:t>
            </a:r>
            <a:endParaRPr lang="en-IN" sz="3200" b="1" dirty="0">
              <a:solidFill>
                <a:srgbClr val="283396"/>
              </a:solidFill>
              <a:latin typeface="+mj-lt"/>
            </a:endParaRPr>
          </a:p>
          <a:p>
            <a:pPr algn="just"/>
            <a:r>
              <a:rPr lang="en-US" sz="3200" b="1" dirty="0">
                <a:solidFill>
                  <a:srgbClr val="283396"/>
                </a:solidFill>
                <a:latin typeface="+mj-lt"/>
              </a:rPr>
              <a:t>What is machine code ?</a:t>
            </a:r>
            <a:endParaRPr lang="en-IN" sz="3200" b="1" dirty="0">
              <a:solidFill>
                <a:srgbClr val="283396"/>
              </a:solidFill>
              <a:latin typeface="+mj-lt"/>
            </a:endParaRPr>
          </a:p>
          <a:p>
            <a:pPr algn="just"/>
            <a:r>
              <a:rPr lang="en-US" sz="3200" b="1" dirty="0">
                <a:solidFill>
                  <a:srgbClr val="283396"/>
                </a:solidFill>
                <a:latin typeface="+mj-lt"/>
              </a:rPr>
              <a:t>What is bytecode ?</a:t>
            </a:r>
            <a:endParaRPr lang="en-IN" sz="3200" b="1" dirty="0">
              <a:solidFill>
                <a:srgbClr val="283396"/>
              </a:solidFill>
              <a:latin typeface="+mj-lt"/>
            </a:endParaRPr>
          </a:p>
          <a:p>
            <a:pPr algn="just"/>
            <a:r>
              <a:rPr lang="en-US" sz="3200" b="1" dirty="0">
                <a:solidFill>
                  <a:srgbClr val="283396"/>
                </a:solidFill>
                <a:latin typeface="+mj-lt"/>
              </a:rPr>
              <a:t>Summary.</a:t>
            </a:r>
            <a:endParaRPr lang="en-IN" sz="3200" b="1" dirty="0">
              <a:solidFill>
                <a:srgbClr val="283396"/>
              </a:solidFill>
              <a:latin typeface="+mj-lt"/>
            </a:endParaRPr>
          </a:p>
        </p:txBody>
      </p:sp>
    </p:spTree>
    <p:extLst>
      <p:ext uri="{BB962C8B-B14F-4D97-AF65-F5344CB8AC3E}">
        <p14:creationId xmlns:p14="http://schemas.microsoft.com/office/powerpoint/2010/main" val="140484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C4B38-FCC0-080B-00D0-FEE54F36AA8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0D995F3-D88D-AB38-A258-6F48FC189CA5}"/>
              </a:ext>
            </a:extLst>
          </p:cNvPr>
          <p:cNvSpPr/>
          <p:nvPr/>
        </p:nvSpPr>
        <p:spPr>
          <a:xfrm>
            <a:off x="8428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B91F512F-46A1-F91C-8D88-0F3C2D8125B3}"/>
              </a:ext>
            </a:extLst>
          </p:cNvPr>
          <p:cNvSpPr/>
          <p:nvPr/>
        </p:nvSpPr>
        <p:spPr>
          <a:xfrm>
            <a:off x="-402698" y="0"/>
            <a:ext cx="11680297"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AutoShape 4">
            <a:extLst>
              <a:ext uri="{FF2B5EF4-FFF2-40B4-BE49-F238E27FC236}">
                <a16:creationId xmlns:a16="http://schemas.microsoft.com/office/drawing/2014/main" id="{B631104B-0647-CB18-D4B9-98459B1E5F77}"/>
              </a:ext>
            </a:extLst>
          </p:cNvPr>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5" name="Freeform 5">
            <a:extLst>
              <a:ext uri="{FF2B5EF4-FFF2-40B4-BE49-F238E27FC236}">
                <a16:creationId xmlns:a16="http://schemas.microsoft.com/office/drawing/2014/main" id="{6AC00F0C-0B32-D685-E53C-A4203C4FDE3D}"/>
              </a:ext>
            </a:extLst>
          </p:cNvPr>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6" name="Group 6">
            <a:extLst>
              <a:ext uri="{FF2B5EF4-FFF2-40B4-BE49-F238E27FC236}">
                <a16:creationId xmlns:a16="http://schemas.microsoft.com/office/drawing/2014/main" id="{16F9D33B-0EE0-7117-0879-AAAF5F69B6B9}"/>
              </a:ext>
            </a:extLst>
          </p:cNvPr>
          <p:cNvGrpSpPr/>
          <p:nvPr/>
        </p:nvGrpSpPr>
        <p:grpSpPr>
          <a:xfrm>
            <a:off x="1085850" y="665030"/>
            <a:ext cx="92277" cy="524320"/>
            <a:chOff x="0" y="0"/>
            <a:chExt cx="24303" cy="138092"/>
          </a:xfrm>
        </p:grpSpPr>
        <p:sp>
          <p:nvSpPr>
            <p:cNvPr id="7" name="Freeform 7">
              <a:extLst>
                <a:ext uri="{FF2B5EF4-FFF2-40B4-BE49-F238E27FC236}">
                  <a16:creationId xmlns:a16="http://schemas.microsoft.com/office/drawing/2014/main" id="{42605F82-34E6-002E-B83B-4DA9424A1F8D}"/>
                </a:ext>
              </a:extLst>
            </p:cNvPr>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8" name="TextBox 8">
              <a:extLst>
                <a:ext uri="{FF2B5EF4-FFF2-40B4-BE49-F238E27FC236}">
                  <a16:creationId xmlns:a16="http://schemas.microsoft.com/office/drawing/2014/main" id="{FE770135-16A7-F8F9-01BB-33F16C35447E}"/>
                </a:ext>
              </a:extLst>
            </p:cNvPr>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9" name="Group 9">
            <a:extLst>
              <a:ext uri="{FF2B5EF4-FFF2-40B4-BE49-F238E27FC236}">
                <a16:creationId xmlns:a16="http://schemas.microsoft.com/office/drawing/2014/main" id="{C4C25CBD-B1B4-C29E-F7B0-D7E2CEECCB53}"/>
              </a:ext>
            </a:extLst>
          </p:cNvPr>
          <p:cNvGrpSpPr/>
          <p:nvPr/>
        </p:nvGrpSpPr>
        <p:grpSpPr>
          <a:xfrm>
            <a:off x="10328121" y="1359977"/>
            <a:ext cx="1080278" cy="106932"/>
            <a:chOff x="0" y="0"/>
            <a:chExt cx="284518" cy="28163"/>
          </a:xfrm>
        </p:grpSpPr>
        <p:sp>
          <p:nvSpPr>
            <p:cNvPr id="10" name="Freeform 10">
              <a:extLst>
                <a:ext uri="{FF2B5EF4-FFF2-40B4-BE49-F238E27FC236}">
                  <a16:creationId xmlns:a16="http://schemas.microsoft.com/office/drawing/2014/main" id="{643DB193-CC02-4EDB-4EB2-74F2C74E045A}"/>
                </a:ext>
              </a:extLst>
            </p:cNvPr>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1" name="TextBox 11">
              <a:extLst>
                <a:ext uri="{FF2B5EF4-FFF2-40B4-BE49-F238E27FC236}">
                  <a16:creationId xmlns:a16="http://schemas.microsoft.com/office/drawing/2014/main" id="{04212D6E-4943-09E7-5958-A067711C912B}"/>
                </a:ext>
              </a:extLst>
            </p:cNvPr>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a:extLst>
              <a:ext uri="{FF2B5EF4-FFF2-40B4-BE49-F238E27FC236}">
                <a16:creationId xmlns:a16="http://schemas.microsoft.com/office/drawing/2014/main" id="{04575A9A-250B-A4B1-A808-6F139A2C98CB}"/>
              </a:ext>
            </a:extLst>
          </p:cNvPr>
          <p:cNvGrpSpPr/>
          <p:nvPr/>
        </p:nvGrpSpPr>
        <p:grpSpPr>
          <a:xfrm>
            <a:off x="12168940" y="1579554"/>
            <a:ext cx="5269754" cy="5913664"/>
            <a:chOff x="0" y="0"/>
            <a:chExt cx="1752642" cy="1864758"/>
          </a:xfrm>
        </p:grpSpPr>
        <p:sp>
          <p:nvSpPr>
            <p:cNvPr id="13" name="Freeform 13">
              <a:extLst>
                <a:ext uri="{FF2B5EF4-FFF2-40B4-BE49-F238E27FC236}">
                  <a16:creationId xmlns:a16="http://schemas.microsoft.com/office/drawing/2014/main" id="{F6579344-28C2-A7DC-55B8-E90726DD30E2}"/>
                </a:ext>
              </a:extLst>
            </p:cNvPr>
            <p:cNvSpPr/>
            <p:nvPr/>
          </p:nvSpPr>
          <p:spPr>
            <a:xfrm>
              <a:off x="0" y="0"/>
              <a:ext cx="1752642" cy="1864758"/>
            </a:xfrm>
            <a:custGeom>
              <a:avLst/>
              <a:gdLst/>
              <a:ahLst/>
              <a:cxnLst/>
              <a:rect l="l" t="t" r="r" b="b"/>
              <a:pathLst>
                <a:path w="1752642" h="1864758">
                  <a:moveTo>
                    <a:pt x="61505" y="0"/>
                  </a:moveTo>
                  <a:lnTo>
                    <a:pt x="1691137" y="0"/>
                  </a:lnTo>
                  <a:cubicBezTo>
                    <a:pt x="1725105" y="0"/>
                    <a:pt x="1752642" y="27537"/>
                    <a:pt x="1752642" y="61505"/>
                  </a:cubicBezTo>
                  <a:lnTo>
                    <a:pt x="1752642" y="1803253"/>
                  </a:lnTo>
                  <a:cubicBezTo>
                    <a:pt x="1752642" y="1819565"/>
                    <a:pt x="1746162" y="1835209"/>
                    <a:pt x="1734627" y="1846743"/>
                  </a:cubicBezTo>
                  <a:cubicBezTo>
                    <a:pt x="1723093" y="1858278"/>
                    <a:pt x="1707449" y="1864758"/>
                    <a:pt x="1691137" y="1864758"/>
                  </a:cubicBezTo>
                  <a:lnTo>
                    <a:pt x="61505" y="1864758"/>
                  </a:lnTo>
                  <a:cubicBezTo>
                    <a:pt x="27537" y="1864758"/>
                    <a:pt x="0" y="1837221"/>
                    <a:pt x="0" y="1803253"/>
                  </a:cubicBezTo>
                  <a:lnTo>
                    <a:pt x="0" y="61505"/>
                  </a:lnTo>
                  <a:cubicBezTo>
                    <a:pt x="0" y="27537"/>
                    <a:pt x="27537" y="0"/>
                    <a:pt x="61505" y="0"/>
                  </a:cubicBezTo>
                  <a:close/>
                </a:path>
              </a:pathLst>
            </a:custGeom>
            <a:ln w="19050" cap="rnd">
              <a:solidFill>
                <a:srgbClr val="283396"/>
              </a:solidFill>
              <a:prstDash val="solid"/>
              <a:round/>
            </a:ln>
          </p:spPr>
        </p:sp>
        <p:sp>
          <p:nvSpPr>
            <p:cNvPr id="14" name="TextBox 14">
              <a:extLst>
                <a:ext uri="{FF2B5EF4-FFF2-40B4-BE49-F238E27FC236}">
                  <a16:creationId xmlns:a16="http://schemas.microsoft.com/office/drawing/2014/main" id="{C798BA3B-6916-51F0-A7BD-BF9AEFB72D1D}"/>
                </a:ext>
              </a:extLst>
            </p:cNvPr>
            <p:cNvSpPr txBox="1"/>
            <p:nvPr/>
          </p:nvSpPr>
          <p:spPr>
            <a:xfrm>
              <a:off x="0" y="-38100"/>
              <a:ext cx="1752642" cy="1902858"/>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a:extLst>
              <a:ext uri="{FF2B5EF4-FFF2-40B4-BE49-F238E27FC236}">
                <a16:creationId xmlns:a16="http://schemas.microsoft.com/office/drawing/2014/main" id="{1A64D5F3-BCE1-C37F-D31A-B291BD190AF4}"/>
              </a:ext>
            </a:extLst>
          </p:cNvPr>
          <p:cNvGrpSpPr/>
          <p:nvPr/>
        </p:nvGrpSpPr>
        <p:grpSpPr>
          <a:xfrm>
            <a:off x="27583" y="7940652"/>
            <a:ext cx="18232834" cy="1203348"/>
            <a:chOff x="0" y="0"/>
            <a:chExt cx="4977777" cy="328528"/>
          </a:xfrm>
        </p:grpSpPr>
        <p:sp>
          <p:nvSpPr>
            <p:cNvPr id="16" name="Freeform 16">
              <a:extLst>
                <a:ext uri="{FF2B5EF4-FFF2-40B4-BE49-F238E27FC236}">
                  <a16:creationId xmlns:a16="http://schemas.microsoft.com/office/drawing/2014/main" id="{5852D3D0-C6C9-22DB-CE34-C5F8C399E726}"/>
                </a:ext>
              </a:extLst>
            </p:cNvPr>
            <p:cNvSpPr/>
            <p:nvPr/>
          </p:nvSpPr>
          <p:spPr>
            <a:xfrm>
              <a:off x="0" y="0"/>
              <a:ext cx="4977777" cy="328528"/>
            </a:xfrm>
            <a:custGeom>
              <a:avLst/>
              <a:gdLst/>
              <a:ahLst/>
              <a:cxnLst/>
              <a:rect l="l" t="t" r="r" b="b"/>
              <a:pathLst>
                <a:path w="4977777" h="328528">
                  <a:moveTo>
                    <a:pt x="21655" y="0"/>
                  </a:moveTo>
                  <a:lnTo>
                    <a:pt x="4956122" y="0"/>
                  </a:lnTo>
                  <a:cubicBezTo>
                    <a:pt x="4968081" y="0"/>
                    <a:pt x="4977777" y="9695"/>
                    <a:pt x="4977777" y="21655"/>
                  </a:cubicBezTo>
                  <a:lnTo>
                    <a:pt x="4977777" y="306873"/>
                  </a:lnTo>
                  <a:cubicBezTo>
                    <a:pt x="4977777" y="312616"/>
                    <a:pt x="4975495" y="318124"/>
                    <a:pt x="4971434" y="322185"/>
                  </a:cubicBezTo>
                  <a:cubicBezTo>
                    <a:pt x="4967373" y="326247"/>
                    <a:pt x="4961865" y="328528"/>
                    <a:pt x="4956122" y="328528"/>
                  </a:cubicBezTo>
                  <a:lnTo>
                    <a:pt x="21655" y="328528"/>
                  </a:lnTo>
                  <a:cubicBezTo>
                    <a:pt x="9695" y="328528"/>
                    <a:pt x="0" y="318833"/>
                    <a:pt x="0" y="306873"/>
                  </a:cubicBezTo>
                  <a:lnTo>
                    <a:pt x="0" y="21655"/>
                  </a:lnTo>
                  <a:cubicBezTo>
                    <a:pt x="0" y="15912"/>
                    <a:pt x="2282" y="10404"/>
                    <a:pt x="6343" y="6343"/>
                  </a:cubicBezTo>
                  <a:cubicBezTo>
                    <a:pt x="10404" y="2282"/>
                    <a:pt x="15912" y="0"/>
                    <a:pt x="21655" y="0"/>
                  </a:cubicBezTo>
                  <a:close/>
                </a:path>
              </a:pathLst>
            </a:custGeom>
            <a:solidFill>
              <a:srgbClr val="283396"/>
            </a:solidFill>
            <a:ln w="19050" cap="rnd">
              <a:solidFill>
                <a:srgbClr val="283396"/>
              </a:solidFill>
              <a:prstDash val="solid"/>
              <a:round/>
            </a:ln>
          </p:spPr>
        </p:sp>
        <p:sp>
          <p:nvSpPr>
            <p:cNvPr id="17" name="TextBox 17">
              <a:extLst>
                <a:ext uri="{FF2B5EF4-FFF2-40B4-BE49-F238E27FC236}">
                  <a16:creationId xmlns:a16="http://schemas.microsoft.com/office/drawing/2014/main" id="{8699CAE0-E762-AB82-54F5-DC5517C0BA62}"/>
                </a:ext>
              </a:extLst>
            </p:cNvPr>
            <p:cNvSpPr txBox="1"/>
            <p:nvPr/>
          </p:nvSpPr>
          <p:spPr>
            <a:xfrm>
              <a:off x="0" y="-38100"/>
              <a:ext cx="4977777" cy="366628"/>
            </a:xfrm>
            <a:prstGeom prst="rect">
              <a:avLst/>
            </a:prstGeom>
          </p:spPr>
          <p:txBody>
            <a:bodyPr lIns="50800" tIns="50800" rIns="50800" bIns="50800" rtlCol="0" anchor="ctr"/>
            <a:lstStyle/>
            <a:p>
              <a:pPr marL="0" lvl="0" indent="0" algn="ctr">
                <a:lnSpc>
                  <a:spcPts val="2659"/>
                </a:lnSpc>
              </a:pPr>
              <a:endParaRPr/>
            </a:p>
          </p:txBody>
        </p:sp>
      </p:grpSp>
      <p:sp>
        <p:nvSpPr>
          <p:cNvPr id="18" name="Freeform 18">
            <a:extLst>
              <a:ext uri="{FF2B5EF4-FFF2-40B4-BE49-F238E27FC236}">
                <a16:creationId xmlns:a16="http://schemas.microsoft.com/office/drawing/2014/main" id="{4148B032-2CB5-9560-029E-81FE91EF55A8}"/>
              </a:ext>
            </a:extLst>
          </p:cNvPr>
          <p:cNvSpPr/>
          <p:nvPr/>
        </p:nvSpPr>
        <p:spPr>
          <a:xfrm>
            <a:off x="12164899" y="1783928"/>
            <a:ext cx="5076725" cy="5683809"/>
          </a:xfrm>
          <a:custGeom>
            <a:avLst/>
            <a:gdLst/>
            <a:ahLst/>
            <a:cxnLst/>
            <a:rect l="l" t="t" r="r" b="b"/>
            <a:pathLst>
              <a:path w="5570133" h="5683809">
                <a:moveTo>
                  <a:pt x="0" y="0"/>
                </a:moveTo>
                <a:lnTo>
                  <a:pt x="5570133" y="0"/>
                </a:lnTo>
                <a:lnTo>
                  <a:pt x="5570133" y="5683810"/>
                </a:lnTo>
                <a:lnTo>
                  <a:pt x="0" y="5683810"/>
                </a:lnTo>
                <a:lnTo>
                  <a:pt x="0" y="0"/>
                </a:lnTo>
                <a:close/>
              </a:path>
            </a:pathLst>
          </a:custGeom>
          <a:blipFill>
            <a:blip r:embed="rId4"/>
            <a:stretch>
              <a:fillRect/>
            </a:stretch>
          </a:blipFill>
        </p:spPr>
      </p:sp>
      <p:sp>
        <p:nvSpPr>
          <p:cNvPr id="19" name="TextBox 19">
            <a:extLst>
              <a:ext uri="{FF2B5EF4-FFF2-40B4-BE49-F238E27FC236}">
                <a16:creationId xmlns:a16="http://schemas.microsoft.com/office/drawing/2014/main" id="{A24C3B2A-04B7-CD1D-C88A-993198DA695B}"/>
              </a:ext>
            </a:extLst>
          </p:cNvPr>
          <p:cNvSpPr txBox="1"/>
          <p:nvPr/>
        </p:nvSpPr>
        <p:spPr>
          <a:xfrm>
            <a:off x="1350057" y="703130"/>
            <a:ext cx="2657415" cy="407218"/>
          </a:xfrm>
          <a:prstGeom prst="rect">
            <a:avLst/>
          </a:prstGeom>
        </p:spPr>
        <p:txBody>
          <a:bodyPr lIns="0" tIns="0" rIns="0" bIns="0" rtlCol="0" anchor="t">
            <a:spAutoFit/>
          </a:bodyPr>
          <a:lstStyle/>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PYTHON</a:t>
            </a:r>
          </a:p>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PROGRAMMING</a:t>
            </a:r>
          </a:p>
        </p:txBody>
      </p:sp>
      <p:sp>
        <p:nvSpPr>
          <p:cNvPr id="20" name="TextBox 20">
            <a:extLst>
              <a:ext uri="{FF2B5EF4-FFF2-40B4-BE49-F238E27FC236}">
                <a16:creationId xmlns:a16="http://schemas.microsoft.com/office/drawing/2014/main" id="{F9BED1BB-FAF6-74CA-D75F-45E004FDDDAA}"/>
              </a:ext>
            </a:extLst>
          </p:cNvPr>
          <p:cNvSpPr txBox="1"/>
          <p:nvPr/>
        </p:nvSpPr>
        <p:spPr>
          <a:xfrm>
            <a:off x="5337971" y="774825"/>
            <a:ext cx="1755559"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HOME</a:t>
            </a:r>
          </a:p>
        </p:txBody>
      </p:sp>
      <p:sp>
        <p:nvSpPr>
          <p:cNvPr id="21" name="TextBox 21">
            <a:extLst>
              <a:ext uri="{FF2B5EF4-FFF2-40B4-BE49-F238E27FC236}">
                <a16:creationId xmlns:a16="http://schemas.microsoft.com/office/drawing/2014/main" id="{DA92C4E2-EFEC-2EBD-59D7-51CD6D16D114}"/>
              </a:ext>
            </a:extLst>
          </p:cNvPr>
          <p:cNvSpPr txBox="1"/>
          <p:nvPr/>
        </p:nvSpPr>
        <p:spPr>
          <a:xfrm>
            <a:off x="7463217" y="774825"/>
            <a:ext cx="2013772"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ABOUT</a:t>
            </a:r>
          </a:p>
        </p:txBody>
      </p:sp>
      <p:sp>
        <p:nvSpPr>
          <p:cNvPr id="22" name="TextBox 22">
            <a:extLst>
              <a:ext uri="{FF2B5EF4-FFF2-40B4-BE49-F238E27FC236}">
                <a16:creationId xmlns:a16="http://schemas.microsoft.com/office/drawing/2014/main" id="{B8585C99-5B45-EB9F-AEA3-55F891CCB060}"/>
              </a:ext>
            </a:extLst>
          </p:cNvPr>
          <p:cNvSpPr txBox="1"/>
          <p:nvPr/>
        </p:nvSpPr>
        <p:spPr>
          <a:xfrm>
            <a:off x="9856201" y="774825"/>
            <a:ext cx="2024119" cy="273172"/>
          </a:xfrm>
          <a:prstGeom prst="rect">
            <a:avLst/>
          </a:prstGeom>
        </p:spPr>
        <p:txBody>
          <a:bodyPr lIns="0" tIns="0" rIns="0" bIns="0" rtlCol="0" anchor="t">
            <a:spAutoFit/>
          </a:bodyPr>
          <a:lstStyle/>
          <a:p>
            <a:pPr marL="0" lvl="0" indent="0" algn="ctr">
              <a:lnSpc>
                <a:spcPts val="2268"/>
              </a:lnSpc>
              <a:spcBef>
                <a:spcPct val="0"/>
              </a:spcBef>
            </a:pPr>
            <a:r>
              <a:rPr lang="en-US" sz="1620" b="1">
                <a:solidFill>
                  <a:srgbClr val="283396"/>
                </a:solidFill>
                <a:latin typeface="Montaser Arabic Bold"/>
                <a:ea typeface="Montaser Arabic Bold"/>
                <a:cs typeface="Montaser Arabic Bold"/>
                <a:sym typeface="Montaser Arabic Bold"/>
              </a:rPr>
              <a:t>CONTENT</a:t>
            </a:r>
          </a:p>
        </p:txBody>
      </p:sp>
      <p:sp>
        <p:nvSpPr>
          <p:cNvPr id="23" name="TextBox 23">
            <a:extLst>
              <a:ext uri="{FF2B5EF4-FFF2-40B4-BE49-F238E27FC236}">
                <a16:creationId xmlns:a16="http://schemas.microsoft.com/office/drawing/2014/main" id="{581DFAE3-F9D8-BA5D-56CC-BEA376EAE275}"/>
              </a:ext>
            </a:extLst>
          </p:cNvPr>
          <p:cNvSpPr txBox="1"/>
          <p:nvPr/>
        </p:nvSpPr>
        <p:spPr>
          <a:xfrm>
            <a:off x="12101593" y="774825"/>
            <a:ext cx="2349448"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OTHERS</a:t>
            </a:r>
          </a:p>
        </p:txBody>
      </p:sp>
      <p:sp>
        <p:nvSpPr>
          <p:cNvPr id="24" name="TextBox 24">
            <a:extLst>
              <a:ext uri="{FF2B5EF4-FFF2-40B4-BE49-F238E27FC236}">
                <a16:creationId xmlns:a16="http://schemas.microsoft.com/office/drawing/2014/main" id="{F3E627D6-ECCB-D4EB-75D6-CDF7052C1D15}"/>
              </a:ext>
            </a:extLst>
          </p:cNvPr>
          <p:cNvSpPr txBox="1"/>
          <p:nvPr/>
        </p:nvSpPr>
        <p:spPr>
          <a:xfrm>
            <a:off x="1178127" y="2247003"/>
            <a:ext cx="8977741" cy="1248547"/>
          </a:xfrm>
          <a:prstGeom prst="rect">
            <a:avLst/>
          </a:prstGeom>
        </p:spPr>
        <p:txBody>
          <a:bodyPr wrap="square" lIns="0" tIns="0" rIns="0" bIns="0" rtlCol="0" anchor="t">
            <a:spAutoFit/>
          </a:bodyPr>
          <a:lstStyle/>
          <a:p>
            <a:endParaRPr lang="en-US" dirty="0"/>
          </a:p>
        </p:txBody>
      </p:sp>
      <p:sp>
        <p:nvSpPr>
          <p:cNvPr id="26" name="TextBox 26">
            <a:extLst>
              <a:ext uri="{FF2B5EF4-FFF2-40B4-BE49-F238E27FC236}">
                <a16:creationId xmlns:a16="http://schemas.microsoft.com/office/drawing/2014/main" id="{F899170F-0455-E10B-0CF4-6EFB34221F25}"/>
              </a:ext>
            </a:extLst>
          </p:cNvPr>
          <p:cNvSpPr txBox="1"/>
          <p:nvPr/>
        </p:nvSpPr>
        <p:spPr>
          <a:xfrm>
            <a:off x="1182105" y="3526286"/>
            <a:ext cx="7961895" cy="932279"/>
          </a:xfrm>
          <a:prstGeom prst="rect">
            <a:avLst/>
          </a:prstGeom>
        </p:spPr>
        <p:txBody>
          <a:bodyPr lIns="0" tIns="0" rIns="0" bIns="0" rtlCol="0" anchor="t">
            <a:spAutoFit/>
          </a:bodyPr>
          <a:lstStyle/>
          <a:p>
            <a:endParaRPr lang="en-US" dirty="0"/>
          </a:p>
        </p:txBody>
      </p:sp>
      <p:grpSp>
        <p:nvGrpSpPr>
          <p:cNvPr id="27" name="Group 27">
            <a:extLst>
              <a:ext uri="{FF2B5EF4-FFF2-40B4-BE49-F238E27FC236}">
                <a16:creationId xmlns:a16="http://schemas.microsoft.com/office/drawing/2014/main" id="{7A198402-AF63-185C-DAEA-E0455DB18FDC}"/>
              </a:ext>
            </a:extLst>
          </p:cNvPr>
          <p:cNvGrpSpPr/>
          <p:nvPr/>
        </p:nvGrpSpPr>
        <p:grpSpPr>
          <a:xfrm>
            <a:off x="1131988" y="6872292"/>
            <a:ext cx="2119546" cy="627805"/>
            <a:chOff x="0" y="0"/>
            <a:chExt cx="558234" cy="165348"/>
          </a:xfrm>
        </p:grpSpPr>
        <p:sp>
          <p:nvSpPr>
            <p:cNvPr id="28" name="Freeform 28">
              <a:extLst>
                <a:ext uri="{FF2B5EF4-FFF2-40B4-BE49-F238E27FC236}">
                  <a16:creationId xmlns:a16="http://schemas.microsoft.com/office/drawing/2014/main" id="{72F25781-C815-1D8B-FFC7-FA44102049AF}"/>
                </a:ext>
              </a:extLst>
            </p:cNvPr>
            <p:cNvSpPr/>
            <p:nvPr/>
          </p:nvSpPr>
          <p:spPr>
            <a:xfrm>
              <a:off x="0" y="0"/>
              <a:ext cx="558234" cy="165348"/>
            </a:xfrm>
            <a:custGeom>
              <a:avLst/>
              <a:gdLst/>
              <a:ahLst/>
              <a:cxnLst/>
              <a:rect l="l" t="t" r="r" b="b"/>
              <a:pathLst>
                <a:path w="558234" h="165348">
                  <a:moveTo>
                    <a:pt x="82674" y="0"/>
                  </a:moveTo>
                  <a:lnTo>
                    <a:pt x="475560" y="0"/>
                  </a:lnTo>
                  <a:cubicBezTo>
                    <a:pt x="521220" y="0"/>
                    <a:pt x="558234" y="37014"/>
                    <a:pt x="558234" y="82674"/>
                  </a:cubicBezTo>
                  <a:lnTo>
                    <a:pt x="558234" y="82674"/>
                  </a:lnTo>
                  <a:cubicBezTo>
                    <a:pt x="558234" y="104600"/>
                    <a:pt x="549524" y="125629"/>
                    <a:pt x="534020" y="141133"/>
                  </a:cubicBezTo>
                  <a:cubicBezTo>
                    <a:pt x="518515" y="156638"/>
                    <a:pt x="497487" y="165348"/>
                    <a:pt x="475560" y="165348"/>
                  </a:cubicBezTo>
                  <a:lnTo>
                    <a:pt x="82674" y="165348"/>
                  </a:lnTo>
                  <a:cubicBezTo>
                    <a:pt x="37014" y="165348"/>
                    <a:pt x="0" y="128334"/>
                    <a:pt x="0" y="82674"/>
                  </a:cubicBezTo>
                  <a:lnTo>
                    <a:pt x="0" y="82674"/>
                  </a:lnTo>
                  <a:cubicBezTo>
                    <a:pt x="0" y="37014"/>
                    <a:pt x="37014" y="0"/>
                    <a:pt x="82674" y="0"/>
                  </a:cubicBezTo>
                  <a:close/>
                </a:path>
              </a:pathLst>
            </a:custGeom>
            <a:solidFill>
              <a:srgbClr val="D43838"/>
            </a:solidFill>
            <a:ln cap="rnd">
              <a:noFill/>
              <a:prstDash val="solid"/>
              <a:round/>
            </a:ln>
          </p:spPr>
        </p:sp>
        <p:sp>
          <p:nvSpPr>
            <p:cNvPr id="29" name="TextBox 29">
              <a:extLst>
                <a:ext uri="{FF2B5EF4-FFF2-40B4-BE49-F238E27FC236}">
                  <a16:creationId xmlns:a16="http://schemas.microsoft.com/office/drawing/2014/main" id="{91EB81CE-E43A-93EB-E557-9D89B62A2140}"/>
                </a:ext>
              </a:extLst>
            </p:cNvPr>
            <p:cNvSpPr txBox="1"/>
            <p:nvPr/>
          </p:nvSpPr>
          <p:spPr>
            <a:xfrm>
              <a:off x="0" y="-28575"/>
              <a:ext cx="558234" cy="193923"/>
            </a:xfrm>
            <a:prstGeom prst="rect">
              <a:avLst/>
            </a:prstGeom>
          </p:spPr>
          <p:txBody>
            <a:bodyPr lIns="50800" tIns="50800" rIns="50800" bIns="50800" rtlCol="0" anchor="ctr"/>
            <a:lstStyle/>
            <a:p>
              <a:pPr marL="0" lvl="0" indent="0" algn="ctr">
                <a:lnSpc>
                  <a:spcPts val="2268"/>
                </a:lnSpc>
              </a:pPr>
              <a:r>
                <a:rPr lang="en-US" sz="1620" b="1">
                  <a:solidFill>
                    <a:srgbClr val="FFFFFF"/>
                  </a:solidFill>
                  <a:latin typeface="Montaser Arabic Bold"/>
                  <a:ea typeface="Montaser Arabic Bold"/>
                  <a:cs typeface="Montaser Arabic Bold"/>
                  <a:sym typeface="Montaser Arabic Bold"/>
                </a:rPr>
                <a:t>NEXT SLIDE</a:t>
              </a:r>
            </a:p>
          </p:txBody>
        </p:sp>
      </p:grpSp>
      <p:grpSp>
        <p:nvGrpSpPr>
          <p:cNvPr id="30" name="Group 30">
            <a:extLst>
              <a:ext uri="{FF2B5EF4-FFF2-40B4-BE49-F238E27FC236}">
                <a16:creationId xmlns:a16="http://schemas.microsoft.com/office/drawing/2014/main" id="{20B98B2A-60FE-E8C5-AEB7-EF46F90917BA}"/>
              </a:ext>
            </a:extLst>
          </p:cNvPr>
          <p:cNvGrpSpPr/>
          <p:nvPr/>
        </p:nvGrpSpPr>
        <p:grpSpPr>
          <a:xfrm>
            <a:off x="16115510" y="3182866"/>
            <a:ext cx="1513917" cy="1513917"/>
            <a:chOff x="0" y="0"/>
            <a:chExt cx="812800" cy="812800"/>
          </a:xfrm>
        </p:grpSpPr>
        <p:sp>
          <p:nvSpPr>
            <p:cNvPr id="31" name="Freeform 31">
              <a:extLst>
                <a:ext uri="{FF2B5EF4-FFF2-40B4-BE49-F238E27FC236}">
                  <a16:creationId xmlns:a16="http://schemas.microsoft.com/office/drawing/2014/main" id="{4FF416DA-E5C1-0FE8-6449-BB8F2F823CE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32" name="TextBox 32">
              <a:extLst>
                <a:ext uri="{FF2B5EF4-FFF2-40B4-BE49-F238E27FC236}">
                  <a16:creationId xmlns:a16="http://schemas.microsoft.com/office/drawing/2014/main" id="{FCD91939-F5DF-1C23-AA87-F3D0152938BB}"/>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33" name="Group 33">
            <a:extLst>
              <a:ext uri="{FF2B5EF4-FFF2-40B4-BE49-F238E27FC236}">
                <a16:creationId xmlns:a16="http://schemas.microsoft.com/office/drawing/2014/main" id="{B25D4C88-04F9-EDD8-29D8-8FDADC9CD4BC}"/>
              </a:ext>
            </a:extLst>
          </p:cNvPr>
          <p:cNvGrpSpPr/>
          <p:nvPr/>
        </p:nvGrpSpPr>
        <p:grpSpPr>
          <a:xfrm>
            <a:off x="16443851" y="3535019"/>
            <a:ext cx="857235" cy="809611"/>
            <a:chOff x="0" y="0"/>
            <a:chExt cx="685800" cy="647700"/>
          </a:xfrm>
        </p:grpSpPr>
        <p:sp>
          <p:nvSpPr>
            <p:cNvPr id="34" name="Freeform 34">
              <a:extLst>
                <a:ext uri="{FF2B5EF4-FFF2-40B4-BE49-F238E27FC236}">
                  <a16:creationId xmlns:a16="http://schemas.microsoft.com/office/drawing/2014/main" id="{7CBDD840-5EBD-7E19-8550-10439DCC6A12}"/>
                </a:ext>
              </a:extLst>
            </p:cNvPr>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35" name="TextBox 35">
              <a:extLst>
                <a:ext uri="{FF2B5EF4-FFF2-40B4-BE49-F238E27FC236}">
                  <a16:creationId xmlns:a16="http://schemas.microsoft.com/office/drawing/2014/main" id="{0E5BBBF0-2ECF-EDD8-AD70-78AE92BEEC4E}"/>
                </a:ext>
              </a:extLst>
            </p:cNvPr>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sp>
        <p:nvSpPr>
          <p:cNvPr id="37" name="TextBox 36">
            <a:extLst>
              <a:ext uri="{FF2B5EF4-FFF2-40B4-BE49-F238E27FC236}">
                <a16:creationId xmlns:a16="http://schemas.microsoft.com/office/drawing/2014/main" id="{057D435E-12EE-CACE-323B-F5FABCA869F6}"/>
              </a:ext>
            </a:extLst>
          </p:cNvPr>
          <p:cNvSpPr txBox="1"/>
          <p:nvPr/>
        </p:nvSpPr>
        <p:spPr>
          <a:xfrm>
            <a:off x="1071155" y="1341112"/>
            <a:ext cx="9563100" cy="847220"/>
          </a:xfrm>
          <a:prstGeom prst="rect">
            <a:avLst/>
          </a:prstGeom>
          <a:noFill/>
        </p:spPr>
        <p:txBody>
          <a:bodyPr wrap="square">
            <a:spAutoFit/>
          </a:bodyPr>
          <a:lstStyle/>
          <a:p>
            <a:pPr lvl="0">
              <a:lnSpc>
                <a:spcPts val="6288"/>
              </a:lnSpc>
              <a:spcBef>
                <a:spcPct val="0"/>
              </a:spcBef>
            </a:pPr>
            <a:r>
              <a:rPr lang="en-US" sz="4400" b="1" dirty="0">
                <a:solidFill>
                  <a:srgbClr val="002060"/>
                </a:solidFill>
                <a:latin typeface="+mj-lt"/>
                <a:ea typeface="TT Supermolot Neue Expanded Bold"/>
                <a:cs typeface="TT Supermolot Neue Expanded Bold"/>
                <a:sym typeface="TT Supermolot Neue Expanded Bold"/>
              </a:rPr>
              <a:t>What is a programming language?</a:t>
            </a:r>
          </a:p>
        </p:txBody>
      </p:sp>
      <p:sp>
        <p:nvSpPr>
          <p:cNvPr id="39" name="TextBox 38">
            <a:extLst>
              <a:ext uri="{FF2B5EF4-FFF2-40B4-BE49-F238E27FC236}">
                <a16:creationId xmlns:a16="http://schemas.microsoft.com/office/drawing/2014/main" id="{26269E51-126D-F902-0936-266FF9EFEF72}"/>
              </a:ext>
            </a:extLst>
          </p:cNvPr>
          <p:cNvSpPr txBox="1"/>
          <p:nvPr/>
        </p:nvSpPr>
        <p:spPr>
          <a:xfrm>
            <a:off x="1085850" y="2454726"/>
            <a:ext cx="10378160" cy="2293255"/>
          </a:xfrm>
          <a:prstGeom prst="rect">
            <a:avLst/>
          </a:prstGeom>
          <a:noFill/>
        </p:spPr>
        <p:txBody>
          <a:bodyPr wrap="square">
            <a:spAutoFit/>
          </a:bodyPr>
          <a:lstStyle/>
          <a:p>
            <a:pPr algn="just"/>
            <a:r>
              <a:rPr lang="en-US" sz="2800" b="1" dirty="0">
                <a:ln w="0"/>
                <a:solidFill>
                  <a:srgbClr val="002060"/>
                </a:solidFill>
                <a:ea typeface="TT Supermolot Neue Expanded"/>
                <a:cs typeface="TT Supermolot Neue Expanded"/>
                <a:sym typeface="TT Supermolot Neue Expanded"/>
              </a:rPr>
              <a:t>A programming language is a formal, structured set of instructions used to communicate with computers. It provides the vocabulary (keywords) and grammar (syntax) that programmers use to write code. Just like human languages have rules, programming languages have strict syntax that must be followed.</a:t>
            </a:r>
          </a:p>
        </p:txBody>
      </p:sp>
      <p:sp>
        <p:nvSpPr>
          <p:cNvPr id="41" name="TextBox 40">
            <a:extLst>
              <a:ext uri="{FF2B5EF4-FFF2-40B4-BE49-F238E27FC236}">
                <a16:creationId xmlns:a16="http://schemas.microsoft.com/office/drawing/2014/main" id="{CC409FF6-5ECD-A9E5-AAA4-5400B032D2EC}"/>
              </a:ext>
            </a:extLst>
          </p:cNvPr>
          <p:cNvSpPr txBox="1"/>
          <p:nvPr/>
        </p:nvSpPr>
        <p:spPr>
          <a:xfrm>
            <a:off x="1028699" y="4874289"/>
            <a:ext cx="10378159" cy="1815882"/>
          </a:xfrm>
          <a:prstGeom prst="rect">
            <a:avLst/>
          </a:prstGeom>
          <a:noFill/>
        </p:spPr>
        <p:txBody>
          <a:bodyPr wrap="square">
            <a:spAutoFit/>
          </a:bodyPr>
          <a:lstStyle/>
          <a:p>
            <a:pPr>
              <a:spcBef>
                <a:spcPct val="0"/>
              </a:spcBef>
            </a:pPr>
            <a:r>
              <a:rPr lang="en-US" sz="2800" b="1" dirty="0">
                <a:solidFill>
                  <a:srgbClr val="002060"/>
                </a:solidFill>
                <a:sym typeface="TT Supermolot Neue Expanded"/>
              </a:rPr>
              <a:t>Popular examples include Python, C, Java, and JavaScript. Each language has its own strengths and use cases. Python is known for readability, C for system programming, Java for enterprise applications, and JavaScript for web development.</a:t>
            </a:r>
            <a:endParaRPr lang="en-US" sz="3200" b="1" dirty="0">
              <a:solidFill>
                <a:srgbClr val="002060"/>
              </a:solidFill>
              <a:sym typeface="TT Supermolot Neue Expanded"/>
            </a:endParaRPr>
          </a:p>
        </p:txBody>
      </p:sp>
    </p:spTree>
    <p:extLst>
      <p:ext uri="{BB962C8B-B14F-4D97-AF65-F5344CB8AC3E}">
        <p14:creationId xmlns:p14="http://schemas.microsoft.com/office/powerpoint/2010/main" val="1057840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F3E3B-4814-8949-CEA9-4C43AC8FFE91}"/>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8AD5136-2E22-69D5-B60A-A9E41F83227F}"/>
              </a:ext>
            </a:extLst>
          </p:cNvPr>
          <p:cNvSpPr/>
          <p:nvPr/>
        </p:nvSpPr>
        <p:spPr>
          <a:xfrm>
            <a:off x="8428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3" name="Freeform 3">
            <a:extLst>
              <a:ext uri="{FF2B5EF4-FFF2-40B4-BE49-F238E27FC236}">
                <a16:creationId xmlns:a16="http://schemas.microsoft.com/office/drawing/2014/main" id="{6F6593E4-7369-5FFB-5CA0-70ECBBA5FFB7}"/>
              </a:ext>
            </a:extLst>
          </p:cNvPr>
          <p:cNvSpPr/>
          <p:nvPr/>
        </p:nvSpPr>
        <p:spPr>
          <a:xfrm>
            <a:off x="-402698" y="0"/>
            <a:ext cx="12112538"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AutoShape 4">
            <a:extLst>
              <a:ext uri="{FF2B5EF4-FFF2-40B4-BE49-F238E27FC236}">
                <a16:creationId xmlns:a16="http://schemas.microsoft.com/office/drawing/2014/main" id="{9D03B588-18AE-5131-0189-6B845A0D2E9A}"/>
              </a:ext>
            </a:extLst>
          </p:cNvPr>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5" name="Freeform 5">
            <a:extLst>
              <a:ext uri="{FF2B5EF4-FFF2-40B4-BE49-F238E27FC236}">
                <a16:creationId xmlns:a16="http://schemas.microsoft.com/office/drawing/2014/main" id="{A2B18EBD-C691-6A4C-0B53-154F3B57E8AC}"/>
              </a:ext>
            </a:extLst>
          </p:cNvPr>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6" name="Group 6">
            <a:extLst>
              <a:ext uri="{FF2B5EF4-FFF2-40B4-BE49-F238E27FC236}">
                <a16:creationId xmlns:a16="http://schemas.microsoft.com/office/drawing/2014/main" id="{6841EDD9-F375-379F-4DE0-3E4B6E141BD9}"/>
              </a:ext>
            </a:extLst>
          </p:cNvPr>
          <p:cNvGrpSpPr/>
          <p:nvPr/>
        </p:nvGrpSpPr>
        <p:grpSpPr>
          <a:xfrm>
            <a:off x="1085850" y="665030"/>
            <a:ext cx="92277" cy="524320"/>
            <a:chOff x="0" y="0"/>
            <a:chExt cx="24303" cy="138092"/>
          </a:xfrm>
        </p:grpSpPr>
        <p:sp>
          <p:nvSpPr>
            <p:cNvPr id="7" name="Freeform 7">
              <a:extLst>
                <a:ext uri="{FF2B5EF4-FFF2-40B4-BE49-F238E27FC236}">
                  <a16:creationId xmlns:a16="http://schemas.microsoft.com/office/drawing/2014/main" id="{246AD8BC-FF54-DDBD-A7F5-07B0E96ADF46}"/>
                </a:ext>
              </a:extLst>
            </p:cNvPr>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8" name="TextBox 8">
              <a:extLst>
                <a:ext uri="{FF2B5EF4-FFF2-40B4-BE49-F238E27FC236}">
                  <a16:creationId xmlns:a16="http://schemas.microsoft.com/office/drawing/2014/main" id="{67004F84-AB32-2429-FFA0-76ADAF60A3F5}"/>
                </a:ext>
              </a:extLst>
            </p:cNvPr>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9" name="Group 9">
            <a:extLst>
              <a:ext uri="{FF2B5EF4-FFF2-40B4-BE49-F238E27FC236}">
                <a16:creationId xmlns:a16="http://schemas.microsoft.com/office/drawing/2014/main" id="{6591F4A2-2BD6-BBAE-6952-A9DC3F588244}"/>
              </a:ext>
            </a:extLst>
          </p:cNvPr>
          <p:cNvGrpSpPr/>
          <p:nvPr/>
        </p:nvGrpSpPr>
        <p:grpSpPr>
          <a:xfrm>
            <a:off x="10328121" y="1359977"/>
            <a:ext cx="1080278" cy="106932"/>
            <a:chOff x="0" y="0"/>
            <a:chExt cx="284518" cy="28163"/>
          </a:xfrm>
        </p:grpSpPr>
        <p:sp>
          <p:nvSpPr>
            <p:cNvPr id="10" name="Freeform 10">
              <a:extLst>
                <a:ext uri="{FF2B5EF4-FFF2-40B4-BE49-F238E27FC236}">
                  <a16:creationId xmlns:a16="http://schemas.microsoft.com/office/drawing/2014/main" id="{F25B8571-F774-07E6-6A3E-8FDFF780E80E}"/>
                </a:ext>
              </a:extLst>
            </p:cNvPr>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1" name="TextBox 11">
              <a:extLst>
                <a:ext uri="{FF2B5EF4-FFF2-40B4-BE49-F238E27FC236}">
                  <a16:creationId xmlns:a16="http://schemas.microsoft.com/office/drawing/2014/main" id="{A02840CD-30B9-EE11-7D3B-4E574FEC0DC6}"/>
                </a:ext>
              </a:extLst>
            </p:cNvPr>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a:extLst>
              <a:ext uri="{FF2B5EF4-FFF2-40B4-BE49-F238E27FC236}">
                <a16:creationId xmlns:a16="http://schemas.microsoft.com/office/drawing/2014/main" id="{985E2641-D85D-6158-18E7-0F32F0EEF7BC}"/>
              </a:ext>
            </a:extLst>
          </p:cNvPr>
          <p:cNvGrpSpPr/>
          <p:nvPr/>
        </p:nvGrpSpPr>
        <p:grpSpPr>
          <a:xfrm>
            <a:off x="12168940" y="1579554"/>
            <a:ext cx="5269754" cy="5913664"/>
            <a:chOff x="0" y="0"/>
            <a:chExt cx="1752642" cy="1864758"/>
          </a:xfrm>
        </p:grpSpPr>
        <p:sp>
          <p:nvSpPr>
            <p:cNvPr id="13" name="Freeform 13">
              <a:extLst>
                <a:ext uri="{FF2B5EF4-FFF2-40B4-BE49-F238E27FC236}">
                  <a16:creationId xmlns:a16="http://schemas.microsoft.com/office/drawing/2014/main" id="{DE0B1AF0-42FA-0282-9C86-7AEAFD6A3706}"/>
                </a:ext>
              </a:extLst>
            </p:cNvPr>
            <p:cNvSpPr/>
            <p:nvPr/>
          </p:nvSpPr>
          <p:spPr>
            <a:xfrm>
              <a:off x="0" y="0"/>
              <a:ext cx="1752642" cy="1864758"/>
            </a:xfrm>
            <a:custGeom>
              <a:avLst/>
              <a:gdLst/>
              <a:ahLst/>
              <a:cxnLst/>
              <a:rect l="l" t="t" r="r" b="b"/>
              <a:pathLst>
                <a:path w="1752642" h="1864758">
                  <a:moveTo>
                    <a:pt x="61505" y="0"/>
                  </a:moveTo>
                  <a:lnTo>
                    <a:pt x="1691137" y="0"/>
                  </a:lnTo>
                  <a:cubicBezTo>
                    <a:pt x="1725105" y="0"/>
                    <a:pt x="1752642" y="27537"/>
                    <a:pt x="1752642" y="61505"/>
                  </a:cubicBezTo>
                  <a:lnTo>
                    <a:pt x="1752642" y="1803253"/>
                  </a:lnTo>
                  <a:cubicBezTo>
                    <a:pt x="1752642" y="1819565"/>
                    <a:pt x="1746162" y="1835209"/>
                    <a:pt x="1734627" y="1846743"/>
                  </a:cubicBezTo>
                  <a:cubicBezTo>
                    <a:pt x="1723093" y="1858278"/>
                    <a:pt x="1707449" y="1864758"/>
                    <a:pt x="1691137" y="1864758"/>
                  </a:cubicBezTo>
                  <a:lnTo>
                    <a:pt x="61505" y="1864758"/>
                  </a:lnTo>
                  <a:cubicBezTo>
                    <a:pt x="27537" y="1864758"/>
                    <a:pt x="0" y="1837221"/>
                    <a:pt x="0" y="1803253"/>
                  </a:cubicBezTo>
                  <a:lnTo>
                    <a:pt x="0" y="61505"/>
                  </a:lnTo>
                  <a:cubicBezTo>
                    <a:pt x="0" y="27537"/>
                    <a:pt x="27537" y="0"/>
                    <a:pt x="61505" y="0"/>
                  </a:cubicBezTo>
                  <a:close/>
                </a:path>
              </a:pathLst>
            </a:custGeom>
            <a:ln w="19050" cap="rnd">
              <a:solidFill>
                <a:srgbClr val="283396"/>
              </a:solidFill>
              <a:prstDash val="solid"/>
              <a:round/>
            </a:ln>
          </p:spPr>
        </p:sp>
        <p:sp>
          <p:nvSpPr>
            <p:cNvPr id="14" name="TextBox 14">
              <a:extLst>
                <a:ext uri="{FF2B5EF4-FFF2-40B4-BE49-F238E27FC236}">
                  <a16:creationId xmlns:a16="http://schemas.microsoft.com/office/drawing/2014/main" id="{1D603AB0-7982-618D-10BA-C4BA2AB0D2D7}"/>
                </a:ext>
              </a:extLst>
            </p:cNvPr>
            <p:cNvSpPr txBox="1"/>
            <p:nvPr/>
          </p:nvSpPr>
          <p:spPr>
            <a:xfrm>
              <a:off x="0" y="-38100"/>
              <a:ext cx="1752642" cy="1902858"/>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a:extLst>
              <a:ext uri="{FF2B5EF4-FFF2-40B4-BE49-F238E27FC236}">
                <a16:creationId xmlns:a16="http://schemas.microsoft.com/office/drawing/2014/main" id="{68216C26-AF50-96A3-E20A-E45891E7CBD6}"/>
              </a:ext>
            </a:extLst>
          </p:cNvPr>
          <p:cNvGrpSpPr/>
          <p:nvPr/>
        </p:nvGrpSpPr>
        <p:grpSpPr>
          <a:xfrm>
            <a:off x="27583" y="7940652"/>
            <a:ext cx="18232834" cy="1203348"/>
            <a:chOff x="0" y="0"/>
            <a:chExt cx="4977777" cy="328528"/>
          </a:xfrm>
        </p:grpSpPr>
        <p:sp>
          <p:nvSpPr>
            <p:cNvPr id="16" name="Freeform 16">
              <a:extLst>
                <a:ext uri="{FF2B5EF4-FFF2-40B4-BE49-F238E27FC236}">
                  <a16:creationId xmlns:a16="http://schemas.microsoft.com/office/drawing/2014/main" id="{EFF344D7-B43C-4EDC-8D11-5C45A3A5DAE8}"/>
                </a:ext>
              </a:extLst>
            </p:cNvPr>
            <p:cNvSpPr/>
            <p:nvPr/>
          </p:nvSpPr>
          <p:spPr>
            <a:xfrm>
              <a:off x="0" y="0"/>
              <a:ext cx="4977777" cy="328528"/>
            </a:xfrm>
            <a:custGeom>
              <a:avLst/>
              <a:gdLst/>
              <a:ahLst/>
              <a:cxnLst/>
              <a:rect l="l" t="t" r="r" b="b"/>
              <a:pathLst>
                <a:path w="4977777" h="328528">
                  <a:moveTo>
                    <a:pt x="21655" y="0"/>
                  </a:moveTo>
                  <a:lnTo>
                    <a:pt x="4956122" y="0"/>
                  </a:lnTo>
                  <a:cubicBezTo>
                    <a:pt x="4968081" y="0"/>
                    <a:pt x="4977777" y="9695"/>
                    <a:pt x="4977777" y="21655"/>
                  </a:cubicBezTo>
                  <a:lnTo>
                    <a:pt x="4977777" y="306873"/>
                  </a:lnTo>
                  <a:cubicBezTo>
                    <a:pt x="4977777" y="312616"/>
                    <a:pt x="4975495" y="318124"/>
                    <a:pt x="4971434" y="322185"/>
                  </a:cubicBezTo>
                  <a:cubicBezTo>
                    <a:pt x="4967373" y="326247"/>
                    <a:pt x="4961865" y="328528"/>
                    <a:pt x="4956122" y="328528"/>
                  </a:cubicBezTo>
                  <a:lnTo>
                    <a:pt x="21655" y="328528"/>
                  </a:lnTo>
                  <a:cubicBezTo>
                    <a:pt x="9695" y="328528"/>
                    <a:pt x="0" y="318833"/>
                    <a:pt x="0" y="306873"/>
                  </a:cubicBezTo>
                  <a:lnTo>
                    <a:pt x="0" y="21655"/>
                  </a:lnTo>
                  <a:cubicBezTo>
                    <a:pt x="0" y="15912"/>
                    <a:pt x="2282" y="10404"/>
                    <a:pt x="6343" y="6343"/>
                  </a:cubicBezTo>
                  <a:cubicBezTo>
                    <a:pt x="10404" y="2282"/>
                    <a:pt x="15912" y="0"/>
                    <a:pt x="21655" y="0"/>
                  </a:cubicBezTo>
                  <a:close/>
                </a:path>
              </a:pathLst>
            </a:custGeom>
            <a:solidFill>
              <a:srgbClr val="283396"/>
            </a:solidFill>
            <a:ln w="19050" cap="rnd">
              <a:solidFill>
                <a:srgbClr val="283396"/>
              </a:solidFill>
              <a:prstDash val="solid"/>
              <a:round/>
            </a:ln>
          </p:spPr>
        </p:sp>
        <p:sp>
          <p:nvSpPr>
            <p:cNvPr id="17" name="TextBox 17">
              <a:extLst>
                <a:ext uri="{FF2B5EF4-FFF2-40B4-BE49-F238E27FC236}">
                  <a16:creationId xmlns:a16="http://schemas.microsoft.com/office/drawing/2014/main" id="{C73358ED-E3AE-CD0A-8399-6468738B01F9}"/>
                </a:ext>
              </a:extLst>
            </p:cNvPr>
            <p:cNvSpPr txBox="1"/>
            <p:nvPr/>
          </p:nvSpPr>
          <p:spPr>
            <a:xfrm>
              <a:off x="0" y="-38100"/>
              <a:ext cx="4977777" cy="366628"/>
            </a:xfrm>
            <a:prstGeom prst="rect">
              <a:avLst/>
            </a:prstGeom>
          </p:spPr>
          <p:txBody>
            <a:bodyPr lIns="50800" tIns="50800" rIns="50800" bIns="50800" rtlCol="0" anchor="ctr"/>
            <a:lstStyle/>
            <a:p>
              <a:pPr marL="0" lvl="0" indent="0" algn="ctr">
                <a:lnSpc>
                  <a:spcPts val="2659"/>
                </a:lnSpc>
              </a:pPr>
              <a:endParaRPr/>
            </a:p>
          </p:txBody>
        </p:sp>
      </p:grpSp>
      <p:sp>
        <p:nvSpPr>
          <p:cNvPr id="18" name="Freeform 18">
            <a:extLst>
              <a:ext uri="{FF2B5EF4-FFF2-40B4-BE49-F238E27FC236}">
                <a16:creationId xmlns:a16="http://schemas.microsoft.com/office/drawing/2014/main" id="{E9FE7887-9786-F4EC-4454-6EB5DFBBE69E}"/>
              </a:ext>
            </a:extLst>
          </p:cNvPr>
          <p:cNvSpPr/>
          <p:nvPr/>
        </p:nvSpPr>
        <p:spPr>
          <a:xfrm>
            <a:off x="12164899" y="1783928"/>
            <a:ext cx="5076725" cy="5683809"/>
          </a:xfrm>
          <a:custGeom>
            <a:avLst/>
            <a:gdLst/>
            <a:ahLst/>
            <a:cxnLst/>
            <a:rect l="l" t="t" r="r" b="b"/>
            <a:pathLst>
              <a:path w="5570133" h="5683809">
                <a:moveTo>
                  <a:pt x="0" y="0"/>
                </a:moveTo>
                <a:lnTo>
                  <a:pt x="5570133" y="0"/>
                </a:lnTo>
                <a:lnTo>
                  <a:pt x="5570133" y="5683810"/>
                </a:lnTo>
                <a:lnTo>
                  <a:pt x="0" y="5683810"/>
                </a:lnTo>
                <a:lnTo>
                  <a:pt x="0" y="0"/>
                </a:lnTo>
                <a:close/>
              </a:path>
            </a:pathLst>
          </a:custGeom>
          <a:blipFill>
            <a:blip r:embed="rId4"/>
            <a:stretch>
              <a:fillRect/>
            </a:stretch>
          </a:blipFill>
        </p:spPr>
      </p:sp>
      <p:sp>
        <p:nvSpPr>
          <p:cNvPr id="19" name="TextBox 19">
            <a:extLst>
              <a:ext uri="{FF2B5EF4-FFF2-40B4-BE49-F238E27FC236}">
                <a16:creationId xmlns:a16="http://schemas.microsoft.com/office/drawing/2014/main" id="{90C6E1AE-3A2F-909A-4920-24B39F3AC35E}"/>
              </a:ext>
            </a:extLst>
          </p:cNvPr>
          <p:cNvSpPr txBox="1"/>
          <p:nvPr/>
        </p:nvSpPr>
        <p:spPr>
          <a:xfrm>
            <a:off x="1350057" y="703130"/>
            <a:ext cx="2657415" cy="407218"/>
          </a:xfrm>
          <a:prstGeom prst="rect">
            <a:avLst/>
          </a:prstGeom>
        </p:spPr>
        <p:txBody>
          <a:bodyPr lIns="0" tIns="0" rIns="0" bIns="0" rtlCol="0" anchor="t">
            <a:spAutoFit/>
          </a:bodyPr>
          <a:lstStyle/>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PYTHON</a:t>
            </a:r>
          </a:p>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PROGRAMMING</a:t>
            </a:r>
          </a:p>
        </p:txBody>
      </p:sp>
      <p:sp>
        <p:nvSpPr>
          <p:cNvPr id="20" name="TextBox 20">
            <a:extLst>
              <a:ext uri="{FF2B5EF4-FFF2-40B4-BE49-F238E27FC236}">
                <a16:creationId xmlns:a16="http://schemas.microsoft.com/office/drawing/2014/main" id="{BBB55FD1-912A-1077-0F36-100121D2EF7F}"/>
              </a:ext>
            </a:extLst>
          </p:cNvPr>
          <p:cNvSpPr txBox="1"/>
          <p:nvPr/>
        </p:nvSpPr>
        <p:spPr>
          <a:xfrm>
            <a:off x="5337971" y="774825"/>
            <a:ext cx="1755559"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HOME</a:t>
            </a:r>
          </a:p>
        </p:txBody>
      </p:sp>
      <p:sp>
        <p:nvSpPr>
          <p:cNvPr id="21" name="TextBox 21">
            <a:extLst>
              <a:ext uri="{FF2B5EF4-FFF2-40B4-BE49-F238E27FC236}">
                <a16:creationId xmlns:a16="http://schemas.microsoft.com/office/drawing/2014/main" id="{7E04D7E3-2C76-F913-8A16-9802D04C9854}"/>
              </a:ext>
            </a:extLst>
          </p:cNvPr>
          <p:cNvSpPr txBox="1"/>
          <p:nvPr/>
        </p:nvSpPr>
        <p:spPr>
          <a:xfrm>
            <a:off x="7463217" y="774825"/>
            <a:ext cx="2013772"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ABOUT</a:t>
            </a:r>
          </a:p>
        </p:txBody>
      </p:sp>
      <p:sp>
        <p:nvSpPr>
          <p:cNvPr id="22" name="TextBox 22">
            <a:extLst>
              <a:ext uri="{FF2B5EF4-FFF2-40B4-BE49-F238E27FC236}">
                <a16:creationId xmlns:a16="http://schemas.microsoft.com/office/drawing/2014/main" id="{A6EF7641-5A89-D5D8-0559-F1CEDD5660B0}"/>
              </a:ext>
            </a:extLst>
          </p:cNvPr>
          <p:cNvSpPr txBox="1"/>
          <p:nvPr/>
        </p:nvSpPr>
        <p:spPr>
          <a:xfrm>
            <a:off x="9856201" y="774825"/>
            <a:ext cx="2024119" cy="273172"/>
          </a:xfrm>
          <a:prstGeom prst="rect">
            <a:avLst/>
          </a:prstGeom>
        </p:spPr>
        <p:txBody>
          <a:bodyPr lIns="0" tIns="0" rIns="0" bIns="0" rtlCol="0" anchor="t">
            <a:spAutoFit/>
          </a:bodyPr>
          <a:lstStyle/>
          <a:p>
            <a:pPr marL="0" lvl="0" indent="0" algn="ctr">
              <a:lnSpc>
                <a:spcPts val="2268"/>
              </a:lnSpc>
              <a:spcBef>
                <a:spcPct val="0"/>
              </a:spcBef>
            </a:pPr>
            <a:r>
              <a:rPr lang="en-US" sz="1620" b="1">
                <a:solidFill>
                  <a:srgbClr val="283396"/>
                </a:solidFill>
                <a:latin typeface="Montaser Arabic Bold"/>
                <a:ea typeface="Montaser Arabic Bold"/>
                <a:cs typeface="Montaser Arabic Bold"/>
                <a:sym typeface="Montaser Arabic Bold"/>
              </a:rPr>
              <a:t>CONTENT</a:t>
            </a:r>
          </a:p>
        </p:txBody>
      </p:sp>
      <p:sp>
        <p:nvSpPr>
          <p:cNvPr id="23" name="TextBox 23">
            <a:extLst>
              <a:ext uri="{FF2B5EF4-FFF2-40B4-BE49-F238E27FC236}">
                <a16:creationId xmlns:a16="http://schemas.microsoft.com/office/drawing/2014/main" id="{9536E6DB-7B9B-8E60-392C-E3AC24356B4E}"/>
              </a:ext>
            </a:extLst>
          </p:cNvPr>
          <p:cNvSpPr txBox="1"/>
          <p:nvPr/>
        </p:nvSpPr>
        <p:spPr>
          <a:xfrm>
            <a:off x="12101593" y="774825"/>
            <a:ext cx="2349448"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OTHERS</a:t>
            </a:r>
          </a:p>
        </p:txBody>
      </p:sp>
      <p:sp>
        <p:nvSpPr>
          <p:cNvPr id="24" name="TextBox 24">
            <a:extLst>
              <a:ext uri="{FF2B5EF4-FFF2-40B4-BE49-F238E27FC236}">
                <a16:creationId xmlns:a16="http://schemas.microsoft.com/office/drawing/2014/main" id="{7C3DB18E-FF56-8318-B27A-E2EF56CE5A71}"/>
              </a:ext>
            </a:extLst>
          </p:cNvPr>
          <p:cNvSpPr txBox="1"/>
          <p:nvPr/>
        </p:nvSpPr>
        <p:spPr>
          <a:xfrm>
            <a:off x="1178127" y="2247003"/>
            <a:ext cx="8977741" cy="1248547"/>
          </a:xfrm>
          <a:prstGeom prst="rect">
            <a:avLst/>
          </a:prstGeom>
        </p:spPr>
        <p:txBody>
          <a:bodyPr wrap="square" lIns="0" tIns="0" rIns="0" bIns="0" rtlCol="0" anchor="t">
            <a:spAutoFit/>
          </a:bodyPr>
          <a:lstStyle/>
          <a:p>
            <a:endParaRPr lang="en-US" dirty="0"/>
          </a:p>
        </p:txBody>
      </p:sp>
      <p:sp>
        <p:nvSpPr>
          <p:cNvPr id="26" name="TextBox 26">
            <a:extLst>
              <a:ext uri="{FF2B5EF4-FFF2-40B4-BE49-F238E27FC236}">
                <a16:creationId xmlns:a16="http://schemas.microsoft.com/office/drawing/2014/main" id="{FF95590B-A416-9033-F315-77E85F937393}"/>
              </a:ext>
            </a:extLst>
          </p:cNvPr>
          <p:cNvSpPr txBox="1"/>
          <p:nvPr/>
        </p:nvSpPr>
        <p:spPr>
          <a:xfrm>
            <a:off x="1182105" y="3526286"/>
            <a:ext cx="7961895" cy="932279"/>
          </a:xfrm>
          <a:prstGeom prst="rect">
            <a:avLst/>
          </a:prstGeom>
        </p:spPr>
        <p:txBody>
          <a:bodyPr lIns="0" tIns="0" rIns="0" bIns="0" rtlCol="0" anchor="t">
            <a:spAutoFit/>
          </a:bodyPr>
          <a:lstStyle/>
          <a:p>
            <a:endParaRPr lang="en-US" dirty="0"/>
          </a:p>
        </p:txBody>
      </p:sp>
      <p:grpSp>
        <p:nvGrpSpPr>
          <p:cNvPr id="27" name="Group 27">
            <a:extLst>
              <a:ext uri="{FF2B5EF4-FFF2-40B4-BE49-F238E27FC236}">
                <a16:creationId xmlns:a16="http://schemas.microsoft.com/office/drawing/2014/main" id="{3ECB82E9-A82B-4CDB-805C-358144F6B6AA}"/>
              </a:ext>
            </a:extLst>
          </p:cNvPr>
          <p:cNvGrpSpPr/>
          <p:nvPr/>
        </p:nvGrpSpPr>
        <p:grpSpPr>
          <a:xfrm>
            <a:off x="1131988" y="6872292"/>
            <a:ext cx="2119546" cy="627805"/>
            <a:chOff x="0" y="0"/>
            <a:chExt cx="558234" cy="165348"/>
          </a:xfrm>
        </p:grpSpPr>
        <p:sp>
          <p:nvSpPr>
            <p:cNvPr id="28" name="Freeform 28">
              <a:extLst>
                <a:ext uri="{FF2B5EF4-FFF2-40B4-BE49-F238E27FC236}">
                  <a16:creationId xmlns:a16="http://schemas.microsoft.com/office/drawing/2014/main" id="{6F4DB330-07B2-849C-B16C-99EF9FAC7785}"/>
                </a:ext>
              </a:extLst>
            </p:cNvPr>
            <p:cNvSpPr/>
            <p:nvPr/>
          </p:nvSpPr>
          <p:spPr>
            <a:xfrm>
              <a:off x="0" y="0"/>
              <a:ext cx="558234" cy="165348"/>
            </a:xfrm>
            <a:custGeom>
              <a:avLst/>
              <a:gdLst/>
              <a:ahLst/>
              <a:cxnLst/>
              <a:rect l="l" t="t" r="r" b="b"/>
              <a:pathLst>
                <a:path w="558234" h="165348">
                  <a:moveTo>
                    <a:pt x="82674" y="0"/>
                  </a:moveTo>
                  <a:lnTo>
                    <a:pt x="475560" y="0"/>
                  </a:lnTo>
                  <a:cubicBezTo>
                    <a:pt x="521220" y="0"/>
                    <a:pt x="558234" y="37014"/>
                    <a:pt x="558234" y="82674"/>
                  </a:cubicBezTo>
                  <a:lnTo>
                    <a:pt x="558234" y="82674"/>
                  </a:lnTo>
                  <a:cubicBezTo>
                    <a:pt x="558234" y="104600"/>
                    <a:pt x="549524" y="125629"/>
                    <a:pt x="534020" y="141133"/>
                  </a:cubicBezTo>
                  <a:cubicBezTo>
                    <a:pt x="518515" y="156638"/>
                    <a:pt x="497487" y="165348"/>
                    <a:pt x="475560" y="165348"/>
                  </a:cubicBezTo>
                  <a:lnTo>
                    <a:pt x="82674" y="165348"/>
                  </a:lnTo>
                  <a:cubicBezTo>
                    <a:pt x="37014" y="165348"/>
                    <a:pt x="0" y="128334"/>
                    <a:pt x="0" y="82674"/>
                  </a:cubicBezTo>
                  <a:lnTo>
                    <a:pt x="0" y="82674"/>
                  </a:lnTo>
                  <a:cubicBezTo>
                    <a:pt x="0" y="37014"/>
                    <a:pt x="37014" y="0"/>
                    <a:pt x="82674" y="0"/>
                  </a:cubicBezTo>
                  <a:close/>
                </a:path>
              </a:pathLst>
            </a:custGeom>
            <a:solidFill>
              <a:srgbClr val="D43838"/>
            </a:solidFill>
            <a:ln cap="rnd">
              <a:noFill/>
              <a:prstDash val="solid"/>
              <a:round/>
            </a:ln>
          </p:spPr>
        </p:sp>
        <p:sp>
          <p:nvSpPr>
            <p:cNvPr id="29" name="TextBox 29">
              <a:extLst>
                <a:ext uri="{FF2B5EF4-FFF2-40B4-BE49-F238E27FC236}">
                  <a16:creationId xmlns:a16="http://schemas.microsoft.com/office/drawing/2014/main" id="{354DC14A-26D8-5BD3-DBF1-82C0082B6066}"/>
                </a:ext>
              </a:extLst>
            </p:cNvPr>
            <p:cNvSpPr txBox="1"/>
            <p:nvPr/>
          </p:nvSpPr>
          <p:spPr>
            <a:xfrm>
              <a:off x="0" y="-28575"/>
              <a:ext cx="558234" cy="193923"/>
            </a:xfrm>
            <a:prstGeom prst="rect">
              <a:avLst/>
            </a:prstGeom>
          </p:spPr>
          <p:txBody>
            <a:bodyPr lIns="50800" tIns="50800" rIns="50800" bIns="50800" rtlCol="0" anchor="ctr"/>
            <a:lstStyle/>
            <a:p>
              <a:pPr marL="0" lvl="0" indent="0" algn="ctr">
                <a:lnSpc>
                  <a:spcPts val="2268"/>
                </a:lnSpc>
              </a:pPr>
              <a:r>
                <a:rPr lang="en-US" sz="1620" b="1">
                  <a:solidFill>
                    <a:srgbClr val="FFFFFF"/>
                  </a:solidFill>
                  <a:latin typeface="Montaser Arabic Bold"/>
                  <a:ea typeface="Montaser Arabic Bold"/>
                  <a:cs typeface="Montaser Arabic Bold"/>
                  <a:sym typeface="Montaser Arabic Bold"/>
                </a:rPr>
                <a:t>NEXT SLIDE</a:t>
              </a:r>
            </a:p>
          </p:txBody>
        </p:sp>
      </p:grpSp>
      <p:grpSp>
        <p:nvGrpSpPr>
          <p:cNvPr id="30" name="Group 30">
            <a:extLst>
              <a:ext uri="{FF2B5EF4-FFF2-40B4-BE49-F238E27FC236}">
                <a16:creationId xmlns:a16="http://schemas.microsoft.com/office/drawing/2014/main" id="{B9A46799-938E-8D48-5EEA-50CC2CA602E5}"/>
              </a:ext>
            </a:extLst>
          </p:cNvPr>
          <p:cNvGrpSpPr/>
          <p:nvPr/>
        </p:nvGrpSpPr>
        <p:grpSpPr>
          <a:xfrm>
            <a:off x="16115510" y="3182866"/>
            <a:ext cx="1513917" cy="1513917"/>
            <a:chOff x="0" y="0"/>
            <a:chExt cx="812800" cy="812800"/>
          </a:xfrm>
        </p:grpSpPr>
        <p:sp>
          <p:nvSpPr>
            <p:cNvPr id="31" name="Freeform 31">
              <a:extLst>
                <a:ext uri="{FF2B5EF4-FFF2-40B4-BE49-F238E27FC236}">
                  <a16:creationId xmlns:a16="http://schemas.microsoft.com/office/drawing/2014/main" id="{ADF7B19E-BEC0-8D8D-8BD1-74AD25FA19B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32" name="TextBox 32">
              <a:extLst>
                <a:ext uri="{FF2B5EF4-FFF2-40B4-BE49-F238E27FC236}">
                  <a16:creationId xmlns:a16="http://schemas.microsoft.com/office/drawing/2014/main" id="{4C8E36F7-6268-284C-0D64-1DDD9AB5422E}"/>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33" name="Group 33">
            <a:extLst>
              <a:ext uri="{FF2B5EF4-FFF2-40B4-BE49-F238E27FC236}">
                <a16:creationId xmlns:a16="http://schemas.microsoft.com/office/drawing/2014/main" id="{31CFB4C8-C488-0FDB-B437-D87F362F89F6}"/>
              </a:ext>
            </a:extLst>
          </p:cNvPr>
          <p:cNvGrpSpPr/>
          <p:nvPr/>
        </p:nvGrpSpPr>
        <p:grpSpPr>
          <a:xfrm>
            <a:off x="16443851" y="3535019"/>
            <a:ext cx="857235" cy="809611"/>
            <a:chOff x="0" y="0"/>
            <a:chExt cx="685800" cy="647700"/>
          </a:xfrm>
        </p:grpSpPr>
        <p:sp>
          <p:nvSpPr>
            <p:cNvPr id="34" name="Freeform 34">
              <a:extLst>
                <a:ext uri="{FF2B5EF4-FFF2-40B4-BE49-F238E27FC236}">
                  <a16:creationId xmlns:a16="http://schemas.microsoft.com/office/drawing/2014/main" id="{0E3F5798-0C69-4F88-B624-F960ACE9E366}"/>
                </a:ext>
              </a:extLst>
            </p:cNvPr>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35" name="TextBox 35">
              <a:extLst>
                <a:ext uri="{FF2B5EF4-FFF2-40B4-BE49-F238E27FC236}">
                  <a16:creationId xmlns:a16="http://schemas.microsoft.com/office/drawing/2014/main" id="{B40F04EE-6CDC-D918-BC2B-2AA70A3B8F26}"/>
                </a:ext>
              </a:extLst>
            </p:cNvPr>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sp>
        <p:nvSpPr>
          <p:cNvPr id="37" name="TextBox 36">
            <a:extLst>
              <a:ext uri="{FF2B5EF4-FFF2-40B4-BE49-F238E27FC236}">
                <a16:creationId xmlns:a16="http://schemas.microsoft.com/office/drawing/2014/main" id="{C93E6BBF-6427-8B16-EC59-C234367FBCF1}"/>
              </a:ext>
            </a:extLst>
          </p:cNvPr>
          <p:cNvSpPr txBox="1"/>
          <p:nvPr/>
        </p:nvSpPr>
        <p:spPr>
          <a:xfrm>
            <a:off x="1071155" y="1341112"/>
            <a:ext cx="9563100" cy="810478"/>
          </a:xfrm>
          <a:prstGeom prst="rect">
            <a:avLst/>
          </a:prstGeom>
          <a:noFill/>
        </p:spPr>
        <p:txBody>
          <a:bodyPr wrap="square">
            <a:spAutoFit/>
          </a:bodyPr>
          <a:lstStyle/>
          <a:p>
            <a:pPr algn="just">
              <a:lnSpc>
                <a:spcPts val="5586"/>
              </a:lnSpc>
            </a:pPr>
            <a:r>
              <a:rPr lang="en-US" sz="4800" b="1" dirty="0">
                <a:solidFill>
                  <a:srgbClr val="002060"/>
                </a:solidFill>
                <a:ea typeface="TT Supermolot Neue Expanded Bold"/>
                <a:cs typeface="TT Supermolot Neue Expanded Bold"/>
                <a:sym typeface="TT Supermolot Neue Expanded Bold"/>
              </a:rPr>
              <a:t>Program Implementation</a:t>
            </a:r>
          </a:p>
        </p:txBody>
      </p:sp>
      <p:sp>
        <p:nvSpPr>
          <p:cNvPr id="39" name="TextBox 38">
            <a:extLst>
              <a:ext uri="{FF2B5EF4-FFF2-40B4-BE49-F238E27FC236}">
                <a16:creationId xmlns:a16="http://schemas.microsoft.com/office/drawing/2014/main" id="{DB0A7C47-F40B-8F63-7E1A-5E824E548B92}"/>
              </a:ext>
            </a:extLst>
          </p:cNvPr>
          <p:cNvSpPr txBox="1"/>
          <p:nvPr/>
        </p:nvSpPr>
        <p:spPr>
          <a:xfrm>
            <a:off x="1085850" y="2454726"/>
            <a:ext cx="10378160" cy="1815882"/>
          </a:xfrm>
          <a:prstGeom prst="rect">
            <a:avLst/>
          </a:prstGeom>
          <a:noFill/>
        </p:spPr>
        <p:txBody>
          <a:bodyPr wrap="square">
            <a:spAutoFit/>
          </a:bodyPr>
          <a:lstStyle/>
          <a:p>
            <a:pPr algn="just"/>
            <a:r>
              <a:rPr lang="en-US" sz="2800" b="1" dirty="0">
                <a:solidFill>
                  <a:srgbClr val="002060"/>
                </a:solidFill>
                <a:ea typeface="TT Supermolot Neue Expanded"/>
                <a:cs typeface="TT Supermolot Neue Expanded"/>
                <a:sym typeface="TT Supermolot Neue Expanded"/>
              </a:rPr>
              <a:t>Program implementation is the process of transforming human-readable source code into executable instructions that a computer can understand and run. This critical step bridges the gap between what programmers write and what machines execute</a:t>
            </a:r>
            <a:r>
              <a:rPr lang="en-US" sz="2800" b="1" dirty="0">
                <a:ln w="0"/>
                <a:solidFill>
                  <a:srgbClr val="002060"/>
                </a:solidFill>
                <a:ea typeface="TT Supermolot Neue Expanded"/>
                <a:cs typeface="TT Supermolot Neue Expanded"/>
                <a:sym typeface="TT Supermolot Neue Expanded"/>
              </a:rPr>
              <a:t>.</a:t>
            </a:r>
          </a:p>
        </p:txBody>
      </p:sp>
      <p:sp>
        <p:nvSpPr>
          <p:cNvPr id="41" name="TextBox 40">
            <a:extLst>
              <a:ext uri="{FF2B5EF4-FFF2-40B4-BE49-F238E27FC236}">
                <a16:creationId xmlns:a16="http://schemas.microsoft.com/office/drawing/2014/main" id="{1151E468-016B-C5C0-C96C-7F1E53C0F78F}"/>
              </a:ext>
            </a:extLst>
          </p:cNvPr>
          <p:cNvSpPr txBox="1"/>
          <p:nvPr/>
        </p:nvSpPr>
        <p:spPr>
          <a:xfrm>
            <a:off x="1109255" y="4608813"/>
            <a:ext cx="10378159" cy="1815882"/>
          </a:xfrm>
          <a:prstGeom prst="rect">
            <a:avLst/>
          </a:prstGeom>
          <a:noFill/>
        </p:spPr>
        <p:txBody>
          <a:bodyPr wrap="square">
            <a:spAutoFit/>
          </a:bodyPr>
          <a:lstStyle/>
          <a:p>
            <a:pPr lvl="0">
              <a:spcBef>
                <a:spcPct val="0"/>
              </a:spcBef>
            </a:pPr>
            <a:r>
              <a:rPr lang="en-US" sz="2800" b="1" dirty="0">
                <a:solidFill>
                  <a:srgbClr val="002060"/>
                </a:solidFill>
                <a:sym typeface="TT Supermolot Neue Expanded"/>
              </a:rPr>
              <a:t>Three main methods exist: compilers translate entire programs before execution, interpreters process code line-by-line at runtime, and hybrid approaches combine both. The flow is simple: source code → compiler/interpreter → machine execution.</a:t>
            </a:r>
          </a:p>
        </p:txBody>
      </p:sp>
    </p:spTree>
    <p:extLst>
      <p:ext uri="{BB962C8B-B14F-4D97-AF65-F5344CB8AC3E}">
        <p14:creationId xmlns:p14="http://schemas.microsoft.com/office/powerpoint/2010/main" val="25850853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FEEEB"/>
        </a:solidFill>
        <a:effectLst/>
      </p:bgPr>
    </p:bg>
    <p:spTree>
      <p:nvGrpSpPr>
        <p:cNvPr id="1" name=""/>
        <p:cNvGrpSpPr/>
        <p:nvPr/>
      </p:nvGrpSpPr>
      <p:grpSpPr>
        <a:xfrm>
          <a:off x="0" y="0"/>
          <a:ext cx="0" cy="0"/>
          <a:chOff x="0" y="0"/>
          <a:chExt cx="0" cy="0"/>
        </a:xfrm>
      </p:grpSpPr>
      <p:sp>
        <p:nvSpPr>
          <p:cNvPr id="2" name="Freeform 2"/>
          <p:cNvSpPr/>
          <p:nvPr/>
        </p:nvSpPr>
        <p:spPr>
          <a:xfrm>
            <a:off x="8428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3" name="Freeform 3"/>
          <p:cNvSpPr/>
          <p:nvPr/>
        </p:nvSpPr>
        <p:spPr>
          <a:xfrm>
            <a:off x="-402697"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AutoShape 4"/>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5" name="Freeform 5"/>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6" name="Group 6"/>
          <p:cNvGrpSpPr/>
          <p:nvPr/>
        </p:nvGrpSpPr>
        <p:grpSpPr>
          <a:xfrm>
            <a:off x="1085850" y="665030"/>
            <a:ext cx="92277" cy="524320"/>
            <a:chOff x="0" y="0"/>
            <a:chExt cx="24303" cy="138092"/>
          </a:xfrm>
        </p:grpSpPr>
        <p:sp>
          <p:nvSpPr>
            <p:cNvPr id="7" name="Freeform 7"/>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8" name="TextBox 8"/>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9" name="Group 9"/>
          <p:cNvGrpSpPr/>
          <p:nvPr/>
        </p:nvGrpSpPr>
        <p:grpSpPr>
          <a:xfrm>
            <a:off x="10328121" y="1359977"/>
            <a:ext cx="1080278" cy="106932"/>
            <a:chOff x="0" y="0"/>
            <a:chExt cx="284518" cy="28163"/>
          </a:xfrm>
        </p:grpSpPr>
        <p:sp>
          <p:nvSpPr>
            <p:cNvPr id="10" name="Freeform 10"/>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1" name="TextBox 11"/>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p:cNvGrpSpPr/>
          <p:nvPr/>
        </p:nvGrpSpPr>
        <p:grpSpPr>
          <a:xfrm>
            <a:off x="10604739" y="2313678"/>
            <a:ext cx="6419658" cy="6830322"/>
            <a:chOff x="0" y="0"/>
            <a:chExt cx="1752642" cy="1864758"/>
          </a:xfrm>
        </p:grpSpPr>
        <p:sp>
          <p:nvSpPr>
            <p:cNvPr id="13" name="Freeform 13"/>
            <p:cNvSpPr/>
            <p:nvPr/>
          </p:nvSpPr>
          <p:spPr>
            <a:xfrm>
              <a:off x="0" y="0"/>
              <a:ext cx="1752642" cy="1864758"/>
            </a:xfrm>
            <a:custGeom>
              <a:avLst/>
              <a:gdLst/>
              <a:ahLst/>
              <a:cxnLst/>
              <a:rect l="l" t="t" r="r" b="b"/>
              <a:pathLst>
                <a:path w="1752642" h="1864758">
                  <a:moveTo>
                    <a:pt x="61505" y="0"/>
                  </a:moveTo>
                  <a:lnTo>
                    <a:pt x="1691137" y="0"/>
                  </a:lnTo>
                  <a:cubicBezTo>
                    <a:pt x="1725105" y="0"/>
                    <a:pt x="1752642" y="27537"/>
                    <a:pt x="1752642" y="61505"/>
                  </a:cubicBezTo>
                  <a:lnTo>
                    <a:pt x="1752642" y="1803253"/>
                  </a:lnTo>
                  <a:cubicBezTo>
                    <a:pt x="1752642" y="1819565"/>
                    <a:pt x="1746162" y="1835209"/>
                    <a:pt x="1734627" y="1846743"/>
                  </a:cubicBezTo>
                  <a:cubicBezTo>
                    <a:pt x="1723093" y="1858278"/>
                    <a:pt x="1707449" y="1864758"/>
                    <a:pt x="1691137" y="1864758"/>
                  </a:cubicBezTo>
                  <a:lnTo>
                    <a:pt x="61505" y="1864758"/>
                  </a:lnTo>
                  <a:cubicBezTo>
                    <a:pt x="27537" y="1864758"/>
                    <a:pt x="0" y="1837221"/>
                    <a:pt x="0" y="1803253"/>
                  </a:cubicBezTo>
                  <a:lnTo>
                    <a:pt x="0" y="61505"/>
                  </a:lnTo>
                  <a:cubicBezTo>
                    <a:pt x="0" y="27537"/>
                    <a:pt x="27537" y="0"/>
                    <a:pt x="61505" y="0"/>
                  </a:cubicBezTo>
                  <a:close/>
                </a:path>
              </a:pathLst>
            </a:custGeom>
            <a:ln w="19050" cap="rnd">
              <a:solidFill>
                <a:srgbClr val="283396"/>
              </a:solidFill>
              <a:prstDash val="solid"/>
              <a:round/>
            </a:ln>
          </p:spPr>
        </p:sp>
        <p:sp>
          <p:nvSpPr>
            <p:cNvPr id="14" name="TextBox 14"/>
            <p:cNvSpPr txBox="1"/>
            <p:nvPr/>
          </p:nvSpPr>
          <p:spPr>
            <a:xfrm>
              <a:off x="0" y="-38100"/>
              <a:ext cx="1752642" cy="1902858"/>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p:cNvGrpSpPr/>
          <p:nvPr/>
        </p:nvGrpSpPr>
        <p:grpSpPr>
          <a:xfrm>
            <a:off x="27583" y="7940652"/>
            <a:ext cx="18232834" cy="1203348"/>
            <a:chOff x="0" y="0"/>
            <a:chExt cx="4977777" cy="328528"/>
          </a:xfrm>
        </p:grpSpPr>
        <p:sp>
          <p:nvSpPr>
            <p:cNvPr id="16" name="Freeform 16"/>
            <p:cNvSpPr/>
            <p:nvPr/>
          </p:nvSpPr>
          <p:spPr>
            <a:xfrm>
              <a:off x="0" y="0"/>
              <a:ext cx="4977777" cy="328528"/>
            </a:xfrm>
            <a:custGeom>
              <a:avLst/>
              <a:gdLst/>
              <a:ahLst/>
              <a:cxnLst/>
              <a:rect l="l" t="t" r="r" b="b"/>
              <a:pathLst>
                <a:path w="4977777" h="328528">
                  <a:moveTo>
                    <a:pt x="21655" y="0"/>
                  </a:moveTo>
                  <a:lnTo>
                    <a:pt x="4956122" y="0"/>
                  </a:lnTo>
                  <a:cubicBezTo>
                    <a:pt x="4968081" y="0"/>
                    <a:pt x="4977777" y="9695"/>
                    <a:pt x="4977777" y="21655"/>
                  </a:cubicBezTo>
                  <a:lnTo>
                    <a:pt x="4977777" y="306873"/>
                  </a:lnTo>
                  <a:cubicBezTo>
                    <a:pt x="4977777" y="312616"/>
                    <a:pt x="4975495" y="318124"/>
                    <a:pt x="4971434" y="322185"/>
                  </a:cubicBezTo>
                  <a:cubicBezTo>
                    <a:pt x="4967373" y="326247"/>
                    <a:pt x="4961865" y="328528"/>
                    <a:pt x="4956122" y="328528"/>
                  </a:cubicBezTo>
                  <a:lnTo>
                    <a:pt x="21655" y="328528"/>
                  </a:lnTo>
                  <a:cubicBezTo>
                    <a:pt x="9695" y="328528"/>
                    <a:pt x="0" y="318833"/>
                    <a:pt x="0" y="306873"/>
                  </a:cubicBezTo>
                  <a:lnTo>
                    <a:pt x="0" y="21655"/>
                  </a:lnTo>
                  <a:cubicBezTo>
                    <a:pt x="0" y="15912"/>
                    <a:pt x="2282" y="10404"/>
                    <a:pt x="6343" y="6343"/>
                  </a:cubicBezTo>
                  <a:cubicBezTo>
                    <a:pt x="10404" y="2282"/>
                    <a:pt x="15912" y="0"/>
                    <a:pt x="21655" y="0"/>
                  </a:cubicBezTo>
                  <a:close/>
                </a:path>
              </a:pathLst>
            </a:custGeom>
            <a:solidFill>
              <a:srgbClr val="283396"/>
            </a:solidFill>
            <a:ln w="19050" cap="rnd">
              <a:solidFill>
                <a:srgbClr val="283396"/>
              </a:solidFill>
              <a:prstDash val="solid"/>
              <a:round/>
            </a:ln>
          </p:spPr>
        </p:sp>
        <p:sp>
          <p:nvSpPr>
            <p:cNvPr id="17" name="TextBox 17"/>
            <p:cNvSpPr txBox="1"/>
            <p:nvPr/>
          </p:nvSpPr>
          <p:spPr>
            <a:xfrm>
              <a:off x="0" y="-38100"/>
              <a:ext cx="4977777" cy="366628"/>
            </a:xfrm>
            <a:prstGeom prst="rect">
              <a:avLst/>
            </a:prstGeom>
          </p:spPr>
          <p:txBody>
            <a:bodyPr lIns="50800" tIns="50800" rIns="50800" bIns="50800" rtlCol="0" anchor="ctr"/>
            <a:lstStyle/>
            <a:p>
              <a:pPr marL="0" lvl="0" indent="0" algn="ctr">
                <a:lnSpc>
                  <a:spcPts val="2659"/>
                </a:lnSpc>
              </a:pPr>
              <a:endParaRPr/>
            </a:p>
          </p:txBody>
        </p:sp>
      </p:grpSp>
      <p:sp>
        <p:nvSpPr>
          <p:cNvPr id="18" name="Freeform 18"/>
          <p:cNvSpPr/>
          <p:nvPr/>
        </p:nvSpPr>
        <p:spPr>
          <a:xfrm>
            <a:off x="10432557" y="3131182"/>
            <a:ext cx="5570133" cy="5683809"/>
          </a:xfrm>
          <a:custGeom>
            <a:avLst/>
            <a:gdLst/>
            <a:ahLst/>
            <a:cxnLst/>
            <a:rect l="l" t="t" r="r" b="b"/>
            <a:pathLst>
              <a:path w="5570133" h="5683809">
                <a:moveTo>
                  <a:pt x="0" y="0"/>
                </a:moveTo>
                <a:lnTo>
                  <a:pt x="5570133" y="0"/>
                </a:lnTo>
                <a:lnTo>
                  <a:pt x="5570133" y="5683810"/>
                </a:lnTo>
                <a:lnTo>
                  <a:pt x="0" y="5683810"/>
                </a:lnTo>
                <a:lnTo>
                  <a:pt x="0" y="0"/>
                </a:lnTo>
                <a:close/>
              </a:path>
            </a:pathLst>
          </a:custGeom>
          <a:blipFill>
            <a:blip r:embed="rId4"/>
            <a:stretch>
              <a:fillRect/>
            </a:stretch>
          </a:blipFill>
        </p:spPr>
      </p:sp>
      <p:sp>
        <p:nvSpPr>
          <p:cNvPr id="19" name="TextBox 19"/>
          <p:cNvSpPr txBox="1"/>
          <p:nvPr/>
        </p:nvSpPr>
        <p:spPr>
          <a:xfrm>
            <a:off x="1350057" y="703130"/>
            <a:ext cx="2657415" cy="407218"/>
          </a:xfrm>
          <a:prstGeom prst="rect">
            <a:avLst/>
          </a:prstGeom>
        </p:spPr>
        <p:txBody>
          <a:bodyPr lIns="0" tIns="0" rIns="0" bIns="0" rtlCol="0" anchor="t">
            <a:spAutoFit/>
          </a:bodyPr>
          <a:lstStyle/>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PYTHON</a:t>
            </a:r>
          </a:p>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PROGRAMMING</a:t>
            </a:r>
          </a:p>
        </p:txBody>
      </p:sp>
      <p:sp>
        <p:nvSpPr>
          <p:cNvPr id="20" name="TextBox 20"/>
          <p:cNvSpPr txBox="1"/>
          <p:nvPr/>
        </p:nvSpPr>
        <p:spPr>
          <a:xfrm>
            <a:off x="5337971" y="774825"/>
            <a:ext cx="1755559"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HOME</a:t>
            </a:r>
          </a:p>
        </p:txBody>
      </p:sp>
      <p:sp>
        <p:nvSpPr>
          <p:cNvPr id="21" name="TextBox 21"/>
          <p:cNvSpPr txBox="1"/>
          <p:nvPr/>
        </p:nvSpPr>
        <p:spPr>
          <a:xfrm>
            <a:off x="7463217" y="774825"/>
            <a:ext cx="2013772"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ABOUT</a:t>
            </a:r>
          </a:p>
        </p:txBody>
      </p:sp>
      <p:sp>
        <p:nvSpPr>
          <p:cNvPr id="22" name="TextBox 22"/>
          <p:cNvSpPr txBox="1"/>
          <p:nvPr/>
        </p:nvSpPr>
        <p:spPr>
          <a:xfrm>
            <a:off x="9856201" y="774825"/>
            <a:ext cx="2024119" cy="273172"/>
          </a:xfrm>
          <a:prstGeom prst="rect">
            <a:avLst/>
          </a:prstGeom>
        </p:spPr>
        <p:txBody>
          <a:bodyPr lIns="0" tIns="0" rIns="0" bIns="0" rtlCol="0" anchor="t">
            <a:spAutoFit/>
          </a:bodyPr>
          <a:lstStyle/>
          <a:p>
            <a:pPr marL="0" lvl="0" indent="0" algn="ctr">
              <a:lnSpc>
                <a:spcPts val="2268"/>
              </a:lnSpc>
              <a:spcBef>
                <a:spcPct val="0"/>
              </a:spcBef>
            </a:pPr>
            <a:r>
              <a:rPr lang="en-US" sz="1620" b="1">
                <a:solidFill>
                  <a:srgbClr val="283396"/>
                </a:solidFill>
                <a:latin typeface="Montaser Arabic Bold"/>
                <a:ea typeface="Montaser Arabic Bold"/>
                <a:cs typeface="Montaser Arabic Bold"/>
                <a:sym typeface="Montaser Arabic Bold"/>
              </a:rPr>
              <a:t>CONTENT</a:t>
            </a:r>
          </a:p>
        </p:txBody>
      </p:sp>
      <p:sp>
        <p:nvSpPr>
          <p:cNvPr id="23" name="TextBox 23"/>
          <p:cNvSpPr txBox="1"/>
          <p:nvPr/>
        </p:nvSpPr>
        <p:spPr>
          <a:xfrm>
            <a:off x="12101593" y="774825"/>
            <a:ext cx="2349448"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OTHERS</a:t>
            </a:r>
          </a:p>
        </p:txBody>
      </p:sp>
      <p:sp>
        <p:nvSpPr>
          <p:cNvPr id="24" name="TextBox 24"/>
          <p:cNvSpPr txBox="1"/>
          <p:nvPr/>
        </p:nvSpPr>
        <p:spPr>
          <a:xfrm>
            <a:off x="1178127" y="2247003"/>
            <a:ext cx="8977741" cy="1248547"/>
          </a:xfrm>
          <a:prstGeom prst="rect">
            <a:avLst/>
          </a:prstGeom>
        </p:spPr>
        <p:txBody>
          <a:bodyPr wrap="square" lIns="0" tIns="0" rIns="0" bIns="0" rtlCol="0" anchor="t">
            <a:spAutoFit/>
          </a:bodyPr>
          <a:lstStyle/>
          <a:p>
            <a:endParaRPr lang="en-US" dirty="0"/>
          </a:p>
        </p:txBody>
      </p:sp>
      <p:sp>
        <p:nvSpPr>
          <p:cNvPr id="25" name="TextBox 25"/>
          <p:cNvSpPr txBox="1"/>
          <p:nvPr/>
        </p:nvSpPr>
        <p:spPr>
          <a:xfrm>
            <a:off x="1065307" y="1753138"/>
            <a:ext cx="9064999" cy="4555093"/>
          </a:xfrm>
          <a:prstGeom prst="rect">
            <a:avLst/>
          </a:prstGeom>
        </p:spPr>
        <p:txBody>
          <a:bodyPr wrap="square" lIns="0" tIns="0" rIns="0" bIns="0" rtlCol="0" anchor="t">
            <a:spAutoFit/>
          </a:bodyPr>
          <a:lstStyle/>
          <a:p>
            <a:pPr marL="0" lvl="0" indent="0" algn="l">
              <a:lnSpc>
                <a:spcPts val="2400"/>
              </a:lnSpc>
            </a:pPr>
            <a:r>
              <a:rPr lang="en-US" sz="4800" b="1" dirty="0">
                <a:solidFill>
                  <a:srgbClr val="283396"/>
                </a:solidFill>
                <a:latin typeface="+mj-lt"/>
              </a:rPr>
              <a:t>IDLE</a:t>
            </a:r>
          </a:p>
          <a:p>
            <a:pPr marL="0" lvl="0" indent="0" algn="l"/>
            <a:r>
              <a:rPr lang="en-US" sz="2800" b="1" dirty="0">
                <a:solidFill>
                  <a:srgbClr val="283396"/>
                </a:solidFill>
              </a:rPr>
              <a:t>Python’s built-in editor designed for beginners. Simple interface with basic features like syntax highlighting and interactive shell for quick testing.</a:t>
            </a:r>
          </a:p>
          <a:p>
            <a:pPr marL="0" lvl="0" indent="0" algn="l"/>
            <a:endParaRPr lang="en-US" sz="5400" dirty="0">
              <a:latin typeface="+mj-lt"/>
            </a:endParaRPr>
          </a:p>
          <a:p>
            <a:pPr marL="0" lvl="0" indent="0" algn="l"/>
            <a:r>
              <a:rPr lang="en-US" sz="5400" b="1" dirty="0">
                <a:solidFill>
                  <a:srgbClr val="283396"/>
                </a:solidFill>
                <a:latin typeface="+mj-lt"/>
              </a:rPr>
              <a:t>IDE</a:t>
            </a:r>
            <a:endParaRPr lang="en-US" sz="3200" b="1" dirty="0">
              <a:solidFill>
                <a:srgbClr val="283396"/>
              </a:solidFill>
            </a:endParaRPr>
          </a:p>
          <a:p>
            <a:pPr marL="0" lvl="0" indent="0" algn="l"/>
            <a:r>
              <a:rPr lang="en-US" sz="2800" b="1" dirty="0">
                <a:solidFill>
                  <a:srgbClr val="283396"/>
                </a:solidFill>
              </a:rPr>
              <a:t>Powerful environments like VS Code, PyCharm, and Thonny. Advanced features include debugging tools, file management, and code completion.</a:t>
            </a:r>
          </a:p>
        </p:txBody>
      </p:sp>
      <p:sp>
        <p:nvSpPr>
          <p:cNvPr id="26" name="TextBox 26"/>
          <p:cNvSpPr txBox="1"/>
          <p:nvPr/>
        </p:nvSpPr>
        <p:spPr>
          <a:xfrm>
            <a:off x="1182105" y="3526286"/>
            <a:ext cx="7961895" cy="932279"/>
          </a:xfrm>
          <a:prstGeom prst="rect">
            <a:avLst/>
          </a:prstGeom>
        </p:spPr>
        <p:txBody>
          <a:bodyPr lIns="0" tIns="0" rIns="0" bIns="0" rtlCol="0" anchor="t">
            <a:spAutoFit/>
          </a:bodyPr>
          <a:lstStyle/>
          <a:p>
            <a:endParaRPr lang="en-US" dirty="0"/>
          </a:p>
        </p:txBody>
      </p:sp>
      <p:grpSp>
        <p:nvGrpSpPr>
          <p:cNvPr id="27" name="Group 27"/>
          <p:cNvGrpSpPr/>
          <p:nvPr/>
        </p:nvGrpSpPr>
        <p:grpSpPr>
          <a:xfrm>
            <a:off x="1131988" y="6872292"/>
            <a:ext cx="2119546" cy="627805"/>
            <a:chOff x="0" y="0"/>
            <a:chExt cx="558234" cy="165348"/>
          </a:xfrm>
        </p:grpSpPr>
        <p:sp>
          <p:nvSpPr>
            <p:cNvPr id="28" name="Freeform 28"/>
            <p:cNvSpPr/>
            <p:nvPr/>
          </p:nvSpPr>
          <p:spPr>
            <a:xfrm>
              <a:off x="0" y="0"/>
              <a:ext cx="558234" cy="165348"/>
            </a:xfrm>
            <a:custGeom>
              <a:avLst/>
              <a:gdLst/>
              <a:ahLst/>
              <a:cxnLst/>
              <a:rect l="l" t="t" r="r" b="b"/>
              <a:pathLst>
                <a:path w="558234" h="165348">
                  <a:moveTo>
                    <a:pt x="82674" y="0"/>
                  </a:moveTo>
                  <a:lnTo>
                    <a:pt x="475560" y="0"/>
                  </a:lnTo>
                  <a:cubicBezTo>
                    <a:pt x="521220" y="0"/>
                    <a:pt x="558234" y="37014"/>
                    <a:pt x="558234" y="82674"/>
                  </a:cubicBezTo>
                  <a:lnTo>
                    <a:pt x="558234" y="82674"/>
                  </a:lnTo>
                  <a:cubicBezTo>
                    <a:pt x="558234" y="104600"/>
                    <a:pt x="549524" y="125629"/>
                    <a:pt x="534020" y="141133"/>
                  </a:cubicBezTo>
                  <a:cubicBezTo>
                    <a:pt x="518515" y="156638"/>
                    <a:pt x="497487" y="165348"/>
                    <a:pt x="475560" y="165348"/>
                  </a:cubicBezTo>
                  <a:lnTo>
                    <a:pt x="82674" y="165348"/>
                  </a:lnTo>
                  <a:cubicBezTo>
                    <a:pt x="37014" y="165348"/>
                    <a:pt x="0" y="128334"/>
                    <a:pt x="0" y="82674"/>
                  </a:cubicBezTo>
                  <a:lnTo>
                    <a:pt x="0" y="82674"/>
                  </a:lnTo>
                  <a:cubicBezTo>
                    <a:pt x="0" y="37014"/>
                    <a:pt x="37014" y="0"/>
                    <a:pt x="82674" y="0"/>
                  </a:cubicBezTo>
                  <a:close/>
                </a:path>
              </a:pathLst>
            </a:custGeom>
            <a:solidFill>
              <a:srgbClr val="D43838"/>
            </a:solidFill>
            <a:ln cap="rnd">
              <a:noFill/>
              <a:prstDash val="solid"/>
              <a:round/>
            </a:ln>
          </p:spPr>
        </p:sp>
        <p:sp>
          <p:nvSpPr>
            <p:cNvPr id="29" name="TextBox 29"/>
            <p:cNvSpPr txBox="1"/>
            <p:nvPr/>
          </p:nvSpPr>
          <p:spPr>
            <a:xfrm>
              <a:off x="0" y="-28575"/>
              <a:ext cx="558234" cy="193923"/>
            </a:xfrm>
            <a:prstGeom prst="rect">
              <a:avLst/>
            </a:prstGeom>
          </p:spPr>
          <p:txBody>
            <a:bodyPr lIns="50800" tIns="50800" rIns="50800" bIns="50800" rtlCol="0" anchor="ctr"/>
            <a:lstStyle/>
            <a:p>
              <a:pPr marL="0" lvl="0" indent="0" algn="ctr">
                <a:lnSpc>
                  <a:spcPts val="2268"/>
                </a:lnSpc>
              </a:pPr>
              <a:r>
                <a:rPr lang="en-US" sz="1620" b="1">
                  <a:solidFill>
                    <a:srgbClr val="FFFFFF"/>
                  </a:solidFill>
                  <a:latin typeface="Montaser Arabic Bold"/>
                  <a:ea typeface="Montaser Arabic Bold"/>
                  <a:cs typeface="Montaser Arabic Bold"/>
                  <a:sym typeface="Montaser Arabic Bold"/>
                </a:rPr>
                <a:t>NEXT SLIDE</a:t>
              </a:r>
            </a:p>
          </p:txBody>
        </p:sp>
      </p:grpSp>
      <p:grpSp>
        <p:nvGrpSpPr>
          <p:cNvPr id="30" name="Group 30"/>
          <p:cNvGrpSpPr/>
          <p:nvPr/>
        </p:nvGrpSpPr>
        <p:grpSpPr>
          <a:xfrm>
            <a:off x="16115510" y="3182866"/>
            <a:ext cx="1513917" cy="1513917"/>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32" name="TextBox 32"/>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33" name="Group 33"/>
          <p:cNvGrpSpPr/>
          <p:nvPr/>
        </p:nvGrpSpPr>
        <p:grpSpPr>
          <a:xfrm>
            <a:off x="16443851" y="3535019"/>
            <a:ext cx="857235" cy="809611"/>
            <a:chOff x="0" y="0"/>
            <a:chExt cx="685800" cy="647700"/>
          </a:xfrm>
        </p:grpSpPr>
        <p:sp>
          <p:nvSpPr>
            <p:cNvPr id="34" name="Freeform 34"/>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35" name="TextBox 35"/>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DBF8A-D4BE-9BC0-104D-5426197C6C9F}"/>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824BC619-3BB1-D07A-E639-43EFA953A821}"/>
              </a:ext>
            </a:extLst>
          </p:cNvPr>
          <p:cNvSpPr/>
          <p:nvPr/>
        </p:nvSpPr>
        <p:spPr>
          <a:xfrm>
            <a:off x="-427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AutoShape 4">
            <a:extLst>
              <a:ext uri="{FF2B5EF4-FFF2-40B4-BE49-F238E27FC236}">
                <a16:creationId xmlns:a16="http://schemas.microsoft.com/office/drawing/2014/main" id="{BF251A2B-9A95-03D4-F658-3803BBD21976}"/>
              </a:ext>
            </a:extLst>
          </p:cNvPr>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5" name="Freeform 5">
            <a:extLst>
              <a:ext uri="{FF2B5EF4-FFF2-40B4-BE49-F238E27FC236}">
                <a16:creationId xmlns:a16="http://schemas.microsoft.com/office/drawing/2014/main" id="{7F8E28CA-65B4-6EE5-5992-4734C6C39DD3}"/>
              </a:ext>
            </a:extLst>
          </p:cNvPr>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6" name="Group 6">
            <a:extLst>
              <a:ext uri="{FF2B5EF4-FFF2-40B4-BE49-F238E27FC236}">
                <a16:creationId xmlns:a16="http://schemas.microsoft.com/office/drawing/2014/main" id="{EF6B0CE9-3F74-F3AF-65DD-C71E335052E1}"/>
              </a:ext>
            </a:extLst>
          </p:cNvPr>
          <p:cNvGrpSpPr/>
          <p:nvPr/>
        </p:nvGrpSpPr>
        <p:grpSpPr>
          <a:xfrm>
            <a:off x="1085850" y="665030"/>
            <a:ext cx="92277" cy="524320"/>
            <a:chOff x="0" y="0"/>
            <a:chExt cx="24303" cy="138092"/>
          </a:xfrm>
        </p:grpSpPr>
        <p:sp>
          <p:nvSpPr>
            <p:cNvPr id="7" name="Freeform 7">
              <a:extLst>
                <a:ext uri="{FF2B5EF4-FFF2-40B4-BE49-F238E27FC236}">
                  <a16:creationId xmlns:a16="http://schemas.microsoft.com/office/drawing/2014/main" id="{00BE6F0C-DAFD-497B-0F70-84703AF53133}"/>
                </a:ext>
              </a:extLst>
            </p:cNvPr>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8" name="TextBox 8">
              <a:extLst>
                <a:ext uri="{FF2B5EF4-FFF2-40B4-BE49-F238E27FC236}">
                  <a16:creationId xmlns:a16="http://schemas.microsoft.com/office/drawing/2014/main" id="{3EA185B5-0C36-890B-5A7E-9601E667F78A}"/>
                </a:ext>
              </a:extLst>
            </p:cNvPr>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9" name="Group 9">
            <a:extLst>
              <a:ext uri="{FF2B5EF4-FFF2-40B4-BE49-F238E27FC236}">
                <a16:creationId xmlns:a16="http://schemas.microsoft.com/office/drawing/2014/main" id="{6022D42D-FE5D-32E9-26A1-62D8AC2354D8}"/>
              </a:ext>
            </a:extLst>
          </p:cNvPr>
          <p:cNvGrpSpPr/>
          <p:nvPr/>
        </p:nvGrpSpPr>
        <p:grpSpPr>
          <a:xfrm>
            <a:off x="10328121" y="1359977"/>
            <a:ext cx="1080278" cy="106932"/>
            <a:chOff x="0" y="0"/>
            <a:chExt cx="284518" cy="28163"/>
          </a:xfrm>
        </p:grpSpPr>
        <p:sp>
          <p:nvSpPr>
            <p:cNvPr id="10" name="Freeform 10">
              <a:extLst>
                <a:ext uri="{FF2B5EF4-FFF2-40B4-BE49-F238E27FC236}">
                  <a16:creationId xmlns:a16="http://schemas.microsoft.com/office/drawing/2014/main" id="{B759D505-BF88-487F-8D51-69B4253C4201}"/>
                </a:ext>
              </a:extLst>
            </p:cNvPr>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1" name="TextBox 11">
              <a:extLst>
                <a:ext uri="{FF2B5EF4-FFF2-40B4-BE49-F238E27FC236}">
                  <a16:creationId xmlns:a16="http://schemas.microsoft.com/office/drawing/2014/main" id="{7C7D39B0-0322-B495-CC0A-4D76194DB11A}"/>
                </a:ext>
              </a:extLst>
            </p:cNvPr>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a:extLst>
              <a:ext uri="{FF2B5EF4-FFF2-40B4-BE49-F238E27FC236}">
                <a16:creationId xmlns:a16="http://schemas.microsoft.com/office/drawing/2014/main" id="{32B49F27-4E08-3A4E-BDF1-617955A1B465}"/>
              </a:ext>
            </a:extLst>
          </p:cNvPr>
          <p:cNvGrpSpPr/>
          <p:nvPr/>
        </p:nvGrpSpPr>
        <p:grpSpPr>
          <a:xfrm>
            <a:off x="0" y="7831428"/>
            <a:ext cx="18232834" cy="1203348"/>
            <a:chOff x="0" y="0"/>
            <a:chExt cx="4977777" cy="328528"/>
          </a:xfrm>
        </p:grpSpPr>
        <p:sp>
          <p:nvSpPr>
            <p:cNvPr id="16" name="Freeform 16">
              <a:extLst>
                <a:ext uri="{FF2B5EF4-FFF2-40B4-BE49-F238E27FC236}">
                  <a16:creationId xmlns:a16="http://schemas.microsoft.com/office/drawing/2014/main" id="{79C7F140-2A43-1F58-B519-216FD87EB905}"/>
                </a:ext>
              </a:extLst>
            </p:cNvPr>
            <p:cNvSpPr/>
            <p:nvPr/>
          </p:nvSpPr>
          <p:spPr>
            <a:xfrm>
              <a:off x="0" y="0"/>
              <a:ext cx="4977777" cy="328528"/>
            </a:xfrm>
            <a:custGeom>
              <a:avLst/>
              <a:gdLst/>
              <a:ahLst/>
              <a:cxnLst/>
              <a:rect l="l" t="t" r="r" b="b"/>
              <a:pathLst>
                <a:path w="4977777" h="328528">
                  <a:moveTo>
                    <a:pt x="21655" y="0"/>
                  </a:moveTo>
                  <a:lnTo>
                    <a:pt x="4956122" y="0"/>
                  </a:lnTo>
                  <a:cubicBezTo>
                    <a:pt x="4968081" y="0"/>
                    <a:pt x="4977777" y="9695"/>
                    <a:pt x="4977777" y="21655"/>
                  </a:cubicBezTo>
                  <a:lnTo>
                    <a:pt x="4977777" y="306873"/>
                  </a:lnTo>
                  <a:cubicBezTo>
                    <a:pt x="4977777" y="312616"/>
                    <a:pt x="4975495" y="318124"/>
                    <a:pt x="4971434" y="322185"/>
                  </a:cubicBezTo>
                  <a:cubicBezTo>
                    <a:pt x="4967373" y="326247"/>
                    <a:pt x="4961865" y="328528"/>
                    <a:pt x="4956122" y="328528"/>
                  </a:cubicBezTo>
                  <a:lnTo>
                    <a:pt x="21655" y="328528"/>
                  </a:lnTo>
                  <a:cubicBezTo>
                    <a:pt x="9695" y="328528"/>
                    <a:pt x="0" y="318833"/>
                    <a:pt x="0" y="306873"/>
                  </a:cubicBezTo>
                  <a:lnTo>
                    <a:pt x="0" y="21655"/>
                  </a:lnTo>
                  <a:cubicBezTo>
                    <a:pt x="0" y="15912"/>
                    <a:pt x="2282" y="10404"/>
                    <a:pt x="6343" y="6343"/>
                  </a:cubicBezTo>
                  <a:cubicBezTo>
                    <a:pt x="10404" y="2282"/>
                    <a:pt x="15912" y="0"/>
                    <a:pt x="21655" y="0"/>
                  </a:cubicBezTo>
                  <a:close/>
                </a:path>
              </a:pathLst>
            </a:custGeom>
            <a:solidFill>
              <a:srgbClr val="283396"/>
            </a:solidFill>
            <a:ln w="19050" cap="rnd">
              <a:solidFill>
                <a:srgbClr val="283396"/>
              </a:solidFill>
              <a:prstDash val="solid"/>
              <a:round/>
            </a:ln>
          </p:spPr>
        </p:sp>
        <p:sp>
          <p:nvSpPr>
            <p:cNvPr id="17" name="TextBox 17">
              <a:extLst>
                <a:ext uri="{FF2B5EF4-FFF2-40B4-BE49-F238E27FC236}">
                  <a16:creationId xmlns:a16="http://schemas.microsoft.com/office/drawing/2014/main" id="{4DE8D920-86D4-B740-C31B-A54F6073F3A5}"/>
                </a:ext>
              </a:extLst>
            </p:cNvPr>
            <p:cNvSpPr txBox="1"/>
            <p:nvPr/>
          </p:nvSpPr>
          <p:spPr>
            <a:xfrm>
              <a:off x="0" y="-38100"/>
              <a:ext cx="4977777" cy="366628"/>
            </a:xfrm>
            <a:prstGeom prst="rect">
              <a:avLst/>
            </a:prstGeom>
          </p:spPr>
          <p:txBody>
            <a:bodyPr lIns="50800" tIns="50800" rIns="50800" bIns="50800" rtlCol="0" anchor="ctr"/>
            <a:lstStyle/>
            <a:p>
              <a:pPr marL="0" lvl="0" indent="0" algn="ctr">
                <a:lnSpc>
                  <a:spcPts val="2659"/>
                </a:lnSpc>
              </a:pPr>
              <a:endParaRPr/>
            </a:p>
          </p:txBody>
        </p:sp>
      </p:grpSp>
      <p:sp>
        <p:nvSpPr>
          <p:cNvPr id="19" name="TextBox 19">
            <a:extLst>
              <a:ext uri="{FF2B5EF4-FFF2-40B4-BE49-F238E27FC236}">
                <a16:creationId xmlns:a16="http://schemas.microsoft.com/office/drawing/2014/main" id="{D161F601-8980-DE97-3670-77F49CD62DFC}"/>
              </a:ext>
            </a:extLst>
          </p:cNvPr>
          <p:cNvSpPr txBox="1"/>
          <p:nvPr/>
        </p:nvSpPr>
        <p:spPr>
          <a:xfrm>
            <a:off x="1350057" y="703130"/>
            <a:ext cx="2657415" cy="407218"/>
          </a:xfrm>
          <a:prstGeom prst="rect">
            <a:avLst/>
          </a:prstGeom>
        </p:spPr>
        <p:txBody>
          <a:bodyPr lIns="0" tIns="0" rIns="0" bIns="0" rtlCol="0" anchor="t">
            <a:spAutoFit/>
          </a:bodyPr>
          <a:lstStyle/>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PYTHON</a:t>
            </a:r>
          </a:p>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PROGRAMMING</a:t>
            </a:r>
          </a:p>
        </p:txBody>
      </p:sp>
      <p:sp>
        <p:nvSpPr>
          <p:cNvPr id="20" name="TextBox 20">
            <a:extLst>
              <a:ext uri="{FF2B5EF4-FFF2-40B4-BE49-F238E27FC236}">
                <a16:creationId xmlns:a16="http://schemas.microsoft.com/office/drawing/2014/main" id="{F26AF0C3-754D-675C-A17D-77760A9CCBD7}"/>
              </a:ext>
            </a:extLst>
          </p:cNvPr>
          <p:cNvSpPr txBox="1"/>
          <p:nvPr/>
        </p:nvSpPr>
        <p:spPr>
          <a:xfrm>
            <a:off x="5337971" y="774825"/>
            <a:ext cx="1755559"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HOME</a:t>
            </a:r>
          </a:p>
        </p:txBody>
      </p:sp>
      <p:sp>
        <p:nvSpPr>
          <p:cNvPr id="21" name="TextBox 21">
            <a:extLst>
              <a:ext uri="{FF2B5EF4-FFF2-40B4-BE49-F238E27FC236}">
                <a16:creationId xmlns:a16="http://schemas.microsoft.com/office/drawing/2014/main" id="{96F21830-46FC-8E88-FCB0-985FFC8B9C60}"/>
              </a:ext>
            </a:extLst>
          </p:cNvPr>
          <p:cNvSpPr txBox="1"/>
          <p:nvPr/>
        </p:nvSpPr>
        <p:spPr>
          <a:xfrm>
            <a:off x="7463217" y="774825"/>
            <a:ext cx="2013772"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ABOUT</a:t>
            </a:r>
          </a:p>
        </p:txBody>
      </p:sp>
      <p:sp>
        <p:nvSpPr>
          <p:cNvPr id="22" name="TextBox 22">
            <a:extLst>
              <a:ext uri="{FF2B5EF4-FFF2-40B4-BE49-F238E27FC236}">
                <a16:creationId xmlns:a16="http://schemas.microsoft.com/office/drawing/2014/main" id="{39AA35D2-514C-D826-E390-1974F4890737}"/>
              </a:ext>
            </a:extLst>
          </p:cNvPr>
          <p:cNvSpPr txBox="1"/>
          <p:nvPr/>
        </p:nvSpPr>
        <p:spPr>
          <a:xfrm>
            <a:off x="9856201" y="774825"/>
            <a:ext cx="2024119" cy="273172"/>
          </a:xfrm>
          <a:prstGeom prst="rect">
            <a:avLst/>
          </a:prstGeom>
        </p:spPr>
        <p:txBody>
          <a:bodyPr lIns="0" tIns="0" rIns="0" bIns="0" rtlCol="0" anchor="t">
            <a:spAutoFit/>
          </a:bodyPr>
          <a:lstStyle/>
          <a:p>
            <a:pPr marL="0" lvl="0" indent="0" algn="ctr">
              <a:lnSpc>
                <a:spcPts val="2268"/>
              </a:lnSpc>
              <a:spcBef>
                <a:spcPct val="0"/>
              </a:spcBef>
            </a:pPr>
            <a:r>
              <a:rPr lang="en-US" sz="1620" b="1">
                <a:solidFill>
                  <a:srgbClr val="283396"/>
                </a:solidFill>
                <a:latin typeface="Montaser Arabic Bold"/>
                <a:ea typeface="Montaser Arabic Bold"/>
                <a:cs typeface="Montaser Arabic Bold"/>
                <a:sym typeface="Montaser Arabic Bold"/>
              </a:rPr>
              <a:t>CONTENT</a:t>
            </a:r>
          </a:p>
        </p:txBody>
      </p:sp>
      <p:sp>
        <p:nvSpPr>
          <p:cNvPr id="23" name="TextBox 23">
            <a:extLst>
              <a:ext uri="{FF2B5EF4-FFF2-40B4-BE49-F238E27FC236}">
                <a16:creationId xmlns:a16="http://schemas.microsoft.com/office/drawing/2014/main" id="{B1C161E3-BDDF-659C-2EC7-53AE7E7E221A}"/>
              </a:ext>
            </a:extLst>
          </p:cNvPr>
          <p:cNvSpPr txBox="1"/>
          <p:nvPr/>
        </p:nvSpPr>
        <p:spPr>
          <a:xfrm>
            <a:off x="12101593" y="774825"/>
            <a:ext cx="2349448"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OTHERS</a:t>
            </a:r>
          </a:p>
        </p:txBody>
      </p:sp>
      <p:sp>
        <p:nvSpPr>
          <p:cNvPr id="24" name="TextBox 24">
            <a:extLst>
              <a:ext uri="{FF2B5EF4-FFF2-40B4-BE49-F238E27FC236}">
                <a16:creationId xmlns:a16="http://schemas.microsoft.com/office/drawing/2014/main" id="{BB91C753-0F4F-3D8B-A970-BC038A05C557}"/>
              </a:ext>
            </a:extLst>
          </p:cNvPr>
          <p:cNvSpPr txBox="1"/>
          <p:nvPr/>
        </p:nvSpPr>
        <p:spPr>
          <a:xfrm>
            <a:off x="1070596" y="1156493"/>
            <a:ext cx="8698813" cy="2303387"/>
          </a:xfrm>
          <a:prstGeom prst="rect">
            <a:avLst/>
          </a:prstGeom>
        </p:spPr>
        <p:txBody>
          <a:bodyPr wrap="square" lIns="0" tIns="0" rIns="0" bIns="0" rtlCol="0" anchor="t">
            <a:spAutoFit/>
          </a:bodyPr>
          <a:lstStyle/>
          <a:p>
            <a:pPr marL="0" lvl="0" indent="0">
              <a:lnSpc>
                <a:spcPts val="9628"/>
              </a:lnSpc>
            </a:pPr>
            <a:r>
              <a:rPr lang="en-US" sz="4400" b="1" dirty="0">
                <a:solidFill>
                  <a:srgbClr val="283396"/>
                </a:solidFill>
                <a:latin typeface="+mj-lt"/>
                <a:ea typeface="Agrandir Grand Bold"/>
                <a:cs typeface="Agrandir Grand Bold"/>
                <a:sym typeface="Agrandir Grand Bold"/>
              </a:rPr>
              <a:t>Compiler vs Interpreter</a:t>
            </a:r>
          </a:p>
          <a:p>
            <a:pPr marL="0" lvl="0" indent="0">
              <a:lnSpc>
                <a:spcPts val="9628"/>
              </a:lnSpc>
            </a:pPr>
            <a:endParaRPr lang="en-US" sz="4400" b="1" dirty="0">
              <a:solidFill>
                <a:srgbClr val="283396"/>
              </a:solidFill>
              <a:latin typeface="+mj-lt"/>
              <a:ea typeface="Agrandir Grand Bold"/>
              <a:cs typeface="Agrandir Grand Bold"/>
              <a:sym typeface="Agrandir Grand Bold"/>
            </a:endParaRPr>
          </a:p>
        </p:txBody>
      </p:sp>
      <p:sp>
        <p:nvSpPr>
          <p:cNvPr id="25" name="TextBox 25">
            <a:extLst>
              <a:ext uri="{FF2B5EF4-FFF2-40B4-BE49-F238E27FC236}">
                <a16:creationId xmlns:a16="http://schemas.microsoft.com/office/drawing/2014/main" id="{C6943043-0BB9-F125-BB37-D9BBDBAC0CD2}"/>
              </a:ext>
            </a:extLst>
          </p:cNvPr>
          <p:cNvSpPr txBox="1"/>
          <p:nvPr/>
        </p:nvSpPr>
        <p:spPr>
          <a:xfrm>
            <a:off x="1068191" y="2266840"/>
            <a:ext cx="15161352" cy="4093428"/>
          </a:xfrm>
          <a:prstGeom prst="rect">
            <a:avLst/>
          </a:prstGeom>
        </p:spPr>
        <p:txBody>
          <a:bodyPr wrap="square" lIns="0" tIns="0" rIns="0" bIns="0" rtlCol="0" anchor="t">
            <a:spAutoFit/>
          </a:bodyPr>
          <a:lstStyle/>
          <a:p>
            <a:endParaRPr lang="en-US" sz="3600" b="1" dirty="0">
              <a:solidFill>
                <a:srgbClr val="283396"/>
              </a:solidFill>
              <a:latin typeface="+mj-lt"/>
            </a:endParaRPr>
          </a:p>
          <a:p>
            <a:r>
              <a:rPr lang="en-US" sz="3600" b="1" dirty="0">
                <a:solidFill>
                  <a:srgbClr val="283396"/>
                </a:solidFill>
                <a:latin typeface="+mj-lt"/>
              </a:rPr>
              <a:t>01. Compiler</a:t>
            </a:r>
          </a:p>
          <a:p>
            <a:r>
              <a:rPr lang="en-US" sz="2800" b="1" dirty="0">
                <a:solidFill>
                  <a:srgbClr val="283396"/>
                </a:solidFill>
                <a:latin typeface="+mj-lt"/>
              </a:rPr>
              <a:t>Translates entire source code to machine code before execution. Creates standalone executable files. </a:t>
            </a:r>
          </a:p>
          <a:p>
            <a:r>
              <a:rPr lang="en-US" sz="2800" b="1" dirty="0">
                <a:solidFill>
                  <a:srgbClr val="283396"/>
                </a:solidFill>
                <a:latin typeface="+mj-lt"/>
              </a:rPr>
              <a:t>Example: C language. Faster runtime but requires full compilation step.</a:t>
            </a:r>
          </a:p>
          <a:p>
            <a:endParaRPr lang="en-US" dirty="0"/>
          </a:p>
          <a:p>
            <a:r>
              <a:rPr lang="en-US" sz="3600" b="1" dirty="0">
                <a:solidFill>
                  <a:srgbClr val="283396"/>
                </a:solidFill>
                <a:latin typeface="+mj-lt"/>
              </a:rPr>
              <a:t>02. Interpreter</a:t>
            </a:r>
          </a:p>
          <a:p>
            <a:r>
              <a:rPr lang="en-US" sz="2800" b="1" dirty="0">
                <a:solidFill>
                  <a:srgbClr val="283396"/>
                </a:solidFill>
                <a:latin typeface="+mj-lt"/>
              </a:rPr>
              <a:t>Executes code line-by-line at runtime. No separate compilation step needed. Python’s primary method. </a:t>
            </a:r>
          </a:p>
          <a:p>
            <a:r>
              <a:rPr lang="en-US" sz="2800" b="1" dirty="0">
                <a:solidFill>
                  <a:srgbClr val="283396"/>
                </a:solidFill>
                <a:latin typeface="+mj-lt"/>
              </a:rPr>
              <a:t>Note: Python compiles to bytecode internally despite being interpreted.</a:t>
            </a:r>
          </a:p>
        </p:txBody>
      </p:sp>
      <p:grpSp>
        <p:nvGrpSpPr>
          <p:cNvPr id="27" name="Group 27">
            <a:extLst>
              <a:ext uri="{FF2B5EF4-FFF2-40B4-BE49-F238E27FC236}">
                <a16:creationId xmlns:a16="http://schemas.microsoft.com/office/drawing/2014/main" id="{D685E133-3A6F-6510-E944-BB643AF38624}"/>
              </a:ext>
            </a:extLst>
          </p:cNvPr>
          <p:cNvGrpSpPr/>
          <p:nvPr/>
        </p:nvGrpSpPr>
        <p:grpSpPr>
          <a:xfrm>
            <a:off x="1131988" y="6872292"/>
            <a:ext cx="2119546" cy="627805"/>
            <a:chOff x="0" y="0"/>
            <a:chExt cx="558234" cy="165348"/>
          </a:xfrm>
        </p:grpSpPr>
        <p:sp>
          <p:nvSpPr>
            <p:cNvPr id="28" name="Freeform 28">
              <a:extLst>
                <a:ext uri="{FF2B5EF4-FFF2-40B4-BE49-F238E27FC236}">
                  <a16:creationId xmlns:a16="http://schemas.microsoft.com/office/drawing/2014/main" id="{35602230-F6A0-D9A7-FE0C-A0E950B5DAB6}"/>
                </a:ext>
              </a:extLst>
            </p:cNvPr>
            <p:cNvSpPr/>
            <p:nvPr/>
          </p:nvSpPr>
          <p:spPr>
            <a:xfrm>
              <a:off x="0" y="0"/>
              <a:ext cx="558234" cy="165348"/>
            </a:xfrm>
            <a:custGeom>
              <a:avLst/>
              <a:gdLst/>
              <a:ahLst/>
              <a:cxnLst/>
              <a:rect l="l" t="t" r="r" b="b"/>
              <a:pathLst>
                <a:path w="558234" h="165348">
                  <a:moveTo>
                    <a:pt x="82674" y="0"/>
                  </a:moveTo>
                  <a:lnTo>
                    <a:pt x="475560" y="0"/>
                  </a:lnTo>
                  <a:cubicBezTo>
                    <a:pt x="521220" y="0"/>
                    <a:pt x="558234" y="37014"/>
                    <a:pt x="558234" y="82674"/>
                  </a:cubicBezTo>
                  <a:lnTo>
                    <a:pt x="558234" y="82674"/>
                  </a:lnTo>
                  <a:cubicBezTo>
                    <a:pt x="558234" y="104600"/>
                    <a:pt x="549524" y="125629"/>
                    <a:pt x="534020" y="141133"/>
                  </a:cubicBezTo>
                  <a:cubicBezTo>
                    <a:pt x="518515" y="156638"/>
                    <a:pt x="497487" y="165348"/>
                    <a:pt x="475560" y="165348"/>
                  </a:cubicBezTo>
                  <a:lnTo>
                    <a:pt x="82674" y="165348"/>
                  </a:lnTo>
                  <a:cubicBezTo>
                    <a:pt x="37014" y="165348"/>
                    <a:pt x="0" y="128334"/>
                    <a:pt x="0" y="82674"/>
                  </a:cubicBezTo>
                  <a:lnTo>
                    <a:pt x="0" y="82674"/>
                  </a:lnTo>
                  <a:cubicBezTo>
                    <a:pt x="0" y="37014"/>
                    <a:pt x="37014" y="0"/>
                    <a:pt x="82674" y="0"/>
                  </a:cubicBezTo>
                  <a:close/>
                </a:path>
              </a:pathLst>
            </a:custGeom>
            <a:solidFill>
              <a:srgbClr val="D43838"/>
            </a:solidFill>
            <a:ln cap="rnd">
              <a:noFill/>
              <a:prstDash val="solid"/>
              <a:round/>
            </a:ln>
          </p:spPr>
        </p:sp>
        <p:sp>
          <p:nvSpPr>
            <p:cNvPr id="29" name="TextBox 29">
              <a:extLst>
                <a:ext uri="{FF2B5EF4-FFF2-40B4-BE49-F238E27FC236}">
                  <a16:creationId xmlns:a16="http://schemas.microsoft.com/office/drawing/2014/main" id="{871D15CD-8B7E-94A8-6C77-90D86982E71D}"/>
                </a:ext>
              </a:extLst>
            </p:cNvPr>
            <p:cNvSpPr txBox="1"/>
            <p:nvPr/>
          </p:nvSpPr>
          <p:spPr>
            <a:xfrm>
              <a:off x="0" y="-28575"/>
              <a:ext cx="558234" cy="193923"/>
            </a:xfrm>
            <a:prstGeom prst="rect">
              <a:avLst/>
            </a:prstGeom>
          </p:spPr>
          <p:txBody>
            <a:bodyPr lIns="50800" tIns="50800" rIns="50800" bIns="50800" rtlCol="0" anchor="ctr"/>
            <a:lstStyle/>
            <a:p>
              <a:pPr marL="0" lvl="0" indent="0" algn="ctr">
                <a:lnSpc>
                  <a:spcPts val="2268"/>
                </a:lnSpc>
              </a:pPr>
              <a:r>
                <a:rPr lang="en-US" sz="1620" b="1">
                  <a:solidFill>
                    <a:srgbClr val="FFFFFF"/>
                  </a:solidFill>
                  <a:latin typeface="Montaser Arabic Bold"/>
                  <a:ea typeface="Montaser Arabic Bold"/>
                  <a:cs typeface="Montaser Arabic Bold"/>
                  <a:sym typeface="Montaser Arabic Bold"/>
                </a:rPr>
                <a:t>NEXT SLIDE</a:t>
              </a:r>
            </a:p>
          </p:txBody>
        </p:sp>
      </p:grpSp>
      <p:grpSp>
        <p:nvGrpSpPr>
          <p:cNvPr id="30" name="Group 30">
            <a:extLst>
              <a:ext uri="{FF2B5EF4-FFF2-40B4-BE49-F238E27FC236}">
                <a16:creationId xmlns:a16="http://schemas.microsoft.com/office/drawing/2014/main" id="{C6F4D708-51F4-71CA-7F00-003CE035E45B}"/>
              </a:ext>
            </a:extLst>
          </p:cNvPr>
          <p:cNvGrpSpPr/>
          <p:nvPr/>
        </p:nvGrpSpPr>
        <p:grpSpPr>
          <a:xfrm>
            <a:off x="16115510" y="3182866"/>
            <a:ext cx="1513917" cy="1513917"/>
            <a:chOff x="0" y="0"/>
            <a:chExt cx="812800" cy="812800"/>
          </a:xfrm>
        </p:grpSpPr>
        <p:sp>
          <p:nvSpPr>
            <p:cNvPr id="31" name="Freeform 31">
              <a:extLst>
                <a:ext uri="{FF2B5EF4-FFF2-40B4-BE49-F238E27FC236}">
                  <a16:creationId xmlns:a16="http://schemas.microsoft.com/office/drawing/2014/main" id="{AD95D410-669D-9C1F-329B-5FA4068FC91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32" name="TextBox 32">
              <a:extLst>
                <a:ext uri="{FF2B5EF4-FFF2-40B4-BE49-F238E27FC236}">
                  <a16:creationId xmlns:a16="http://schemas.microsoft.com/office/drawing/2014/main" id="{20FD992F-E3D0-410B-8553-DA08A2AD8F3D}"/>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33" name="Group 33">
            <a:extLst>
              <a:ext uri="{FF2B5EF4-FFF2-40B4-BE49-F238E27FC236}">
                <a16:creationId xmlns:a16="http://schemas.microsoft.com/office/drawing/2014/main" id="{EE77DA53-3925-1902-0F72-0951A26FC568}"/>
              </a:ext>
            </a:extLst>
          </p:cNvPr>
          <p:cNvGrpSpPr/>
          <p:nvPr/>
        </p:nvGrpSpPr>
        <p:grpSpPr>
          <a:xfrm>
            <a:off x="16443851" y="3535019"/>
            <a:ext cx="857235" cy="809611"/>
            <a:chOff x="0" y="0"/>
            <a:chExt cx="685800" cy="647700"/>
          </a:xfrm>
        </p:grpSpPr>
        <p:sp>
          <p:nvSpPr>
            <p:cNvPr id="34" name="Freeform 34">
              <a:extLst>
                <a:ext uri="{FF2B5EF4-FFF2-40B4-BE49-F238E27FC236}">
                  <a16:creationId xmlns:a16="http://schemas.microsoft.com/office/drawing/2014/main" id="{9E7D4712-83FD-F4D2-EE7F-9351B7419179}"/>
                </a:ext>
              </a:extLst>
            </p:cNvPr>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35" name="TextBox 35">
              <a:extLst>
                <a:ext uri="{FF2B5EF4-FFF2-40B4-BE49-F238E27FC236}">
                  <a16:creationId xmlns:a16="http://schemas.microsoft.com/office/drawing/2014/main" id="{3FF32A8A-806C-5DBA-EADD-106F23456F29}"/>
                </a:ext>
              </a:extLst>
            </p:cNvPr>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sp>
        <p:nvSpPr>
          <p:cNvPr id="37" name="TextBox 36">
            <a:extLst>
              <a:ext uri="{FF2B5EF4-FFF2-40B4-BE49-F238E27FC236}">
                <a16:creationId xmlns:a16="http://schemas.microsoft.com/office/drawing/2014/main" id="{B1265DB7-7E3F-975A-B9F2-4125340EEA17}"/>
              </a:ext>
            </a:extLst>
          </p:cNvPr>
          <p:cNvSpPr txBox="1"/>
          <p:nvPr/>
        </p:nvSpPr>
        <p:spPr>
          <a:xfrm>
            <a:off x="9226517" y="1670396"/>
            <a:ext cx="7075405" cy="5909310"/>
          </a:xfrm>
          <a:prstGeom prst="rect">
            <a:avLst/>
          </a:prstGeom>
          <a:noFill/>
        </p:spPr>
        <p:txBody>
          <a:bodyPr wrap="square">
            <a:spAutoFit/>
          </a:bodyPr>
          <a:lstStyle/>
          <a:p>
            <a:endParaRPr lang="en-US" dirty="0"/>
          </a:p>
        </p:txBody>
      </p:sp>
    </p:spTree>
    <p:extLst>
      <p:ext uri="{BB962C8B-B14F-4D97-AF65-F5344CB8AC3E}">
        <p14:creationId xmlns:p14="http://schemas.microsoft.com/office/powerpoint/2010/main" val="206996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42B1C-A9F4-8247-AB1E-80C299151637}"/>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95D1FA20-CAB8-C103-B64E-47C3FAC5C6CA}"/>
              </a:ext>
            </a:extLst>
          </p:cNvPr>
          <p:cNvSpPr/>
          <p:nvPr/>
        </p:nvSpPr>
        <p:spPr>
          <a:xfrm>
            <a:off x="-427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AutoShape 4">
            <a:extLst>
              <a:ext uri="{FF2B5EF4-FFF2-40B4-BE49-F238E27FC236}">
                <a16:creationId xmlns:a16="http://schemas.microsoft.com/office/drawing/2014/main" id="{B74DD5F1-31A0-669D-154B-454BE978EB65}"/>
              </a:ext>
            </a:extLst>
          </p:cNvPr>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5" name="Freeform 5">
            <a:extLst>
              <a:ext uri="{FF2B5EF4-FFF2-40B4-BE49-F238E27FC236}">
                <a16:creationId xmlns:a16="http://schemas.microsoft.com/office/drawing/2014/main" id="{F66F9C89-0B3A-679C-822C-AF8ED1F81D93}"/>
              </a:ext>
            </a:extLst>
          </p:cNvPr>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6" name="Group 6">
            <a:extLst>
              <a:ext uri="{FF2B5EF4-FFF2-40B4-BE49-F238E27FC236}">
                <a16:creationId xmlns:a16="http://schemas.microsoft.com/office/drawing/2014/main" id="{286C963E-6429-A784-B496-CAEC98EA6DF0}"/>
              </a:ext>
            </a:extLst>
          </p:cNvPr>
          <p:cNvGrpSpPr/>
          <p:nvPr/>
        </p:nvGrpSpPr>
        <p:grpSpPr>
          <a:xfrm>
            <a:off x="1085850" y="665030"/>
            <a:ext cx="92277" cy="524320"/>
            <a:chOff x="0" y="0"/>
            <a:chExt cx="24303" cy="138092"/>
          </a:xfrm>
        </p:grpSpPr>
        <p:sp>
          <p:nvSpPr>
            <p:cNvPr id="7" name="Freeform 7">
              <a:extLst>
                <a:ext uri="{FF2B5EF4-FFF2-40B4-BE49-F238E27FC236}">
                  <a16:creationId xmlns:a16="http://schemas.microsoft.com/office/drawing/2014/main" id="{C5EA6045-5122-52F9-E846-FB75B2C6DA9B}"/>
                </a:ext>
              </a:extLst>
            </p:cNvPr>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8" name="TextBox 8">
              <a:extLst>
                <a:ext uri="{FF2B5EF4-FFF2-40B4-BE49-F238E27FC236}">
                  <a16:creationId xmlns:a16="http://schemas.microsoft.com/office/drawing/2014/main" id="{6C624D57-C625-2B89-190E-794DE6B2F1FC}"/>
                </a:ext>
              </a:extLst>
            </p:cNvPr>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9" name="Group 9">
            <a:extLst>
              <a:ext uri="{FF2B5EF4-FFF2-40B4-BE49-F238E27FC236}">
                <a16:creationId xmlns:a16="http://schemas.microsoft.com/office/drawing/2014/main" id="{3A4C4547-A97B-32CD-36C7-7CA132749000}"/>
              </a:ext>
            </a:extLst>
          </p:cNvPr>
          <p:cNvGrpSpPr/>
          <p:nvPr/>
        </p:nvGrpSpPr>
        <p:grpSpPr>
          <a:xfrm>
            <a:off x="10328121" y="1359977"/>
            <a:ext cx="1080278" cy="106932"/>
            <a:chOff x="0" y="0"/>
            <a:chExt cx="284518" cy="28163"/>
          </a:xfrm>
        </p:grpSpPr>
        <p:sp>
          <p:nvSpPr>
            <p:cNvPr id="10" name="Freeform 10">
              <a:extLst>
                <a:ext uri="{FF2B5EF4-FFF2-40B4-BE49-F238E27FC236}">
                  <a16:creationId xmlns:a16="http://schemas.microsoft.com/office/drawing/2014/main" id="{83747E40-07FF-2E48-C596-5589AE7FAE34}"/>
                </a:ext>
              </a:extLst>
            </p:cNvPr>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1" name="TextBox 11">
              <a:extLst>
                <a:ext uri="{FF2B5EF4-FFF2-40B4-BE49-F238E27FC236}">
                  <a16:creationId xmlns:a16="http://schemas.microsoft.com/office/drawing/2014/main" id="{C0A767A0-04DE-6D27-A9EA-0B428F0AB676}"/>
                </a:ext>
              </a:extLst>
            </p:cNvPr>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a:extLst>
              <a:ext uri="{FF2B5EF4-FFF2-40B4-BE49-F238E27FC236}">
                <a16:creationId xmlns:a16="http://schemas.microsoft.com/office/drawing/2014/main" id="{6B76C218-CB4A-1027-A021-16B95056742D}"/>
              </a:ext>
            </a:extLst>
          </p:cNvPr>
          <p:cNvGrpSpPr/>
          <p:nvPr/>
        </p:nvGrpSpPr>
        <p:grpSpPr>
          <a:xfrm>
            <a:off x="0" y="8017413"/>
            <a:ext cx="18232834" cy="1203348"/>
            <a:chOff x="0" y="0"/>
            <a:chExt cx="4977777" cy="328528"/>
          </a:xfrm>
        </p:grpSpPr>
        <p:sp>
          <p:nvSpPr>
            <p:cNvPr id="16" name="Freeform 16">
              <a:extLst>
                <a:ext uri="{FF2B5EF4-FFF2-40B4-BE49-F238E27FC236}">
                  <a16:creationId xmlns:a16="http://schemas.microsoft.com/office/drawing/2014/main" id="{39EC3DA4-A76E-1210-3B95-4B468815FE8D}"/>
                </a:ext>
              </a:extLst>
            </p:cNvPr>
            <p:cNvSpPr/>
            <p:nvPr/>
          </p:nvSpPr>
          <p:spPr>
            <a:xfrm>
              <a:off x="0" y="0"/>
              <a:ext cx="4977777" cy="328528"/>
            </a:xfrm>
            <a:custGeom>
              <a:avLst/>
              <a:gdLst/>
              <a:ahLst/>
              <a:cxnLst/>
              <a:rect l="l" t="t" r="r" b="b"/>
              <a:pathLst>
                <a:path w="4977777" h="328528">
                  <a:moveTo>
                    <a:pt x="21655" y="0"/>
                  </a:moveTo>
                  <a:lnTo>
                    <a:pt x="4956122" y="0"/>
                  </a:lnTo>
                  <a:cubicBezTo>
                    <a:pt x="4968081" y="0"/>
                    <a:pt x="4977777" y="9695"/>
                    <a:pt x="4977777" y="21655"/>
                  </a:cubicBezTo>
                  <a:lnTo>
                    <a:pt x="4977777" y="306873"/>
                  </a:lnTo>
                  <a:cubicBezTo>
                    <a:pt x="4977777" y="312616"/>
                    <a:pt x="4975495" y="318124"/>
                    <a:pt x="4971434" y="322185"/>
                  </a:cubicBezTo>
                  <a:cubicBezTo>
                    <a:pt x="4967373" y="326247"/>
                    <a:pt x="4961865" y="328528"/>
                    <a:pt x="4956122" y="328528"/>
                  </a:cubicBezTo>
                  <a:lnTo>
                    <a:pt x="21655" y="328528"/>
                  </a:lnTo>
                  <a:cubicBezTo>
                    <a:pt x="9695" y="328528"/>
                    <a:pt x="0" y="318833"/>
                    <a:pt x="0" y="306873"/>
                  </a:cubicBezTo>
                  <a:lnTo>
                    <a:pt x="0" y="21655"/>
                  </a:lnTo>
                  <a:cubicBezTo>
                    <a:pt x="0" y="15912"/>
                    <a:pt x="2282" y="10404"/>
                    <a:pt x="6343" y="6343"/>
                  </a:cubicBezTo>
                  <a:cubicBezTo>
                    <a:pt x="10404" y="2282"/>
                    <a:pt x="15912" y="0"/>
                    <a:pt x="21655" y="0"/>
                  </a:cubicBezTo>
                  <a:close/>
                </a:path>
              </a:pathLst>
            </a:custGeom>
            <a:solidFill>
              <a:srgbClr val="283396"/>
            </a:solidFill>
            <a:ln w="19050" cap="rnd">
              <a:solidFill>
                <a:srgbClr val="283396"/>
              </a:solidFill>
              <a:prstDash val="solid"/>
              <a:round/>
            </a:ln>
          </p:spPr>
        </p:sp>
        <p:sp>
          <p:nvSpPr>
            <p:cNvPr id="17" name="TextBox 17">
              <a:extLst>
                <a:ext uri="{FF2B5EF4-FFF2-40B4-BE49-F238E27FC236}">
                  <a16:creationId xmlns:a16="http://schemas.microsoft.com/office/drawing/2014/main" id="{4118D666-F24A-0660-7903-D36F1F84F435}"/>
                </a:ext>
              </a:extLst>
            </p:cNvPr>
            <p:cNvSpPr txBox="1"/>
            <p:nvPr/>
          </p:nvSpPr>
          <p:spPr>
            <a:xfrm>
              <a:off x="0" y="-38100"/>
              <a:ext cx="4977777" cy="366628"/>
            </a:xfrm>
            <a:prstGeom prst="rect">
              <a:avLst/>
            </a:prstGeom>
          </p:spPr>
          <p:txBody>
            <a:bodyPr lIns="50800" tIns="50800" rIns="50800" bIns="50800" rtlCol="0" anchor="ctr"/>
            <a:lstStyle/>
            <a:p>
              <a:pPr marL="0" lvl="0" indent="0" algn="ctr">
                <a:lnSpc>
                  <a:spcPts val="2659"/>
                </a:lnSpc>
              </a:pPr>
              <a:endParaRPr/>
            </a:p>
          </p:txBody>
        </p:sp>
      </p:grpSp>
      <p:sp>
        <p:nvSpPr>
          <p:cNvPr id="19" name="TextBox 19">
            <a:extLst>
              <a:ext uri="{FF2B5EF4-FFF2-40B4-BE49-F238E27FC236}">
                <a16:creationId xmlns:a16="http://schemas.microsoft.com/office/drawing/2014/main" id="{2FECB110-5640-4928-79FD-6155F8A3BAC5}"/>
              </a:ext>
            </a:extLst>
          </p:cNvPr>
          <p:cNvSpPr txBox="1"/>
          <p:nvPr/>
        </p:nvSpPr>
        <p:spPr>
          <a:xfrm>
            <a:off x="1350057" y="703130"/>
            <a:ext cx="2657415" cy="407218"/>
          </a:xfrm>
          <a:prstGeom prst="rect">
            <a:avLst/>
          </a:prstGeom>
        </p:spPr>
        <p:txBody>
          <a:bodyPr lIns="0" tIns="0" rIns="0" bIns="0" rtlCol="0" anchor="t">
            <a:spAutoFit/>
          </a:bodyPr>
          <a:lstStyle/>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PYTHON</a:t>
            </a:r>
          </a:p>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PROGRAMMING</a:t>
            </a:r>
          </a:p>
        </p:txBody>
      </p:sp>
      <p:sp>
        <p:nvSpPr>
          <p:cNvPr id="20" name="TextBox 20">
            <a:extLst>
              <a:ext uri="{FF2B5EF4-FFF2-40B4-BE49-F238E27FC236}">
                <a16:creationId xmlns:a16="http://schemas.microsoft.com/office/drawing/2014/main" id="{DE45BF3B-E75D-7555-B583-3BC8C7A504A3}"/>
              </a:ext>
            </a:extLst>
          </p:cNvPr>
          <p:cNvSpPr txBox="1"/>
          <p:nvPr/>
        </p:nvSpPr>
        <p:spPr>
          <a:xfrm>
            <a:off x="5337971" y="774825"/>
            <a:ext cx="1755559"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HOME</a:t>
            </a:r>
          </a:p>
        </p:txBody>
      </p:sp>
      <p:sp>
        <p:nvSpPr>
          <p:cNvPr id="21" name="TextBox 21">
            <a:extLst>
              <a:ext uri="{FF2B5EF4-FFF2-40B4-BE49-F238E27FC236}">
                <a16:creationId xmlns:a16="http://schemas.microsoft.com/office/drawing/2014/main" id="{8D6DD1C5-5615-3BAB-A1D2-7D8B46275C72}"/>
              </a:ext>
            </a:extLst>
          </p:cNvPr>
          <p:cNvSpPr txBox="1"/>
          <p:nvPr/>
        </p:nvSpPr>
        <p:spPr>
          <a:xfrm>
            <a:off x="7463217" y="774825"/>
            <a:ext cx="2013772"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ABOUT</a:t>
            </a:r>
          </a:p>
        </p:txBody>
      </p:sp>
      <p:sp>
        <p:nvSpPr>
          <p:cNvPr id="22" name="TextBox 22">
            <a:extLst>
              <a:ext uri="{FF2B5EF4-FFF2-40B4-BE49-F238E27FC236}">
                <a16:creationId xmlns:a16="http://schemas.microsoft.com/office/drawing/2014/main" id="{90FB2CCB-BD1A-0C3D-2383-6B14A45D0059}"/>
              </a:ext>
            </a:extLst>
          </p:cNvPr>
          <p:cNvSpPr txBox="1"/>
          <p:nvPr/>
        </p:nvSpPr>
        <p:spPr>
          <a:xfrm>
            <a:off x="9856201" y="774825"/>
            <a:ext cx="2024119" cy="273172"/>
          </a:xfrm>
          <a:prstGeom prst="rect">
            <a:avLst/>
          </a:prstGeom>
        </p:spPr>
        <p:txBody>
          <a:bodyPr lIns="0" tIns="0" rIns="0" bIns="0" rtlCol="0" anchor="t">
            <a:spAutoFit/>
          </a:bodyPr>
          <a:lstStyle/>
          <a:p>
            <a:pPr marL="0" lvl="0" indent="0" algn="ctr">
              <a:lnSpc>
                <a:spcPts val="2268"/>
              </a:lnSpc>
              <a:spcBef>
                <a:spcPct val="0"/>
              </a:spcBef>
            </a:pPr>
            <a:r>
              <a:rPr lang="en-US" sz="1620" b="1">
                <a:solidFill>
                  <a:srgbClr val="283396"/>
                </a:solidFill>
                <a:latin typeface="Montaser Arabic Bold"/>
                <a:ea typeface="Montaser Arabic Bold"/>
                <a:cs typeface="Montaser Arabic Bold"/>
                <a:sym typeface="Montaser Arabic Bold"/>
              </a:rPr>
              <a:t>CONTENT</a:t>
            </a:r>
          </a:p>
        </p:txBody>
      </p:sp>
      <p:sp>
        <p:nvSpPr>
          <p:cNvPr id="23" name="TextBox 23">
            <a:extLst>
              <a:ext uri="{FF2B5EF4-FFF2-40B4-BE49-F238E27FC236}">
                <a16:creationId xmlns:a16="http://schemas.microsoft.com/office/drawing/2014/main" id="{8D1464BC-D12F-3A44-CE32-104AC11AA25F}"/>
              </a:ext>
            </a:extLst>
          </p:cNvPr>
          <p:cNvSpPr txBox="1"/>
          <p:nvPr/>
        </p:nvSpPr>
        <p:spPr>
          <a:xfrm>
            <a:off x="12101593" y="774825"/>
            <a:ext cx="2349448"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OTHERS</a:t>
            </a:r>
          </a:p>
        </p:txBody>
      </p:sp>
      <p:sp>
        <p:nvSpPr>
          <p:cNvPr id="24" name="TextBox 24">
            <a:extLst>
              <a:ext uri="{FF2B5EF4-FFF2-40B4-BE49-F238E27FC236}">
                <a16:creationId xmlns:a16="http://schemas.microsoft.com/office/drawing/2014/main" id="{E82D5455-A75D-7342-DCB2-119DA9B15871}"/>
              </a:ext>
            </a:extLst>
          </p:cNvPr>
          <p:cNvSpPr txBox="1"/>
          <p:nvPr/>
        </p:nvSpPr>
        <p:spPr>
          <a:xfrm>
            <a:off x="1070596" y="1156493"/>
            <a:ext cx="8698813" cy="1072281"/>
          </a:xfrm>
          <a:prstGeom prst="rect">
            <a:avLst/>
          </a:prstGeom>
        </p:spPr>
        <p:txBody>
          <a:bodyPr wrap="square" lIns="0" tIns="0" rIns="0" bIns="0" rtlCol="0" anchor="t">
            <a:spAutoFit/>
          </a:bodyPr>
          <a:lstStyle/>
          <a:p>
            <a:pPr marL="0" lvl="0" indent="0">
              <a:lnSpc>
                <a:spcPts val="9628"/>
              </a:lnSpc>
            </a:pPr>
            <a:r>
              <a:rPr lang="en-US" sz="4400" b="1" dirty="0">
                <a:solidFill>
                  <a:srgbClr val="283396"/>
                </a:solidFill>
                <a:latin typeface="+mj-lt"/>
                <a:ea typeface="Agrandir Grand Bold"/>
                <a:cs typeface="Agrandir Grand Bold"/>
                <a:sym typeface="Agrandir Grand Bold"/>
              </a:rPr>
              <a:t>Virtual Machines (VMS) Explained</a:t>
            </a:r>
          </a:p>
        </p:txBody>
      </p:sp>
      <p:grpSp>
        <p:nvGrpSpPr>
          <p:cNvPr id="27" name="Group 27">
            <a:extLst>
              <a:ext uri="{FF2B5EF4-FFF2-40B4-BE49-F238E27FC236}">
                <a16:creationId xmlns:a16="http://schemas.microsoft.com/office/drawing/2014/main" id="{E0015CFB-A9B4-4063-E7BC-F09773795DB9}"/>
              </a:ext>
            </a:extLst>
          </p:cNvPr>
          <p:cNvGrpSpPr/>
          <p:nvPr/>
        </p:nvGrpSpPr>
        <p:grpSpPr>
          <a:xfrm>
            <a:off x="1131988" y="6872292"/>
            <a:ext cx="2119546" cy="627805"/>
            <a:chOff x="0" y="0"/>
            <a:chExt cx="558234" cy="165348"/>
          </a:xfrm>
        </p:grpSpPr>
        <p:sp>
          <p:nvSpPr>
            <p:cNvPr id="28" name="Freeform 28">
              <a:extLst>
                <a:ext uri="{FF2B5EF4-FFF2-40B4-BE49-F238E27FC236}">
                  <a16:creationId xmlns:a16="http://schemas.microsoft.com/office/drawing/2014/main" id="{650313D0-51A0-6690-389F-05D3BF119C58}"/>
                </a:ext>
              </a:extLst>
            </p:cNvPr>
            <p:cNvSpPr/>
            <p:nvPr/>
          </p:nvSpPr>
          <p:spPr>
            <a:xfrm>
              <a:off x="0" y="0"/>
              <a:ext cx="558234" cy="165348"/>
            </a:xfrm>
            <a:custGeom>
              <a:avLst/>
              <a:gdLst/>
              <a:ahLst/>
              <a:cxnLst/>
              <a:rect l="l" t="t" r="r" b="b"/>
              <a:pathLst>
                <a:path w="558234" h="165348">
                  <a:moveTo>
                    <a:pt x="82674" y="0"/>
                  </a:moveTo>
                  <a:lnTo>
                    <a:pt x="475560" y="0"/>
                  </a:lnTo>
                  <a:cubicBezTo>
                    <a:pt x="521220" y="0"/>
                    <a:pt x="558234" y="37014"/>
                    <a:pt x="558234" y="82674"/>
                  </a:cubicBezTo>
                  <a:lnTo>
                    <a:pt x="558234" y="82674"/>
                  </a:lnTo>
                  <a:cubicBezTo>
                    <a:pt x="558234" y="104600"/>
                    <a:pt x="549524" y="125629"/>
                    <a:pt x="534020" y="141133"/>
                  </a:cubicBezTo>
                  <a:cubicBezTo>
                    <a:pt x="518515" y="156638"/>
                    <a:pt x="497487" y="165348"/>
                    <a:pt x="475560" y="165348"/>
                  </a:cubicBezTo>
                  <a:lnTo>
                    <a:pt x="82674" y="165348"/>
                  </a:lnTo>
                  <a:cubicBezTo>
                    <a:pt x="37014" y="165348"/>
                    <a:pt x="0" y="128334"/>
                    <a:pt x="0" y="82674"/>
                  </a:cubicBezTo>
                  <a:lnTo>
                    <a:pt x="0" y="82674"/>
                  </a:lnTo>
                  <a:cubicBezTo>
                    <a:pt x="0" y="37014"/>
                    <a:pt x="37014" y="0"/>
                    <a:pt x="82674" y="0"/>
                  </a:cubicBezTo>
                  <a:close/>
                </a:path>
              </a:pathLst>
            </a:custGeom>
            <a:solidFill>
              <a:srgbClr val="D43838"/>
            </a:solidFill>
            <a:ln cap="rnd">
              <a:noFill/>
              <a:prstDash val="solid"/>
              <a:round/>
            </a:ln>
          </p:spPr>
        </p:sp>
        <p:sp>
          <p:nvSpPr>
            <p:cNvPr id="29" name="TextBox 29">
              <a:extLst>
                <a:ext uri="{FF2B5EF4-FFF2-40B4-BE49-F238E27FC236}">
                  <a16:creationId xmlns:a16="http://schemas.microsoft.com/office/drawing/2014/main" id="{B338B69A-A749-530E-BEB4-943EABA93FD1}"/>
                </a:ext>
              </a:extLst>
            </p:cNvPr>
            <p:cNvSpPr txBox="1"/>
            <p:nvPr/>
          </p:nvSpPr>
          <p:spPr>
            <a:xfrm>
              <a:off x="0" y="-28575"/>
              <a:ext cx="558234" cy="193923"/>
            </a:xfrm>
            <a:prstGeom prst="rect">
              <a:avLst/>
            </a:prstGeom>
          </p:spPr>
          <p:txBody>
            <a:bodyPr lIns="50800" tIns="50800" rIns="50800" bIns="50800" rtlCol="0" anchor="ctr"/>
            <a:lstStyle/>
            <a:p>
              <a:pPr marL="0" lvl="0" indent="0" algn="ctr">
                <a:lnSpc>
                  <a:spcPts val="2268"/>
                </a:lnSpc>
              </a:pPr>
              <a:r>
                <a:rPr lang="en-US" sz="1620" b="1">
                  <a:solidFill>
                    <a:srgbClr val="FFFFFF"/>
                  </a:solidFill>
                  <a:latin typeface="Montaser Arabic Bold"/>
                  <a:ea typeface="Montaser Arabic Bold"/>
                  <a:cs typeface="Montaser Arabic Bold"/>
                  <a:sym typeface="Montaser Arabic Bold"/>
                </a:rPr>
                <a:t>NEXT SLIDE</a:t>
              </a:r>
            </a:p>
          </p:txBody>
        </p:sp>
      </p:grpSp>
      <p:grpSp>
        <p:nvGrpSpPr>
          <p:cNvPr id="30" name="Group 30">
            <a:extLst>
              <a:ext uri="{FF2B5EF4-FFF2-40B4-BE49-F238E27FC236}">
                <a16:creationId xmlns:a16="http://schemas.microsoft.com/office/drawing/2014/main" id="{95860887-ECA5-15C8-CE97-FE07A29F66FC}"/>
              </a:ext>
            </a:extLst>
          </p:cNvPr>
          <p:cNvGrpSpPr/>
          <p:nvPr/>
        </p:nvGrpSpPr>
        <p:grpSpPr>
          <a:xfrm>
            <a:off x="16115510" y="3182866"/>
            <a:ext cx="1513917" cy="1513917"/>
            <a:chOff x="0" y="0"/>
            <a:chExt cx="812800" cy="812800"/>
          </a:xfrm>
        </p:grpSpPr>
        <p:sp>
          <p:nvSpPr>
            <p:cNvPr id="31" name="Freeform 31">
              <a:extLst>
                <a:ext uri="{FF2B5EF4-FFF2-40B4-BE49-F238E27FC236}">
                  <a16:creationId xmlns:a16="http://schemas.microsoft.com/office/drawing/2014/main" id="{9250E7B4-DBEC-3B52-CF43-737EEC58065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32" name="TextBox 32">
              <a:extLst>
                <a:ext uri="{FF2B5EF4-FFF2-40B4-BE49-F238E27FC236}">
                  <a16:creationId xmlns:a16="http://schemas.microsoft.com/office/drawing/2014/main" id="{3A3C3F9A-E80E-D5F5-7670-2FD51D9DEF74}"/>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33" name="Group 33">
            <a:extLst>
              <a:ext uri="{FF2B5EF4-FFF2-40B4-BE49-F238E27FC236}">
                <a16:creationId xmlns:a16="http://schemas.microsoft.com/office/drawing/2014/main" id="{1EED388F-B880-2E1D-09F3-C1BF053DD0E8}"/>
              </a:ext>
            </a:extLst>
          </p:cNvPr>
          <p:cNvGrpSpPr/>
          <p:nvPr/>
        </p:nvGrpSpPr>
        <p:grpSpPr>
          <a:xfrm>
            <a:off x="16443851" y="3535019"/>
            <a:ext cx="857235" cy="809611"/>
            <a:chOff x="0" y="0"/>
            <a:chExt cx="685800" cy="647700"/>
          </a:xfrm>
        </p:grpSpPr>
        <p:sp>
          <p:nvSpPr>
            <p:cNvPr id="34" name="Freeform 34">
              <a:extLst>
                <a:ext uri="{FF2B5EF4-FFF2-40B4-BE49-F238E27FC236}">
                  <a16:creationId xmlns:a16="http://schemas.microsoft.com/office/drawing/2014/main" id="{08CFA69E-9CE9-9B48-C950-38DCC8F453FC}"/>
                </a:ext>
              </a:extLst>
            </p:cNvPr>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35" name="TextBox 35">
              <a:extLst>
                <a:ext uri="{FF2B5EF4-FFF2-40B4-BE49-F238E27FC236}">
                  <a16:creationId xmlns:a16="http://schemas.microsoft.com/office/drawing/2014/main" id="{CB50381E-2C44-E15B-8C88-F7FAC022ED43}"/>
                </a:ext>
              </a:extLst>
            </p:cNvPr>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sp>
        <p:nvSpPr>
          <p:cNvPr id="12" name="TextBox 11">
            <a:extLst>
              <a:ext uri="{FF2B5EF4-FFF2-40B4-BE49-F238E27FC236}">
                <a16:creationId xmlns:a16="http://schemas.microsoft.com/office/drawing/2014/main" id="{EE97FCC2-5ECE-5AE1-9B43-BD6C44A700A8}"/>
              </a:ext>
            </a:extLst>
          </p:cNvPr>
          <p:cNvSpPr txBox="1"/>
          <p:nvPr/>
        </p:nvSpPr>
        <p:spPr>
          <a:xfrm>
            <a:off x="1070596" y="2523793"/>
            <a:ext cx="12950204" cy="3173760"/>
          </a:xfrm>
          <a:prstGeom prst="rect">
            <a:avLst/>
          </a:prstGeom>
          <a:noFill/>
        </p:spPr>
        <p:txBody>
          <a:bodyPr wrap="square">
            <a:spAutoFit/>
          </a:bodyPr>
          <a:lstStyle/>
          <a:p>
            <a:pPr>
              <a:buNone/>
            </a:pPr>
            <a:r>
              <a:rPr lang="en-US" sz="2800" b="1" dirty="0">
                <a:solidFill>
                  <a:srgbClr val="283396"/>
                </a:solidFill>
              </a:rPr>
              <a:t>A Virtual Machine (VM) is a software abstraction that emulates physical computer hardware. It creates a complete computing environment that behaves like a real machine, allowing programs to run as if they were on dedicated hardware.</a:t>
            </a:r>
          </a:p>
          <a:p>
            <a:pPr>
              <a:buNone/>
            </a:pPr>
            <a:endParaRPr lang="en-US" sz="2800" b="1" dirty="0">
              <a:solidFill>
                <a:srgbClr val="283396"/>
              </a:solidFill>
            </a:endParaRPr>
          </a:p>
          <a:p>
            <a:pPr>
              <a:buNone/>
            </a:pPr>
            <a:r>
              <a:rPr lang="en-US" sz="2800" b="1" dirty="0">
                <a:solidFill>
                  <a:srgbClr val="283396"/>
                </a:solidFill>
              </a:rPr>
              <a:t>VMS enable remarkable code portability across different operating systems and hardware platforms. The same code can run on Windows, macOS, or Linux without modification. Examples include Java’s JVM and cloud computing instances.</a:t>
            </a:r>
          </a:p>
        </p:txBody>
      </p:sp>
    </p:spTree>
    <p:extLst>
      <p:ext uri="{BB962C8B-B14F-4D97-AF65-F5344CB8AC3E}">
        <p14:creationId xmlns:p14="http://schemas.microsoft.com/office/powerpoint/2010/main" val="1404483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42B1C-A9F4-8247-AB1E-80C299151637}"/>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95D1FA20-CAB8-C103-B64E-47C3FAC5C6CA}"/>
              </a:ext>
            </a:extLst>
          </p:cNvPr>
          <p:cNvSpPr/>
          <p:nvPr/>
        </p:nvSpPr>
        <p:spPr>
          <a:xfrm>
            <a:off x="-427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AutoShape 4">
            <a:extLst>
              <a:ext uri="{FF2B5EF4-FFF2-40B4-BE49-F238E27FC236}">
                <a16:creationId xmlns:a16="http://schemas.microsoft.com/office/drawing/2014/main" id="{B74DD5F1-31A0-669D-154B-454BE978EB65}"/>
              </a:ext>
            </a:extLst>
          </p:cNvPr>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5" name="Freeform 5">
            <a:extLst>
              <a:ext uri="{FF2B5EF4-FFF2-40B4-BE49-F238E27FC236}">
                <a16:creationId xmlns:a16="http://schemas.microsoft.com/office/drawing/2014/main" id="{F66F9C89-0B3A-679C-822C-AF8ED1F81D93}"/>
              </a:ext>
            </a:extLst>
          </p:cNvPr>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6" name="Group 6">
            <a:extLst>
              <a:ext uri="{FF2B5EF4-FFF2-40B4-BE49-F238E27FC236}">
                <a16:creationId xmlns:a16="http://schemas.microsoft.com/office/drawing/2014/main" id="{286C963E-6429-A784-B496-CAEC98EA6DF0}"/>
              </a:ext>
            </a:extLst>
          </p:cNvPr>
          <p:cNvGrpSpPr/>
          <p:nvPr/>
        </p:nvGrpSpPr>
        <p:grpSpPr>
          <a:xfrm>
            <a:off x="1085850" y="665030"/>
            <a:ext cx="92277" cy="524320"/>
            <a:chOff x="0" y="0"/>
            <a:chExt cx="24303" cy="138092"/>
          </a:xfrm>
        </p:grpSpPr>
        <p:sp>
          <p:nvSpPr>
            <p:cNvPr id="7" name="Freeform 7">
              <a:extLst>
                <a:ext uri="{FF2B5EF4-FFF2-40B4-BE49-F238E27FC236}">
                  <a16:creationId xmlns:a16="http://schemas.microsoft.com/office/drawing/2014/main" id="{C5EA6045-5122-52F9-E846-FB75B2C6DA9B}"/>
                </a:ext>
              </a:extLst>
            </p:cNvPr>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8" name="TextBox 8">
              <a:extLst>
                <a:ext uri="{FF2B5EF4-FFF2-40B4-BE49-F238E27FC236}">
                  <a16:creationId xmlns:a16="http://schemas.microsoft.com/office/drawing/2014/main" id="{6C624D57-C625-2B89-190E-794DE6B2F1FC}"/>
                </a:ext>
              </a:extLst>
            </p:cNvPr>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9" name="Group 9">
            <a:extLst>
              <a:ext uri="{FF2B5EF4-FFF2-40B4-BE49-F238E27FC236}">
                <a16:creationId xmlns:a16="http://schemas.microsoft.com/office/drawing/2014/main" id="{3A4C4547-A97B-32CD-36C7-7CA132749000}"/>
              </a:ext>
            </a:extLst>
          </p:cNvPr>
          <p:cNvGrpSpPr/>
          <p:nvPr/>
        </p:nvGrpSpPr>
        <p:grpSpPr>
          <a:xfrm>
            <a:off x="10328121" y="1359977"/>
            <a:ext cx="1080278" cy="106932"/>
            <a:chOff x="0" y="0"/>
            <a:chExt cx="284518" cy="28163"/>
          </a:xfrm>
        </p:grpSpPr>
        <p:sp>
          <p:nvSpPr>
            <p:cNvPr id="10" name="Freeform 10">
              <a:extLst>
                <a:ext uri="{FF2B5EF4-FFF2-40B4-BE49-F238E27FC236}">
                  <a16:creationId xmlns:a16="http://schemas.microsoft.com/office/drawing/2014/main" id="{83747E40-07FF-2E48-C596-5589AE7FAE34}"/>
                </a:ext>
              </a:extLst>
            </p:cNvPr>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1" name="TextBox 11">
              <a:extLst>
                <a:ext uri="{FF2B5EF4-FFF2-40B4-BE49-F238E27FC236}">
                  <a16:creationId xmlns:a16="http://schemas.microsoft.com/office/drawing/2014/main" id="{C0A767A0-04DE-6D27-A9EA-0B428F0AB676}"/>
                </a:ext>
              </a:extLst>
            </p:cNvPr>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a:extLst>
              <a:ext uri="{FF2B5EF4-FFF2-40B4-BE49-F238E27FC236}">
                <a16:creationId xmlns:a16="http://schemas.microsoft.com/office/drawing/2014/main" id="{6B76C218-CB4A-1027-A021-16B95056742D}"/>
              </a:ext>
            </a:extLst>
          </p:cNvPr>
          <p:cNvGrpSpPr/>
          <p:nvPr/>
        </p:nvGrpSpPr>
        <p:grpSpPr>
          <a:xfrm>
            <a:off x="0" y="8017413"/>
            <a:ext cx="18232834" cy="1203348"/>
            <a:chOff x="0" y="0"/>
            <a:chExt cx="4977777" cy="328528"/>
          </a:xfrm>
        </p:grpSpPr>
        <p:sp>
          <p:nvSpPr>
            <p:cNvPr id="16" name="Freeform 16">
              <a:extLst>
                <a:ext uri="{FF2B5EF4-FFF2-40B4-BE49-F238E27FC236}">
                  <a16:creationId xmlns:a16="http://schemas.microsoft.com/office/drawing/2014/main" id="{39EC3DA4-A76E-1210-3B95-4B468815FE8D}"/>
                </a:ext>
              </a:extLst>
            </p:cNvPr>
            <p:cNvSpPr/>
            <p:nvPr/>
          </p:nvSpPr>
          <p:spPr>
            <a:xfrm>
              <a:off x="0" y="0"/>
              <a:ext cx="4977777" cy="328528"/>
            </a:xfrm>
            <a:custGeom>
              <a:avLst/>
              <a:gdLst/>
              <a:ahLst/>
              <a:cxnLst/>
              <a:rect l="l" t="t" r="r" b="b"/>
              <a:pathLst>
                <a:path w="4977777" h="328528">
                  <a:moveTo>
                    <a:pt x="21655" y="0"/>
                  </a:moveTo>
                  <a:lnTo>
                    <a:pt x="4956122" y="0"/>
                  </a:lnTo>
                  <a:cubicBezTo>
                    <a:pt x="4968081" y="0"/>
                    <a:pt x="4977777" y="9695"/>
                    <a:pt x="4977777" y="21655"/>
                  </a:cubicBezTo>
                  <a:lnTo>
                    <a:pt x="4977777" y="306873"/>
                  </a:lnTo>
                  <a:cubicBezTo>
                    <a:pt x="4977777" y="312616"/>
                    <a:pt x="4975495" y="318124"/>
                    <a:pt x="4971434" y="322185"/>
                  </a:cubicBezTo>
                  <a:cubicBezTo>
                    <a:pt x="4967373" y="326247"/>
                    <a:pt x="4961865" y="328528"/>
                    <a:pt x="4956122" y="328528"/>
                  </a:cubicBezTo>
                  <a:lnTo>
                    <a:pt x="21655" y="328528"/>
                  </a:lnTo>
                  <a:cubicBezTo>
                    <a:pt x="9695" y="328528"/>
                    <a:pt x="0" y="318833"/>
                    <a:pt x="0" y="306873"/>
                  </a:cubicBezTo>
                  <a:lnTo>
                    <a:pt x="0" y="21655"/>
                  </a:lnTo>
                  <a:cubicBezTo>
                    <a:pt x="0" y="15912"/>
                    <a:pt x="2282" y="10404"/>
                    <a:pt x="6343" y="6343"/>
                  </a:cubicBezTo>
                  <a:cubicBezTo>
                    <a:pt x="10404" y="2282"/>
                    <a:pt x="15912" y="0"/>
                    <a:pt x="21655" y="0"/>
                  </a:cubicBezTo>
                  <a:close/>
                </a:path>
              </a:pathLst>
            </a:custGeom>
            <a:solidFill>
              <a:srgbClr val="283396"/>
            </a:solidFill>
            <a:ln w="19050" cap="rnd">
              <a:solidFill>
                <a:srgbClr val="283396"/>
              </a:solidFill>
              <a:prstDash val="solid"/>
              <a:round/>
            </a:ln>
          </p:spPr>
        </p:sp>
        <p:sp>
          <p:nvSpPr>
            <p:cNvPr id="17" name="TextBox 17">
              <a:extLst>
                <a:ext uri="{FF2B5EF4-FFF2-40B4-BE49-F238E27FC236}">
                  <a16:creationId xmlns:a16="http://schemas.microsoft.com/office/drawing/2014/main" id="{4118D666-F24A-0660-7903-D36F1F84F435}"/>
                </a:ext>
              </a:extLst>
            </p:cNvPr>
            <p:cNvSpPr txBox="1"/>
            <p:nvPr/>
          </p:nvSpPr>
          <p:spPr>
            <a:xfrm>
              <a:off x="0" y="-38100"/>
              <a:ext cx="4977777" cy="366628"/>
            </a:xfrm>
            <a:prstGeom prst="rect">
              <a:avLst/>
            </a:prstGeom>
          </p:spPr>
          <p:txBody>
            <a:bodyPr lIns="50800" tIns="50800" rIns="50800" bIns="50800" rtlCol="0" anchor="ctr"/>
            <a:lstStyle/>
            <a:p>
              <a:pPr marL="0" lvl="0" indent="0" algn="ctr">
                <a:lnSpc>
                  <a:spcPts val="2659"/>
                </a:lnSpc>
              </a:pPr>
              <a:endParaRPr/>
            </a:p>
          </p:txBody>
        </p:sp>
      </p:grpSp>
      <p:sp>
        <p:nvSpPr>
          <p:cNvPr id="19" name="TextBox 19">
            <a:extLst>
              <a:ext uri="{FF2B5EF4-FFF2-40B4-BE49-F238E27FC236}">
                <a16:creationId xmlns:a16="http://schemas.microsoft.com/office/drawing/2014/main" id="{2FECB110-5640-4928-79FD-6155F8A3BAC5}"/>
              </a:ext>
            </a:extLst>
          </p:cNvPr>
          <p:cNvSpPr txBox="1"/>
          <p:nvPr/>
        </p:nvSpPr>
        <p:spPr>
          <a:xfrm>
            <a:off x="1350057" y="703130"/>
            <a:ext cx="2657415" cy="407218"/>
          </a:xfrm>
          <a:prstGeom prst="rect">
            <a:avLst/>
          </a:prstGeom>
        </p:spPr>
        <p:txBody>
          <a:bodyPr lIns="0" tIns="0" rIns="0" bIns="0" rtlCol="0" anchor="t">
            <a:spAutoFit/>
          </a:bodyPr>
          <a:lstStyle/>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PYTHON</a:t>
            </a:r>
          </a:p>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PROGRAMMING</a:t>
            </a:r>
          </a:p>
        </p:txBody>
      </p:sp>
      <p:sp>
        <p:nvSpPr>
          <p:cNvPr id="20" name="TextBox 20">
            <a:extLst>
              <a:ext uri="{FF2B5EF4-FFF2-40B4-BE49-F238E27FC236}">
                <a16:creationId xmlns:a16="http://schemas.microsoft.com/office/drawing/2014/main" id="{DE45BF3B-E75D-7555-B583-3BC8C7A504A3}"/>
              </a:ext>
            </a:extLst>
          </p:cNvPr>
          <p:cNvSpPr txBox="1"/>
          <p:nvPr/>
        </p:nvSpPr>
        <p:spPr>
          <a:xfrm>
            <a:off x="5337971" y="774825"/>
            <a:ext cx="1755559"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HOME</a:t>
            </a:r>
          </a:p>
        </p:txBody>
      </p:sp>
      <p:sp>
        <p:nvSpPr>
          <p:cNvPr id="21" name="TextBox 21">
            <a:extLst>
              <a:ext uri="{FF2B5EF4-FFF2-40B4-BE49-F238E27FC236}">
                <a16:creationId xmlns:a16="http://schemas.microsoft.com/office/drawing/2014/main" id="{8D6DD1C5-5615-3BAB-A1D2-7D8B46275C72}"/>
              </a:ext>
            </a:extLst>
          </p:cNvPr>
          <p:cNvSpPr txBox="1"/>
          <p:nvPr/>
        </p:nvSpPr>
        <p:spPr>
          <a:xfrm>
            <a:off x="7463217" y="774825"/>
            <a:ext cx="2013772"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ABOUT</a:t>
            </a:r>
          </a:p>
        </p:txBody>
      </p:sp>
      <p:sp>
        <p:nvSpPr>
          <p:cNvPr id="22" name="TextBox 22">
            <a:extLst>
              <a:ext uri="{FF2B5EF4-FFF2-40B4-BE49-F238E27FC236}">
                <a16:creationId xmlns:a16="http://schemas.microsoft.com/office/drawing/2014/main" id="{90FB2CCB-BD1A-0C3D-2383-6B14A45D0059}"/>
              </a:ext>
            </a:extLst>
          </p:cNvPr>
          <p:cNvSpPr txBox="1"/>
          <p:nvPr/>
        </p:nvSpPr>
        <p:spPr>
          <a:xfrm>
            <a:off x="9856201" y="774825"/>
            <a:ext cx="2024119" cy="273172"/>
          </a:xfrm>
          <a:prstGeom prst="rect">
            <a:avLst/>
          </a:prstGeom>
        </p:spPr>
        <p:txBody>
          <a:bodyPr lIns="0" tIns="0" rIns="0" bIns="0" rtlCol="0" anchor="t">
            <a:spAutoFit/>
          </a:bodyPr>
          <a:lstStyle/>
          <a:p>
            <a:pPr marL="0" lvl="0" indent="0" algn="ctr">
              <a:lnSpc>
                <a:spcPts val="2268"/>
              </a:lnSpc>
              <a:spcBef>
                <a:spcPct val="0"/>
              </a:spcBef>
            </a:pPr>
            <a:r>
              <a:rPr lang="en-US" sz="1620" b="1">
                <a:solidFill>
                  <a:srgbClr val="283396"/>
                </a:solidFill>
                <a:latin typeface="Montaser Arabic Bold"/>
                <a:ea typeface="Montaser Arabic Bold"/>
                <a:cs typeface="Montaser Arabic Bold"/>
                <a:sym typeface="Montaser Arabic Bold"/>
              </a:rPr>
              <a:t>CONTENT</a:t>
            </a:r>
          </a:p>
        </p:txBody>
      </p:sp>
      <p:sp>
        <p:nvSpPr>
          <p:cNvPr id="23" name="TextBox 23">
            <a:extLst>
              <a:ext uri="{FF2B5EF4-FFF2-40B4-BE49-F238E27FC236}">
                <a16:creationId xmlns:a16="http://schemas.microsoft.com/office/drawing/2014/main" id="{8D1464BC-D12F-3A44-CE32-104AC11AA25F}"/>
              </a:ext>
            </a:extLst>
          </p:cNvPr>
          <p:cNvSpPr txBox="1"/>
          <p:nvPr/>
        </p:nvSpPr>
        <p:spPr>
          <a:xfrm>
            <a:off x="12101593" y="774825"/>
            <a:ext cx="2349448"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OTHERS</a:t>
            </a:r>
          </a:p>
        </p:txBody>
      </p:sp>
      <p:sp>
        <p:nvSpPr>
          <p:cNvPr id="24" name="TextBox 24">
            <a:extLst>
              <a:ext uri="{FF2B5EF4-FFF2-40B4-BE49-F238E27FC236}">
                <a16:creationId xmlns:a16="http://schemas.microsoft.com/office/drawing/2014/main" id="{E82D5455-A75D-7342-DCB2-119DA9B15871}"/>
              </a:ext>
            </a:extLst>
          </p:cNvPr>
          <p:cNvSpPr txBox="1"/>
          <p:nvPr/>
        </p:nvSpPr>
        <p:spPr>
          <a:xfrm>
            <a:off x="1070596" y="1156493"/>
            <a:ext cx="11030997" cy="1085810"/>
          </a:xfrm>
          <a:prstGeom prst="rect">
            <a:avLst/>
          </a:prstGeom>
        </p:spPr>
        <p:txBody>
          <a:bodyPr wrap="square" lIns="0" tIns="0" rIns="0" bIns="0" rtlCol="0" anchor="t">
            <a:spAutoFit/>
          </a:bodyPr>
          <a:lstStyle/>
          <a:p>
            <a:pPr marL="0" lvl="0" indent="0">
              <a:lnSpc>
                <a:spcPts val="9628"/>
              </a:lnSpc>
            </a:pPr>
            <a:r>
              <a:rPr lang="en-US" sz="4800" b="1" dirty="0">
                <a:solidFill>
                  <a:srgbClr val="283396"/>
                </a:solidFill>
                <a:latin typeface="+mj-lt"/>
                <a:ea typeface="Agrandir Grand Bold"/>
                <a:cs typeface="Agrandir Grand Bold"/>
                <a:sym typeface="Agrandir Grand Bold"/>
              </a:rPr>
              <a:t>The Python Virtual Machine (PVM)</a:t>
            </a:r>
          </a:p>
        </p:txBody>
      </p:sp>
      <p:grpSp>
        <p:nvGrpSpPr>
          <p:cNvPr id="27" name="Group 27">
            <a:extLst>
              <a:ext uri="{FF2B5EF4-FFF2-40B4-BE49-F238E27FC236}">
                <a16:creationId xmlns:a16="http://schemas.microsoft.com/office/drawing/2014/main" id="{E0015CFB-A9B4-4063-E7BC-F09773795DB9}"/>
              </a:ext>
            </a:extLst>
          </p:cNvPr>
          <p:cNvGrpSpPr/>
          <p:nvPr/>
        </p:nvGrpSpPr>
        <p:grpSpPr>
          <a:xfrm>
            <a:off x="1131988" y="6872292"/>
            <a:ext cx="2119546" cy="627805"/>
            <a:chOff x="0" y="0"/>
            <a:chExt cx="558234" cy="165348"/>
          </a:xfrm>
        </p:grpSpPr>
        <p:sp>
          <p:nvSpPr>
            <p:cNvPr id="28" name="Freeform 28">
              <a:extLst>
                <a:ext uri="{FF2B5EF4-FFF2-40B4-BE49-F238E27FC236}">
                  <a16:creationId xmlns:a16="http://schemas.microsoft.com/office/drawing/2014/main" id="{650313D0-51A0-6690-389F-05D3BF119C58}"/>
                </a:ext>
              </a:extLst>
            </p:cNvPr>
            <p:cNvSpPr/>
            <p:nvPr/>
          </p:nvSpPr>
          <p:spPr>
            <a:xfrm>
              <a:off x="0" y="0"/>
              <a:ext cx="558234" cy="165348"/>
            </a:xfrm>
            <a:custGeom>
              <a:avLst/>
              <a:gdLst/>
              <a:ahLst/>
              <a:cxnLst/>
              <a:rect l="l" t="t" r="r" b="b"/>
              <a:pathLst>
                <a:path w="558234" h="165348">
                  <a:moveTo>
                    <a:pt x="82674" y="0"/>
                  </a:moveTo>
                  <a:lnTo>
                    <a:pt x="475560" y="0"/>
                  </a:lnTo>
                  <a:cubicBezTo>
                    <a:pt x="521220" y="0"/>
                    <a:pt x="558234" y="37014"/>
                    <a:pt x="558234" y="82674"/>
                  </a:cubicBezTo>
                  <a:lnTo>
                    <a:pt x="558234" y="82674"/>
                  </a:lnTo>
                  <a:cubicBezTo>
                    <a:pt x="558234" y="104600"/>
                    <a:pt x="549524" y="125629"/>
                    <a:pt x="534020" y="141133"/>
                  </a:cubicBezTo>
                  <a:cubicBezTo>
                    <a:pt x="518515" y="156638"/>
                    <a:pt x="497487" y="165348"/>
                    <a:pt x="475560" y="165348"/>
                  </a:cubicBezTo>
                  <a:lnTo>
                    <a:pt x="82674" y="165348"/>
                  </a:lnTo>
                  <a:cubicBezTo>
                    <a:pt x="37014" y="165348"/>
                    <a:pt x="0" y="128334"/>
                    <a:pt x="0" y="82674"/>
                  </a:cubicBezTo>
                  <a:lnTo>
                    <a:pt x="0" y="82674"/>
                  </a:lnTo>
                  <a:cubicBezTo>
                    <a:pt x="0" y="37014"/>
                    <a:pt x="37014" y="0"/>
                    <a:pt x="82674" y="0"/>
                  </a:cubicBezTo>
                  <a:close/>
                </a:path>
              </a:pathLst>
            </a:custGeom>
            <a:solidFill>
              <a:srgbClr val="D43838"/>
            </a:solidFill>
            <a:ln cap="rnd">
              <a:noFill/>
              <a:prstDash val="solid"/>
              <a:round/>
            </a:ln>
          </p:spPr>
        </p:sp>
        <p:sp>
          <p:nvSpPr>
            <p:cNvPr id="29" name="TextBox 29">
              <a:extLst>
                <a:ext uri="{FF2B5EF4-FFF2-40B4-BE49-F238E27FC236}">
                  <a16:creationId xmlns:a16="http://schemas.microsoft.com/office/drawing/2014/main" id="{B338B69A-A749-530E-BEB4-943EABA93FD1}"/>
                </a:ext>
              </a:extLst>
            </p:cNvPr>
            <p:cNvSpPr txBox="1"/>
            <p:nvPr/>
          </p:nvSpPr>
          <p:spPr>
            <a:xfrm>
              <a:off x="0" y="-28575"/>
              <a:ext cx="558234" cy="193923"/>
            </a:xfrm>
            <a:prstGeom prst="rect">
              <a:avLst/>
            </a:prstGeom>
          </p:spPr>
          <p:txBody>
            <a:bodyPr lIns="50800" tIns="50800" rIns="50800" bIns="50800" rtlCol="0" anchor="ctr"/>
            <a:lstStyle/>
            <a:p>
              <a:pPr marL="0" lvl="0" indent="0" algn="ctr">
                <a:lnSpc>
                  <a:spcPts val="2268"/>
                </a:lnSpc>
              </a:pPr>
              <a:r>
                <a:rPr lang="en-US" sz="1620" b="1">
                  <a:solidFill>
                    <a:srgbClr val="FFFFFF"/>
                  </a:solidFill>
                  <a:latin typeface="Montaser Arabic Bold"/>
                  <a:ea typeface="Montaser Arabic Bold"/>
                  <a:cs typeface="Montaser Arabic Bold"/>
                  <a:sym typeface="Montaser Arabic Bold"/>
                </a:rPr>
                <a:t>NEXT SLIDE</a:t>
              </a:r>
            </a:p>
          </p:txBody>
        </p:sp>
      </p:grpSp>
      <p:grpSp>
        <p:nvGrpSpPr>
          <p:cNvPr id="30" name="Group 30">
            <a:extLst>
              <a:ext uri="{FF2B5EF4-FFF2-40B4-BE49-F238E27FC236}">
                <a16:creationId xmlns:a16="http://schemas.microsoft.com/office/drawing/2014/main" id="{95860887-ECA5-15C8-CE97-FE07A29F66FC}"/>
              </a:ext>
            </a:extLst>
          </p:cNvPr>
          <p:cNvGrpSpPr/>
          <p:nvPr/>
        </p:nvGrpSpPr>
        <p:grpSpPr>
          <a:xfrm>
            <a:off x="16115510" y="3182866"/>
            <a:ext cx="1513917" cy="1513917"/>
            <a:chOff x="0" y="0"/>
            <a:chExt cx="812800" cy="812800"/>
          </a:xfrm>
        </p:grpSpPr>
        <p:sp>
          <p:nvSpPr>
            <p:cNvPr id="31" name="Freeform 31">
              <a:extLst>
                <a:ext uri="{FF2B5EF4-FFF2-40B4-BE49-F238E27FC236}">
                  <a16:creationId xmlns:a16="http://schemas.microsoft.com/office/drawing/2014/main" id="{9250E7B4-DBEC-3B52-CF43-737EEC58065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32" name="TextBox 32">
              <a:extLst>
                <a:ext uri="{FF2B5EF4-FFF2-40B4-BE49-F238E27FC236}">
                  <a16:creationId xmlns:a16="http://schemas.microsoft.com/office/drawing/2014/main" id="{3A3C3F9A-E80E-D5F5-7670-2FD51D9DEF74}"/>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33" name="Group 33">
            <a:extLst>
              <a:ext uri="{FF2B5EF4-FFF2-40B4-BE49-F238E27FC236}">
                <a16:creationId xmlns:a16="http://schemas.microsoft.com/office/drawing/2014/main" id="{1EED388F-B880-2E1D-09F3-C1BF053DD0E8}"/>
              </a:ext>
            </a:extLst>
          </p:cNvPr>
          <p:cNvGrpSpPr/>
          <p:nvPr/>
        </p:nvGrpSpPr>
        <p:grpSpPr>
          <a:xfrm>
            <a:off x="16443851" y="3535019"/>
            <a:ext cx="857235" cy="809611"/>
            <a:chOff x="0" y="0"/>
            <a:chExt cx="685800" cy="647700"/>
          </a:xfrm>
        </p:grpSpPr>
        <p:sp>
          <p:nvSpPr>
            <p:cNvPr id="34" name="Freeform 34">
              <a:extLst>
                <a:ext uri="{FF2B5EF4-FFF2-40B4-BE49-F238E27FC236}">
                  <a16:creationId xmlns:a16="http://schemas.microsoft.com/office/drawing/2014/main" id="{08CFA69E-9CE9-9B48-C950-38DCC8F453FC}"/>
                </a:ext>
              </a:extLst>
            </p:cNvPr>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35" name="TextBox 35">
              <a:extLst>
                <a:ext uri="{FF2B5EF4-FFF2-40B4-BE49-F238E27FC236}">
                  <a16:creationId xmlns:a16="http://schemas.microsoft.com/office/drawing/2014/main" id="{CB50381E-2C44-E15B-8C88-F7FAC022ED43}"/>
                </a:ext>
              </a:extLst>
            </p:cNvPr>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sp>
        <p:nvSpPr>
          <p:cNvPr id="12" name="TextBox 11">
            <a:extLst>
              <a:ext uri="{FF2B5EF4-FFF2-40B4-BE49-F238E27FC236}">
                <a16:creationId xmlns:a16="http://schemas.microsoft.com/office/drawing/2014/main" id="{EE97FCC2-5ECE-5AE1-9B43-BD6C44A700A8}"/>
              </a:ext>
            </a:extLst>
          </p:cNvPr>
          <p:cNvSpPr txBox="1"/>
          <p:nvPr/>
        </p:nvSpPr>
        <p:spPr>
          <a:xfrm>
            <a:off x="1070596" y="2523791"/>
            <a:ext cx="14245604" cy="3108543"/>
          </a:xfrm>
          <a:prstGeom prst="rect">
            <a:avLst/>
          </a:prstGeom>
          <a:noFill/>
        </p:spPr>
        <p:txBody>
          <a:bodyPr wrap="square">
            <a:spAutoFit/>
          </a:bodyPr>
          <a:lstStyle/>
          <a:p>
            <a:pPr>
              <a:buNone/>
            </a:pPr>
            <a:r>
              <a:rPr lang="en-US" sz="2800" b="1" dirty="0">
                <a:solidFill>
                  <a:srgbClr val="283396"/>
                </a:solidFill>
              </a:rPr>
              <a:t>The PVM is Python’s runtime engine that executes compiled bytecode (.pyc files). When you run a Python program, your source code is first compiled into platform-independent bytecode, which is then loaded into the PVM for execution.</a:t>
            </a:r>
          </a:p>
          <a:p>
            <a:pPr>
              <a:buNone/>
            </a:pPr>
            <a:endParaRPr lang="en-US" sz="2800" b="1" dirty="0">
              <a:solidFill>
                <a:srgbClr val="283396"/>
              </a:solidFill>
            </a:endParaRPr>
          </a:p>
          <a:p>
            <a:pPr>
              <a:buNone/>
            </a:pPr>
            <a:r>
              <a:rPr lang="en-US" sz="2800" b="1" dirty="0">
                <a:solidFill>
                  <a:srgbClr val="283396"/>
                </a:solidFill>
              </a:rPr>
              <a:t>The PVM interprets and executes bytecode instructions line-by-line, acting as the core component that actually runs your Python programs. This abstraction layer enables Python code to run on any system with a compatible PVM installed.</a:t>
            </a:r>
          </a:p>
        </p:txBody>
      </p:sp>
    </p:spTree>
    <p:extLst>
      <p:ext uri="{BB962C8B-B14F-4D97-AF65-F5344CB8AC3E}">
        <p14:creationId xmlns:p14="http://schemas.microsoft.com/office/powerpoint/2010/main" val="1404483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42B1C-A9F4-8247-AB1E-80C299151637}"/>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95D1FA20-CAB8-C103-B64E-47C3FAC5C6CA}"/>
              </a:ext>
            </a:extLst>
          </p:cNvPr>
          <p:cNvSpPr/>
          <p:nvPr/>
        </p:nvSpPr>
        <p:spPr>
          <a:xfrm>
            <a:off x="-427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AutoShape 4">
            <a:extLst>
              <a:ext uri="{FF2B5EF4-FFF2-40B4-BE49-F238E27FC236}">
                <a16:creationId xmlns:a16="http://schemas.microsoft.com/office/drawing/2014/main" id="{B74DD5F1-31A0-669D-154B-454BE978EB65}"/>
              </a:ext>
            </a:extLst>
          </p:cNvPr>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5" name="Freeform 5">
            <a:extLst>
              <a:ext uri="{FF2B5EF4-FFF2-40B4-BE49-F238E27FC236}">
                <a16:creationId xmlns:a16="http://schemas.microsoft.com/office/drawing/2014/main" id="{F66F9C89-0B3A-679C-822C-AF8ED1F81D93}"/>
              </a:ext>
            </a:extLst>
          </p:cNvPr>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6" name="Group 6">
            <a:extLst>
              <a:ext uri="{FF2B5EF4-FFF2-40B4-BE49-F238E27FC236}">
                <a16:creationId xmlns:a16="http://schemas.microsoft.com/office/drawing/2014/main" id="{286C963E-6429-A784-B496-CAEC98EA6DF0}"/>
              </a:ext>
            </a:extLst>
          </p:cNvPr>
          <p:cNvGrpSpPr/>
          <p:nvPr/>
        </p:nvGrpSpPr>
        <p:grpSpPr>
          <a:xfrm>
            <a:off x="1085850" y="665030"/>
            <a:ext cx="92277" cy="524320"/>
            <a:chOff x="0" y="0"/>
            <a:chExt cx="24303" cy="138092"/>
          </a:xfrm>
        </p:grpSpPr>
        <p:sp>
          <p:nvSpPr>
            <p:cNvPr id="7" name="Freeform 7">
              <a:extLst>
                <a:ext uri="{FF2B5EF4-FFF2-40B4-BE49-F238E27FC236}">
                  <a16:creationId xmlns:a16="http://schemas.microsoft.com/office/drawing/2014/main" id="{C5EA6045-5122-52F9-E846-FB75B2C6DA9B}"/>
                </a:ext>
              </a:extLst>
            </p:cNvPr>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8" name="TextBox 8">
              <a:extLst>
                <a:ext uri="{FF2B5EF4-FFF2-40B4-BE49-F238E27FC236}">
                  <a16:creationId xmlns:a16="http://schemas.microsoft.com/office/drawing/2014/main" id="{6C624D57-C625-2B89-190E-794DE6B2F1FC}"/>
                </a:ext>
              </a:extLst>
            </p:cNvPr>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9" name="Group 9">
            <a:extLst>
              <a:ext uri="{FF2B5EF4-FFF2-40B4-BE49-F238E27FC236}">
                <a16:creationId xmlns:a16="http://schemas.microsoft.com/office/drawing/2014/main" id="{3A4C4547-A97B-32CD-36C7-7CA132749000}"/>
              </a:ext>
            </a:extLst>
          </p:cNvPr>
          <p:cNvGrpSpPr/>
          <p:nvPr/>
        </p:nvGrpSpPr>
        <p:grpSpPr>
          <a:xfrm>
            <a:off x="10328121" y="1359977"/>
            <a:ext cx="1080278" cy="106932"/>
            <a:chOff x="0" y="0"/>
            <a:chExt cx="284518" cy="28163"/>
          </a:xfrm>
        </p:grpSpPr>
        <p:sp>
          <p:nvSpPr>
            <p:cNvPr id="10" name="Freeform 10">
              <a:extLst>
                <a:ext uri="{FF2B5EF4-FFF2-40B4-BE49-F238E27FC236}">
                  <a16:creationId xmlns:a16="http://schemas.microsoft.com/office/drawing/2014/main" id="{83747E40-07FF-2E48-C596-5589AE7FAE34}"/>
                </a:ext>
              </a:extLst>
            </p:cNvPr>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1" name="TextBox 11">
              <a:extLst>
                <a:ext uri="{FF2B5EF4-FFF2-40B4-BE49-F238E27FC236}">
                  <a16:creationId xmlns:a16="http://schemas.microsoft.com/office/drawing/2014/main" id="{C0A767A0-04DE-6D27-A9EA-0B428F0AB676}"/>
                </a:ext>
              </a:extLst>
            </p:cNvPr>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a:extLst>
              <a:ext uri="{FF2B5EF4-FFF2-40B4-BE49-F238E27FC236}">
                <a16:creationId xmlns:a16="http://schemas.microsoft.com/office/drawing/2014/main" id="{6B76C218-CB4A-1027-A021-16B95056742D}"/>
              </a:ext>
            </a:extLst>
          </p:cNvPr>
          <p:cNvGrpSpPr/>
          <p:nvPr/>
        </p:nvGrpSpPr>
        <p:grpSpPr>
          <a:xfrm>
            <a:off x="0" y="8017413"/>
            <a:ext cx="18232834" cy="1203348"/>
            <a:chOff x="0" y="0"/>
            <a:chExt cx="4977777" cy="328528"/>
          </a:xfrm>
        </p:grpSpPr>
        <p:sp>
          <p:nvSpPr>
            <p:cNvPr id="16" name="Freeform 16">
              <a:extLst>
                <a:ext uri="{FF2B5EF4-FFF2-40B4-BE49-F238E27FC236}">
                  <a16:creationId xmlns:a16="http://schemas.microsoft.com/office/drawing/2014/main" id="{39EC3DA4-A76E-1210-3B95-4B468815FE8D}"/>
                </a:ext>
              </a:extLst>
            </p:cNvPr>
            <p:cNvSpPr/>
            <p:nvPr/>
          </p:nvSpPr>
          <p:spPr>
            <a:xfrm>
              <a:off x="0" y="0"/>
              <a:ext cx="4977777" cy="328528"/>
            </a:xfrm>
            <a:custGeom>
              <a:avLst/>
              <a:gdLst/>
              <a:ahLst/>
              <a:cxnLst/>
              <a:rect l="l" t="t" r="r" b="b"/>
              <a:pathLst>
                <a:path w="4977777" h="328528">
                  <a:moveTo>
                    <a:pt x="21655" y="0"/>
                  </a:moveTo>
                  <a:lnTo>
                    <a:pt x="4956122" y="0"/>
                  </a:lnTo>
                  <a:cubicBezTo>
                    <a:pt x="4968081" y="0"/>
                    <a:pt x="4977777" y="9695"/>
                    <a:pt x="4977777" y="21655"/>
                  </a:cubicBezTo>
                  <a:lnTo>
                    <a:pt x="4977777" y="306873"/>
                  </a:lnTo>
                  <a:cubicBezTo>
                    <a:pt x="4977777" y="312616"/>
                    <a:pt x="4975495" y="318124"/>
                    <a:pt x="4971434" y="322185"/>
                  </a:cubicBezTo>
                  <a:cubicBezTo>
                    <a:pt x="4967373" y="326247"/>
                    <a:pt x="4961865" y="328528"/>
                    <a:pt x="4956122" y="328528"/>
                  </a:cubicBezTo>
                  <a:lnTo>
                    <a:pt x="21655" y="328528"/>
                  </a:lnTo>
                  <a:cubicBezTo>
                    <a:pt x="9695" y="328528"/>
                    <a:pt x="0" y="318833"/>
                    <a:pt x="0" y="306873"/>
                  </a:cubicBezTo>
                  <a:lnTo>
                    <a:pt x="0" y="21655"/>
                  </a:lnTo>
                  <a:cubicBezTo>
                    <a:pt x="0" y="15912"/>
                    <a:pt x="2282" y="10404"/>
                    <a:pt x="6343" y="6343"/>
                  </a:cubicBezTo>
                  <a:cubicBezTo>
                    <a:pt x="10404" y="2282"/>
                    <a:pt x="15912" y="0"/>
                    <a:pt x="21655" y="0"/>
                  </a:cubicBezTo>
                  <a:close/>
                </a:path>
              </a:pathLst>
            </a:custGeom>
            <a:solidFill>
              <a:srgbClr val="283396"/>
            </a:solidFill>
            <a:ln w="19050" cap="rnd">
              <a:solidFill>
                <a:srgbClr val="283396"/>
              </a:solidFill>
              <a:prstDash val="solid"/>
              <a:round/>
            </a:ln>
          </p:spPr>
        </p:sp>
        <p:sp>
          <p:nvSpPr>
            <p:cNvPr id="17" name="TextBox 17">
              <a:extLst>
                <a:ext uri="{FF2B5EF4-FFF2-40B4-BE49-F238E27FC236}">
                  <a16:creationId xmlns:a16="http://schemas.microsoft.com/office/drawing/2014/main" id="{4118D666-F24A-0660-7903-D36F1F84F435}"/>
                </a:ext>
              </a:extLst>
            </p:cNvPr>
            <p:cNvSpPr txBox="1"/>
            <p:nvPr/>
          </p:nvSpPr>
          <p:spPr>
            <a:xfrm>
              <a:off x="0" y="-38100"/>
              <a:ext cx="4977777" cy="366628"/>
            </a:xfrm>
            <a:prstGeom prst="rect">
              <a:avLst/>
            </a:prstGeom>
          </p:spPr>
          <p:txBody>
            <a:bodyPr lIns="50800" tIns="50800" rIns="50800" bIns="50800" rtlCol="0" anchor="ctr"/>
            <a:lstStyle/>
            <a:p>
              <a:pPr marL="0" lvl="0" indent="0" algn="ctr">
                <a:lnSpc>
                  <a:spcPts val="2659"/>
                </a:lnSpc>
              </a:pPr>
              <a:endParaRPr/>
            </a:p>
          </p:txBody>
        </p:sp>
      </p:grpSp>
      <p:sp>
        <p:nvSpPr>
          <p:cNvPr id="19" name="TextBox 19">
            <a:extLst>
              <a:ext uri="{FF2B5EF4-FFF2-40B4-BE49-F238E27FC236}">
                <a16:creationId xmlns:a16="http://schemas.microsoft.com/office/drawing/2014/main" id="{2FECB110-5640-4928-79FD-6155F8A3BAC5}"/>
              </a:ext>
            </a:extLst>
          </p:cNvPr>
          <p:cNvSpPr txBox="1"/>
          <p:nvPr/>
        </p:nvSpPr>
        <p:spPr>
          <a:xfrm>
            <a:off x="1350057" y="703130"/>
            <a:ext cx="2657415" cy="407218"/>
          </a:xfrm>
          <a:prstGeom prst="rect">
            <a:avLst/>
          </a:prstGeom>
        </p:spPr>
        <p:txBody>
          <a:bodyPr lIns="0" tIns="0" rIns="0" bIns="0" rtlCol="0" anchor="t">
            <a:spAutoFit/>
          </a:bodyPr>
          <a:lstStyle/>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PYTHON</a:t>
            </a:r>
          </a:p>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PROGRAMMING</a:t>
            </a:r>
          </a:p>
        </p:txBody>
      </p:sp>
      <p:sp>
        <p:nvSpPr>
          <p:cNvPr id="20" name="TextBox 20">
            <a:extLst>
              <a:ext uri="{FF2B5EF4-FFF2-40B4-BE49-F238E27FC236}">
                <a16:creationId xmlns:a16="http://schemas.microsoft.com/office/drawing/2014/main" id="{DE45BF3B-E75D-7555-B583-3BC8C7A504A3}"/>
              </a:ext>
            </a:extLst>
          </p:cNvPr>
          <p:cNvSpPr txBox="1"/>
          <p:nvPr/>
        </p:nvSpPr>
        <p:spPr>
          <a:xfrm>
            <a:off x="5337971" y="774825"/>
            <a:ext cx="1755559"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HOME</a:t>
            </a:r>
          </a:p>
        </p:txBody>
      </p:sp>
      <p:sp>
        <p:nvSpPr>
          <p:cNvPr id="21" name="TextBox 21">
            <a:extLst>
              <a:ext uri="{FF2B5EF4-FFF2-40B4-BE49-F238E27FC236}">
                <a16:creationId xmlns:a16="http://schemas.microsoft.com/office/drawing/2014/main" id="{8D6DD1C5-5615-3BAB-A1D2-7D8B46275C72}"/>
              </a:ext>
            </a:extLst>
          </p:cNvPr>
          <p:cNvSpPr txBox="1"/>
          <p:nvPr/>
        </p:nvSpPr>
        <p:spPr>
          <a:xfrm>
            <a:off x="7463217" y="774825"/>
            <a:ext cx="2013772"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ABOUT</a:t>
            </a:r>
          </a:p>
        </p:txBody>
      </p:sp>
      <p:sp>
        <p:nvSpPr>
          <p:cNvPr id="22" name="TextBox 22">
            <a:extLst>
              <a:ext uri="{FF2B5EF4-FFF2-40B4-BE49-F238E27FC236}">
                <a16:creationId xmlns:a16="http://schemas.microsoft.com/office/drawing/2014/main" id="{90FB2CCB-BD1A-0C3D-2383-6B14A45D0059}"/>
              </a:ext>
            </a:extLst>
          </p:cNvPr>
          <p:cNvSpPr txBox="1"/>
          <p:nvPr/>
        </p:nvSpPr>
        <p:spPr>
          <a:xfrm>
            <a:off x="9856201" y="774825"/>
            <a:ext cx="2024119" cy="273172"/>
          </a:xfrm>
          <a:prstGeom prst="rect">
            <a:avLst/>
          </a:prstGeom>
        </p:spPr>
        <p:txBody>
          <a:bodyPr lIns="0" tIns="0" rIns="0" bIns="0" rtlCol="0" anchor="t">
            <a:spAutoFit/>
          </a:bodyPr>
          <a:lstStyle/>
          <a:p>
            <a:pPr marL="0" lvl="0" indent="0" algn="ctr">
              <a:lnSpc>
                <a:spcPts val="2268"/>
              </a:lnSpc>
              <a:spcBef>
                <a:spcPct val="0"/>
              </a:spcBef>
            </a:pPr>
            <a:r>
              <a:rPr lang="en-US" sz="1620" b="1">
                <a:solidFill>
                  <a:srgbClr val="283396"/>
                </a:solidFill>
                <a:latin typeface="Montaser Arabic Bold"/>
                <a:ea typeface="Montaser Arabic Bold"/>
                <a:cs typeface="Montaser Arabic Bold"/>
                <a:sym typeface="Montaser Arabic Bold"/>
              </a:rPr>
              <a:t>CONTENT</a:t>
            </a:r>
          </a:p>
        </p:txBody>
      </p:sp>
      <p:sp>
        <p:nvSpPr>
          <p:cNvPr id="23" name="TextBox 23">
            <a:extLst>
              <a:ext uri="{FF2B5EF4-FFF2-40B4-BE49-F238E27FC236}">
                <a16:creationId xmlns:a16="http://schemas.microsoft.com/office/drawing/2014/main" id="{8D1464BC-D12F-3A44-CE32-104AC11AA25F}"/>
              </a:ext>
            </a:extLst>
          </p:cNvPr>
          <p:cNvSpPr txBox="1"/>
          <p:nvPr/>
        </p:nvSpPr>
        <p:spPr>
          <a:xfrm>
            <a:off x="12101593" y="774825"/>
            <a:ext cx="2349448"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OTHERS</a:t>
            </a:r>
          </a:p>
        </p:txBody>
      </p:sp>
      <p:sp>
        <p:nvSpPr>
          <p:cNvPr id="24" name="TextBox 24">
            <a:extLst>
              <a:ext uri="{FF2B5EF4-FFF2-40B4-BE49-F238E27FC236}">
                <a16:creationId xmlns:a16="http://schemas.microsoft.com/office/drawing/2014/main" id="{E82D5455-A75D-7342-DCB2-119DA9B15871}"/>
              </a:ext>
            </a:extLst>
          </p:cNvPr>
          <p:cNvSpPr txBox="1"/>
          <p:nvPr/>
        </p:nvSpPr>
        <p:spPr>
          <a:xfrm>
            <a:off x="1070596" y="1156493"/>
            <a:ext cx="8698813" cy="1085810"/>
          </a:xfrm>
          <a:prstGeom prst="rect">
            <a:avLst/>
          </a:prstGeom>
        </p:spPr>
        <p:txBody>
          <a:bodyPr wrap="square" lIns="0" tIns="0" rIns="0" bIns="0" rtlCol="0" anchor="t">
            <a:spAutoFit/>
          </a:bodyPr>
          <a:lstStyle/>
          <a:p>
            <a:pPr marL="0" lvl="0" indent="0">
              <a:lnSpc>
                <a:spcPts val="9628"/>
              </a:lnSpc>
            </a:pPr>
            <a:r>
              <a:rPr lang="en-US" sz="4800" b="1" dirty="0">
                <a:solidFill>
                  <a:srgbClr val="283396"/>
                </a:solidFill>
                <a:latin typeface="+mj-lt"/>
                <a:ea typeface="Agrandir Grand Bold"/>
                <a:cs typeface="Agrandir Grand Bold"/>
                <a:sym typeface="Agrandir Grand Bold"/>
              </a:rPr>
              <a:t>Machine Code vs Bytecode</a:t>
            </a:r>
          </a:p>
        </p:txBody>
      </p:sp>
      <p:grpSp>
        <p:nvGrpSpPr>
          <p:cNvPr id="27" name="Group 27">
            <a:extLst>
              <a:ext uri="{FF2B5EF4-FFF2-40B4-BE49-F238E27FC236}">
                <a16:creationId xmlns:a16="http://schemas.microsoft.com/office/drawing/2014/main" id="{E0015CFB-A9B4-4063-E7BC-F09773795DB9}"/>
              </a:ext>
            </a:extLst>
          </p:cNvPr>
          <p:cNvGrpSpPr/>
          <p:nvPr/>
        </p:nvGrpSpPr>
        <p:grpSpPr>
          <a:xfrm>
            <a:off x="1131988" y="6872292"/>
            <a:ext cx="2119546" cy="627805"/>
            <a:chOff x="0" y="0"/>
            <a:chExt cx="558234" cy="165348"/>
          </a:xfrm>
        </p:grpSpPr>
        <p:sp>
          <p:nvSpPr>
            <p:cNvPr id="28" name="Freeform 28">
              <a:extLst>
                <a:ext uri="{FF2B5EF4-FFF2-40B4-BE49-F238E27FC236}">
                  <a16:creationId xmlns:a16="http://schemas.microsoft.com/office/drawing/2014/main" id="{650313D0-51A0-6690-389F-05D3BF119C58}"/>
                </a:ext>
              </a:extLst>
            </p:cNvPr>
            <p:cNvSpPr/>
            <p:nvPr/>
          </p:nvSpPr>
          <p:spPr>
            <a:xfrm>
              <a:off x="0" y="0"/>
              <a:ext cx="558234" cy="165348"/>
            </a:xfrm>
            <a:custGeom>
              <a:avLst/>
              <a:gdLst/>
              <a:ahLst/>
              <a:cxnLst/>
              <a:rect l="l" t="t" r="r" b="b"/>
              <a:pathLst>
                <a:path w="558234" h="165348">
                  <a:moveTo>
                    <a:pt x="82674" y="0"/>
                  </a:moveTo>
                  <a:lnTo>
                    <a:pt x="475560" y="0"/>
                  </a:lnTo>
                  <a:cubicBezTo>
                    <a:pt x="521220" y="0"/>
                    <a:pt x="558234" y="37014"/>
                    <a:pt x="558234" y="82674"/>
                  </a:cubicBezTo>
                  <a:lnTo>
                    <a:pt x="558234" y="82674"/>
                  </a:lnTo>
                  <a:cubicBezTo>
                    <a:pt x="558234" y="104600"/>
                    <a:pt x="549524" y="125629"/>
                    <a:pt x="534020" y="141133"/>
                  </a:cubicBezTo>
                  <a:cubicBezTo>
                    <a:pt x="518515" y="156638"/>
                    <a:pt x="497487" y="165348"/>
                    <a:pt x="475560" y="165348"/>
                  </a:cubicBezTo>
                  <a:lnTo>
                    <a:pt x="82674" y="165348"/>
                  </a:lnTo>
                  <a:cubicBezTo>
                    <a:pt x="37014" y="165348"/>
                    <a:pt x="0" y="128334"/>
                    <a:pt x="0" y="82674"/>
                  </a:cubicBezTo>
                  <a:lnTo>
                    <a:pt x="0" y="82674"/>
                  </a:lnTo>
                  <a:cubicBezTo>
                    <a:pt x="0" y="37014"/>
                    <a:pt x="37014" y="0"/>
                    <a:pt x="82674" y="0"/>
                  </a:cubicBezTo>
                  <a:close/>
                </a:path>
              </a:pathLst>
            </a:custGeom>
            <a:solidFill>
              <a:srgbClr val="D43838"/>
            </a:solidFill>
            <a:ln cap="rnd">
              <a:noFill/>
              <a:prstDash val="solid"/>
              <a:round/>
            </a:ln>
          </p:spPr>
        </p:sp>
        <p:sp>
          <p:nvSpPr>
            <p:cNvPr id="29" name="TextBox 29">
              <a:extLst>
                <a:ext uri="{FF2B5EF4-FFF2-40B4-BE49-F238E27FC236}">
                  <a16:creationId xmlns:a16="http://schemas.microsoft.com/office/drawing/2014/main" id="{B338B69A-A749-530E-BEB4-943EABA93FD1}"/>
                </a:ext>
              </a:extLst>
            </p:cNvPr>
            <p:cNvSpPr txBox="1"/>
            <p:nvPr/>
          </p:nvSpPr>
          <p:spPr>
            <a:xfrm>
              <a:off x="0" y="-28575"/>
              <a:ext cx="558234" cy="193923"/>
            </a:xfrm>
            <a:prstGeom prst="rect">
              <a:avLst/>
            </a:prstGeom>
          </p:spPr>
          <p:txBody>
            <a:bodyPr lIns="50800" tIns="50800" rIns="50800" bIns="50800" rtlCol="0" anchor="ctr"/>
            <a:lstStyle/>
            <a:p>
              <a:pPr marL="0" lvl="0" indent="0" algn="ctr">
                <a:lnSpc>
                  <a:spcPts val="2268"/>
                </a:lnSpc>
              </a:pPr>
              <a:r>
                <a:rPr lang="en-US" sz="1620" b="1">
                  <a:solidFill>
                    <a:srgbClr val="FFFFFF"/>
                  </a:solidFill>
                  <a:latin typeface="Montaser Arabic Bold"/>
                  <a:ea typeface="Montaser Arabic Bold"/>
                  <a:cs typeface="Montaser Arabic Bold"/>
                  <a:sym typeface="Montaser Arabic Bold"/>
                </a:rPr>
                <a:t>NEXT SLIDE</a:t>
              </a:r>
            </a:p>
          </p:txBody>
        </p:sp>
      </p:grpSp>
      <p:grpSp>
        <p:nvGrpSpPr>
          <p:cNvPr id="30" name="Group 30">
            <a:extLst>
              <a:ext uri="{FF2B5EF4-FFF2-40B4-BE49-F238E27FC236}">
                <a16:creationId xmlns:a16="http://schemas.microsoft.com/office/drawing/2014/main" id="{95860887-ECA5-15C8-CE97-FE07A29F66FC}"/>
              </a:ext>
            </a:extLst>
          </p:cNvPr>
          <p:cNvGrpSpPr/>
          <p:nvPr/>
        </p:nvGrpSpPr>
        <p:grpSpPr>
          <a:xfrm>
            <a:off x="16115510" y="3182866"/>
            <a:ext cx="1513917" cy="1513917"/>
            <a:chOff x="0" y="0"/>
            <a:chExt cx="812800" cy="812800"/>
          </a:xfrm>
        </p:grpSpPr>
        <p:sp>
          <p:nvSpPr>
            <p:cNvPr id="31" name="Freeform 31">
              <a:extLst>
                <a:ext uri="{FF2B5EF4-FFF2-40B4-BE49-F238E27FC236}">
                  <a16:creationId xmlns:a16="http://schemas.microsoft.com/office/drawing/2014/main" id="{9250E7B4-DBEC-3B52-CF43-737EEC58065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32" name="TextBox 32">
              <a:extLst>
                <a:ext uri="{FF2B5EF4-FFF2-40B4-BE49-F238E27FC236}">
                  <a16:creationId xmlns:a16="http://schemas.microsoft.com/office/drawing/2014/main" id="{3A3C3F9A-E80E-D5F5-7670-2FD51D9DEF74}"/>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33" name="Group 33">
            <a:extLst>
              <a:ext uri="{FF2B5EF4-FFF2-40B4-BE49-F238E27FC236}">
                <a16:creationId xmlns:a16="http://schemas.microsoft.com/office/drawing/2014/main" id="{1EED388F-B880-2E1D-09F3-C1BF053DD0E8}"/>
              </a:ext>
            </a:extLst>
          </p:cNvPr>
          <p:cNvGrpSpPr/>
          <p:nvPr/>
        </p:nvGrpSpPr>
        <p:grpSpPr>
          <a:xfrm>
            <a:off x="16443851" y="3535019"/>
            <a:ext cx="857235" cy="809611"/>
            <a:chOff x="0" y="0"/>
            <a:chExt cx="685800" cy="647700"/>
          </a:xfrm>
        </p:grpSpPr>
        <p:sp>
          <p:nvSpPr>
            <p:cNvPr id="34" name="Freeform 34">
              <a:extLst>
                <a:ext uri="{FF2B5EF4-FFF2-40B4-BE49-F238E27FC236}">
                  <a16:creationId xmlns:a16="http://schemas.microsoft.com/office/drawing/2014/main" id="{08CFA69E-9CE9-9B48-C950-38DCC8F453FC}"/>
                </a:ext>
              </a:extLst>
            </p:cNvPr>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35" name="TextBox 35">
              <a:extLst>
                <a:ext uri="{FF2B5EF4-FFF2-40B4-BE49-F238E27FC236}">
                  <a16:creationId xmlns:a16="http://schemas.microsoft.com/office/drawing/2014/main" id="{CB50381E-2C44-E15B-8C88-F7FAC022ED43}"/>
                </a:ext>
              </a:extLst>
            </p:cNvPr>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sp>
        <p:nvSpPr>
          <p:cNvPr id="12" name="TextBox 11">
            <a:extLst>
              <a:ext uri="{FF2B5EF4-FFF2-40B4-BE49-F238E27FC236}">
                <a16:creationId xmlns:a16="http://schemas.microsoft.com/office/drawing/2014/main" id="{EE97FCC2-5ECE-5AE1-9B43-BD6C44A700A8}"/>
              </a:ext>
            </a:extLst>
          </p:cNvPr>
          <p:cNvSpPr txBox="1"/>
          <p:nvPr/>
        </p:nvSpPr>
        <p:spPr>
          <a:xfrm>
            <a:off x="1070596" y="2523792"/>
            <a:ext cx="14169404" cy="3108543"/>
          </a:xfrm>
          <a:prstGeom prst="rect">
            <a:avLst/>
          </a:prstGeom>
          <a:noFill/>
        </p:spPr>
        <p:txBody>
          <a:bodyPr wrap="square">
            <a:spAutoFit/>
          </a:bodyPr>
          <a:lstStyle/>
          <a:p>
            <a:pPr>
              <a:buNone/>
            </a:pPr>
            <a:r>
              <a:rPr lang="en-US" sz="2800" b="1" dirty="0">
                <a:solidFill>
                  <a:srgbClr val="283396"/>
                </a:solidFill>
              </a:rPr>
              <a:t>Machine Code: Binary instructions (0s and 1s) that the CPU executes directly. Hardware-specific and tied to processor architecture. Fastest execution speed but not portable across different systems.</a:t>
            </a:r>
          </a:p>
          <a:p>
            <a:pPr>
              <a:buNone/>
            </a:pPr>
            <a:endParaRPr lang="en-US" sz="2800" b="1" dirty="0">
              <a:solidFill>
                <a:srgbClr val="283396"/>
              </a:solidFill>
            </a:endParaRPr>
          </a:p>
          <a:p>
            <a:pPr>
              <a:buNone/>
            </a:pPr>
            <a:r>
              <a:rPr lang="en-US" sz="2800" b="1" dirty="0">
                <a:solidFill>
                  <a:srgbClr val="283396"/>
                </a:solidFill>
              </a:rPr>
              <a:t>Bytecode: Intermediate, platform-independent code that Python compiles to before PVM execution. Portable across operating systems and hardware. Enables write once, run anywhere flexibility.</a:t>
            </a:r>
          </a:p>
        </p:txBody>
      </p:sp>
    </p:spTree>
    <p:extLst>
      <p:ext uri="{BB962C8B-B14F-4D97-AF65-F5344CB8AC3E}">
        <p14:creationId xmlns:p14="http://schemas.microsoft.com/office/powerpoint/2010/main" val="14044833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42B1C-A9F4-8247-AB1E-80C299151637}"/>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95D1FA20-CAB8-C103-B64E-47C3FAC5C6CA}"/>
              </a:ext>
            </a:extLst>
          </p:cNvPr>
          <p:cNvSpPr/>
          <p:nvPr/>
        </p:nvSpPr>
        <p:spPr>
          <a:xfrm>
            <a:off x="-427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AutoShape 4">
            <a:extLst>
              <a:ext uri="{FF2B5EF4-FFF2-40B4-BE49-F238E27FC236}">
                <a16:creationId xmlns:a16="http://schemas.microsoft.com/office/drawing/2014/main" id="{B74DD5F1-31A0-669D-154B-454BE978EB65}"/>
              </a:ext>
            </a:extLst>
          </p:cNvPr>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5" name="Freeform 5">
            <a:extLst>
              <a:ext uri="{FF2B5EF4-FFF2-40B4-BE49-F238E27FC236}">
                <a16:creationId xmlns:a16="http://schemas.microsoft.com/office/drawing/2014/main" id="{F66F9C89-0B3A-679C-822C-AF8ED1F81D93}"/>
              </a:ext>
            </a:extLst>
          </p:cNvPr>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6" name="Group 6">
            <a:extLst>
              <a:ext uri="{FF2B5EF4-FFF2-40B4-BE49-F238E27FC236}">
                <a16:creationId xmlns:a16="http://schemas.microsoft.com/office/drawing/2014/main" id="{286C963E-6429-A784-B496-CAEC98EA6DF0}"/>
              </a:ext>
            </a:extLst>
          </p:cNvPr>
          <p:cNvGrpSpPr/>
          <p:nvPr/>
        </p:nvGrpSpPr>
        <p:grpSpPr>
          <a:xfrm>
            <a:off x="1085850" y="665030"/>
            <a:ext cx="92277" cy="524320"/>
            <a:chOff x="0" y="0"/>
            <a:chExt cx="24303" cy="138092"/>
          </a:xfrm>
        </p:grpSpPr>
        <p:sp>
          <p:nvSpPr>
            <p:cNvPr id="7" name="Freeform 7">
              <a:extLst>
                <a:ext uri="{FF2B5EF4-FFF2-40B4-BE49-F238E27FC236}">
                  <a16:creationId xmlns:a16="http://schemas.microsoft.com/office/drawing/2014/main" id="{C5EA6045-5122-52F9-E846-FB75B2C6DA9B}"/>
                </a:ext>
              </a:extLst>
            </p:cNvPr>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8" name="TextBox 8">
              <a:extLst>
                <a:ext uri="{FF2B5EF4-FFF2-40B4-BE49-F238E27FC236}">
                  <a16:creationId xmlns:a16="http://schemas.microsoft.com/office/drawing/2014/main" id="{6C624D57-C625-2B89-190E-794DE6B2F1FC}"/>
                </a:ext>
              </a:extLst>
            </p:cNvPr>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9" name="Group 9">
            <a:extLst>
              <a:ext uri="{FF2B5EF4-FFF2-40B4-BE49-F238E27FC236}">
                <a16:creationId xmlns:a16="http://schemas.microsoft.com/office/drawing/2014/main" id="{3A4C4547-A97B-32CD-36C7-7CA132749000}"/>
              </a:ext>
            </a:extLst>
          </p:cNvPr>
          <p:cNvGrpSpPr/>
          <p:nvPr/>
        </p:nvGrpSpPr>
        <p:grpSpPr>
          <a:xfrm>
            <a:off x="10328121" y="1359977"/>
            <a:ext cx="1080278" cy="106932"/>
            <a:chOff x="0" y="0"/>
            <a:chExt cx="284518" cy="28163"/>
          </a:xfrm>
        </p:grpSpPr>
        <p:sp>
          <p:nvSpPr>
            <p:cNvPr id="10" name="Freeform 10">
              <a:extLst>
                <a:ext uri="{FF2B5EF4-FFF2-40B4-BE49-F238E27FC236}">
                  <a16:creationId xmlns:a16="http://schemas.microsoft.com/office/drawing/2014/main" id="{83747E40-07FF-2E48-C596-5589AE7FAE34}"/>
                </a:ext>
              </a:extLst>
            </p:cNvPr>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1" name="TextBox 11">
              <a:extLst>
                <a:ext uri="{FF2B5EF4-FFF2-40B4-BE49-F238E27FC236}">
                  <a16:creationId xmlns:a16="http://schemas.microsoft.com/office/drawing/2014/main" id="{C0A767A0-04DE-6D27-A9EA-0B428F0AB676}"/>
                </a:ext>
              </a:extLst>
            </p:cNvPr>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a:extLst>
              <a:ext uri="{FF2B5EF4-FFF2-40B4-BE49-F238E27FC236}">
                <a16:creationId xmlns:a16="http://schemas.microsoft.com/office/drawing/2014/main" id="{6B76C218-CB4A-1027-A021-16B95056742D}"/>
              </a:ext>
            </a:extLst>
          </p:cNvPr>
          <p:cNvGrpSpPr/>
          <p:nvPr/>
        </p:nvGrpSpPr>
        <p:grpSpPr>
          <a:xfrm>
            <a:off x="0" y="8017413"/>
            <a:ext cx="18232834" cy="1203348"/>
            <a:chOff x="0" y="0"/>
            <a:chExt cx="4977777" cy="328528"/>
          </a:xfrm>
        </p:grpSpPr>
        <p:sp>
          <p:nvSpPr>
            <p:cNvPr id="16" name="Freeform 16">
              <a:extLst>
                <a:ext uri="{FF2B5EF4-FFF2-40B4-BE49-F238E27FC236}">
                  <a16:creationId xmlns:a16="http://schemas.microsoft.com/office/drawing/2014/main" id="{39EC3DA4-A76E-1210-3B95-4B468815FE8D}"/>
                </a:ext>
              </a:extLst>
            </p:cNvPr>
            <p:cNvSpPr/>
            <p:nvPr/>
          </p:nvSpPr>
          <p:spPr>
            <a:xfrm>
              <a:off x="0" y="0"/>
              <a:ext cx="4977777" cy="328528"/>
            </a:xfrm>
            <a:custGeom>
              <a:avLst/>
              <a:gdLst/>
              <a:ahLst/>
              <a:cxnLst/>
              <a:rect l="l" t="t" r="r" b="b"/>
              <a:pathLst>
                <a:path w="4977777" h="328528">
                  <a:moveTo>
                    <a:pt x="21655" y="0"/>
                  </a:moveTo>
                  <a:lnTo>
                    <a:pt x="4956122" y="0"/>
                  </a:lnTo>
                  <a:cubicBezTo>
                    <a:pt x="4968081" y="0"/>
                    <a:pt x="4977777" y="9695"/>
                    <a:pt x="4977777" y="21655"/>
                  </a:cubicBezTo>
                  <a:lnTo>
                    <a:pt x="4977777" y="306873"/>
                  </a:lnTo>
                  <a:cubicBezTo>
                    <a:pt x="4977777" y="312616"/>
                    <a:pt x="4975495" y="318124"/>
                    <a:pt x="4971434" y="322185"/>
                  </a:cubicBezTo>
                  <a:cubicBezTo>
                    <a:pt x="4967373" y="326247"/>
                    <a:pt x="4961865" y="328528"/>
                    <a:pt x="4956122" y="328528"/>
                  </a:cubicBezTo>
                  <a:lnTo>
                    <a:pt x="21655" y="328528"/>
                  </a:lnTo>
                  <a:cubicBezTo>
                    <a:pt x="9695" y="328528"/>
                    <a:pt x="0" y="318833"/>
                    <a:pt x="0" y="306873"/>
                  </a:cubicBezTo>
                  <a:lnTo>
                    <a:pt x="0" y="21655"/>
                  </a:lnTo>
                  <a:cubicBezTo>
                    <a:pt x="0" y="15912"/>
                    <a:pt x="2282" y="10404"/>
                    <a:pt x="6343" y="6343"/>
                  </a:cubicBezTo>
                  <a:cubicBezTo>
                    <a:pt x="10404" y="2282"/>
                    <a:pt x="15912" y="0"/>
                    <a:pt x="21655" y="0"/>
                  </a:cubicBezTo>
                  <a:close/>
                </a:path>
              </a:pathLst>
            </a:custGeom>
            <a:solidFill>
              <a:srgbClr val="283396"/>
            </a:solidFill>
            <a:ln w="19050" cap="rnd">
              <a:solidFill>
                <a:srgbClr val="283396"/>
              </a:solidFill>
              <a:prstDash val="solid"/>
              <a:round/>
            </a:ln>
          </p:spPr>
        </p:sp>
        <p:sp>
          <p:nvSpPr>
            <p:cNvPr id="17" name="TextBox 17">
              <a:extLst>
                <a:ext uri="{FF2B5EF4-FFF2-40B4-BE49-F238E27FC236}">
                  <a16:creationId xmlns:a16="http://schemas.microsoft.com/office/drawing/2014/main" id="{4118D666-F24A-0660-7903-D36F1F84F435}"/>
                </a:ext>
              </a:extLst>
            </p:cNvPr>
            <p:cNvSpPr txBox="1"/>
            <p:nvPr/>
          </p:nvSpPr>
          <p:spPr>
            <a:xfrm>
              <a:off x="0" y="-38100"/>
              <a:ext cx="4977777" cy="366628"/>
            </a:xfrm>
            <a:prstGeom prst="rect">
              <a:avLst/>
            </a:prstGeom>
          </p:spPr>
          <p:txBody>
            <a:bodyPr lIns="50800" tIns="50800" rIns="50800" bIns="50800" rtlCol="0" anchor="ctr"/>
            <a:lstStyle/>
            <a:p>
              <a:pPr marL="0" lvl="0" indent="0" algn="ctr">
                <a:lnSpc>
                  <a:spcPts val="2659"/>
                </a:lnSpc>
              </a:pPr>
              <a:endParaRPr/>
            </a:p>
          </p:txBody>
        </p:sp>
      </p:grpSp>
      <p:sp>
        <p:nvSpPr>
          <p:cNvPr id="19" name="TextBox 19">
            <a:extLst>
              <a:ext uri="{FF2B5EF4-FFF2-40B4-BE49-F238E27FC236}">
                <a16:creationId xmlns:a16="http://schemas.microsoft.com/office/drawing/2014/main" id="{2FECB110-5640-4928-79FD-6155F8A3BAC5}"/>
              </a:ext>
            </a:extLst>
          </p:cNvPr>
          <p:cNvSpPr txBox="1"/>
          <p:nvPr/>
        </p:nvSpPr>
        <p:spPr>
          <a:xfrm>
            <a:off x="1350057" y="703130"/>
            <a:ext cx="2657415" cy="407218"/>
          </a:xfrm>
          <a:prstGeom prst="rect">
            <a:avLst/>
          </a:prstGeom>
        </p:spPr>
        <p:txBody>
          <a:bodyPr lIns="0" tIns="0" rIns="0" bIns="0" rtlCol="0" anchor="t">
            <a:spAutoFit/>
          </a:bodyPr>
          <a:lstStyle/>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PYTHON</a:t>
            </a:r>
          </a:p>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PROGRAMMING</a:t>
            </a:r>
          </a:p>
        </p:txBody>
      </p:sp>
      <p:sp>
        <p:nvSpPr>
          <p:cNvPr id="20" name="TextBox 20">
            <a:extLst>
              <a:ext uri="{FF2B5EF4-FFF2-40B4-BE49-F238E27FC236}">
                <a16:creationId xmlns:a16="http://schemas.microsoft.com/office/drawing/2014/main" id="{DE45BF3B-E75D-7555-B583-3BC8C7A504A3}"/>
              </a:ext>
            </a:extLst>
          </p:cNvPr>
          <p:cNvSpPr txBox="1"/>
          <p:nvPr/>
        </p:nvSpPr>
        <p:spPr>
          <a:xfrm>
            <a:off x="5337971" y="774825"/>
            <a:ext cx="1755559"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HOME</a:t>
            </a:r>
          </a:p>
        </p:txBody>
      </p:sp>
      <p:sp>
        <p:nvSpPr>
          <p:cNvPr id="21" name="TextBox 21">
            <a:extLst>
              <a:ext uri="{FF2B5EF4-FFF2-40B4-BE49-F238E27FC236}">
                <a16:creationId xmlns:a16="http://schemas.microsoft.com/office/drawing/2014/main" id="{8D6DD1C5-5615-3BAB-A1D2-7D8B46275C72}"/>
              </a:ext>
            </a:extLst>
          </p:cNvPr>
          <p:cNvSpPr txBox="1"/>
          <p:nvPr/>
        </p:nvSpPr>
        <p:spPr>
          <a:xfrm>
            <a:off x="7463217" y="774825"/>
            <a:ext cx="2013772"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ABOUT</a:t>
            </a:r>
          </a:p>
        </p:txBody>
      </p:sp>
      <p:sp>
        <p:nvSpPr>
          <p:cNvPr id="22" name="TextBox 22">
            <a:extLst>
              <a:ext uri="{FF2B5EF4-FFF2-40B4-BE49-F238E27FC236}">
                <a16:creationId xmlns:a16="http://schemas.microsoft.com/office/drawing/2014/main" id="{90FB2CCB-BD1A-0C3D-2383-6B14A45D0059}"/>
              </a:ext>
            </a:extLst>
          </p:cNvPr>
          <p:cNvSpPr txBox="1"/>
          <p:nvPr/>
        </p:nvSpPr>
        <p:spPr>
          <a:xfrm>
            <a:off x="9856201" y="774825"/>
            <a:ext cx="2024119" cy="273172"/>
          </a:xfrm>
          <a:prstGeom prst="rect">
            <a:avLst/>
          </a:prstGeom>
        </p:spPr>
        <p:txBody>
          <a:bodyPr lIns="0" tIns="0" rIns="0" bIns="0" rtlCol="0" anchor="t">
            <a:spAutoFit/>
          </a:bodyPr>
          <a:lstStyle/>
          <a:p>
            <a:pPr marL="0" lvl="0" indent="0" algn="ctr">
              <a:lnSpc>
                <a:spcPts val="2268"/>
              </a:lnSpc>
              <a:spcBef>
                <a:spcPct val="0"/>
              </a:spcBef>
            </a:pPr>
            <a:r>
              <a:rPr lang="en-US" sz="1620" b="1">
                <a:solidFill>
                  <a:srgbClr val="283396"/>
                </a:solidFill>
                <a:latin typeface="Montaser Arabic Bold"/>
                <a:ea typeface="Montaser Arabic Bold"/>
                <a:cs typeface="Montaser Arabic Bold"/>
                <a:sym typeface="Montaser Arabic Bold"/>
              </a:rPr>
              <a:t>CONTENT</a:t>
            </a:r>
          </a:p>
        </p:txBody>
      </p:sp>
      <p:sp>
        <p:nvSpPr>
          <p:cNvPr id="23" name="TextBox 23">
            <a:extLst>
              <a:ext uri="{FF2B5EF4-FFF2-40B4-BE49-F238E27FC236}">
                <a16:creationId xmlns:a16="http://schemas.microsoft.com/office/drawing/2014/main" id="{8D1464BC-D12F-3A44-CE32-104AC11AA25F}"/>
              </a:ext>
            </a:extLst>
          </p:cNvPr>
          <p:cNvSpPr txBox="1"/>
          <p:nvPr/>
        </p:nvSpPr>
        <p:spPr>
          <a:xfrm>
            <a:off x="12101593" y="774825"/>
            <a:ext cx="2349448"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OTHERS</a:t>
            </a:r>
          </a:p>
        </p:txBody>
      </p:sp>
      <p:sp>
        <p:nvSpPr>
          <p:cNvPr id="24" name="TextBox 24">
            <a:extLst>
              <a:ext uri="{FF2B5EF4-FFF2-40B4-BE49-F238E27FC236}">
                <a16:creationId xmlns:a16="http://schemas.microsoft.com/office/drawing/2014/main" id="{E82D5455-A75D-7342-DCB2-119DA9B15871}"/>
              </a:ext>
            </a:extLst>
          </p:cNvPr>
          <p:cNvSpPr txBox="1"/>
          <p:nvPr/>
        </p:nvSpPr>
        <p:spPr>
          <a:xfrm>
            <a:off x="1070596" y="1156493"/>
            <a:ext cx="10245104" cy="1072281"/>
          </a:xfrm>
          <a:prstGeom prst="rect">
            <a:avLst/>
          </a:prstGeom>
        </p:spPr>
        <p:txBody>
          <a:bodyPr wrap="square" lIns="0" tIns="0" rIns="0" bIns="0" rtlCol="0" anchor="t">
            <a:spAutoFit/>
          </a:bodyPr>
          <a:lstStyle/>
          <a:p>
            <a:pPr marL="0" lvl="0" indent="0">
              <a:lnSpc>
                <a:spcPts val="9628"/>
              </a:lnSpc>
            </a:pPr>
            <a:r>
              <a:rPr lang="en-US" sz="4400" b="1" dirty="0">
                <a:solidFill>
                  <a:srgbClr val="283396"/>
                </a:solidFill>
                <a:latin typeface="+mj-lt"/>
                <a:ea typeface="Agrandir Grand Bold"/>
                <a:cs typeface="Agrandir Grand Bold"/>
                <a:sym typeface="Agrandir Grand Bold"/>
              </a:rPr>
              <a:t>Types of Python Implementations</a:t>
            </a:r>
          </a:p>
        </p:txBody>
      </p:sp>
      <p:grpSp>
        <p:nvGrpSpPr>
          <p:cNvPr id="27" name="Group 27">
            <a:extLst>
              <a:ext uri="{FF2B5EF4-FFF2-40B4-BE49-F238E27FC236}">
                <a16:creationId xmlns:a16="http://schemas.microsoft.com/office/drawing/2014/main" id="{E0015CFB-A9B4-4063-E7BC-F09773795DB9}"/>
              </a:ext>
            </a:extLst>
          </p:cNvPr>
          <p:cNvGrpSpPr/>
          <p:nvPr/>
        </p:nvGrpSpPr>
        <p:grpSpPr>
          <a:xfrm>
            <a:off x="1028700" y="7062530"/>
            <a:ext cx="2119546" cy="627805"/>
            <a:chOff x="0" y="0"/>
            <a:chExt cx="558234" cy="165348"/>
          </a:xfrm>
        </p:grpSpPr>
        <p:sp>
          <p:nvSpPr>
            <p:cNvPr id="28" name="Freeform 28">
              <a:extLst>
                <a:ext uri="{FF2B5EF4-FFF2-40B4-BE49-F238E27FC236}">
                  <a16:creationId xmlns:a16="http://schemas.microsoft.com/office/drawing/2014/main" id="{650313D0-51A0-6690-389F-05D3BF119C58}"/>
                </a:ext>
              </a:extLst>
            </p:cNvPr>
            <p:cNvSpPr/>
            <p:nvPr/>
          </p:nvSpPr>
          <p:spPr>
            <a:xfrm>
              <a:off x="0" y="0"/>
              <a:ext cx="558234" cy="165348"/>
            </a:xfrm>
            <a:custGeom>
              <a:avLst/>
              <a:gdLst/>
              <a:ahLst/>
              <a:cxnLst/>
              <a:rect l="l" t="t" r="r" b="b"/>
              <a:pathLst>
                <a:path w="558234" h="165348">
                  <a:moveTo>
                    <a:pt x="82674" y="0"/>
                  </a:moveTo>
                  <a:lnTo>
                    <a:pt x="475560" y="0"/>
                  </a:lnTo>
                  <a:cubicBezTo>
                    <a:pt x="521220" y="0"/>
                    <a:pt x="558234" y="37014"/>
                    <a:pt x="558234" y="82674"/>
                  </a:cubicBezTo>
                  <a:lnTo>
                    <a:pt x="558234" y="82674"/>
                  </a:lnTo>
                  <a:cubicBezTo>
                    <a:pt x="558234" y="104600"/>
                    <a:pt x="549524" y="125629"/>
                    <a:pt x="534020" y="141133"/>
                  </a:cubicBezTo>
                  <a:cubicBezTo>
                    <a:pt x="518515" y="156638"/>
                    <a:pt x="497487" y="165348"/>
                    <a:pt x="475560" y="165348"/>
                  </a:cubicBezTo>
                  <a:lnTo>
                    <a:pt x="82674" y="165348"/>
                  </a:lnTo>
                  <a:cubicBezTo>
                    <a:pt x="37014" y="165348"/>
                    <a:pt x="0" y="128334"/>
                    <a:pt x="0" y="82674"/>
                  </a:cubicBezTo>
                  <a:lnTo>
                    <a:pt x="0" y="82674"/>
                  </a:lnTo>
                  <a:cubicBezTo>
                    <a:pt x="0" y="37014"/>
                    <a:pt x="37014" y="0"/>
                    <a:pt x="82674" y="0"/>
                  </a:cubicBezTo>
                  <a:close/>
                </a:path>
              </a:pathLst>
            </a:custGeom>
            <a:solidFill>
              <a:srgbClr val="D43838"/>
            </a:solidFill>
            <a:ln cap="rnd">
              <a:noFill/>
              <a:prstDash val="solid"/>
              <a:round/>
            </a:ln>
          </p:spPr>
        </p:sp>
        <p:sp>
          <p:nvSpPr>
            <p:cNvPr id="29" name="TextBox 29">
              <a:extLst>
                <a:ext uri="{FF2B5EF4-FFF2-40B4-BE49-F238E27FC236}">
                  <a16:creationId xmlns:a16="http://schemas.microsoft.com/office/drawing/2014/main" id="{B338B69A-A749-530E-BEB4-943EABA93FD1}"/>
                </a:ext>
              </a:extLst>
            </p:cNvPr>
            <p:cNvSpPr txBox="1"/>
            <p:nvPr/>
          </p:nvSpPr>
          <p:spPr>
            <a:xfrm>
              <a:off x="0" y="-28575"/>
              <a:ext cx="558234" cy="193923"/>
            </a:xfrm>
            <a:prstGeom prst="rect">
              <a:avLst/>
            </a:prstGeom>
          </p:spPr>
          <p:txBody>
            <a:bodyPr lIns="50800" tIns="50800" rIns="50800" bIns="50800" rtlCol="0" anchor="ctr"/>
            <a:lstStyle/>
            <a:p>
              <a:pPr marL="0" lvl="0" indent="0" algn="ctr">
                <a:lnSpc>
                  <a:spcPts val="2268"/>
                </a:lnSpc>
              </a:pPr>
              <a:r>
                <a:rPr lang="en-US" sz="1620" b="1">
                  <a:solidFill>
                    <a:srgbClr val="FFFFFF"/>
                  </a:solidFill>
                  <a:latin typeface="Montaser Arabic Bold"/>
                  <a:ea typeface="Montaser Arabic Bold"/>
                  <a:cs typeface="Montaser Arabic Bold"/>
                  <a:sym typeface="Montaser Arabic Bold"/>
                </a:rPr>
                <a:t>NEXT SLIDE</a:t>
              </a:r>
            </a:p>
          </p:txBody>
        </p:sp>
      </p:grpSp>
      <p:grpSp>
        <p:nvGrpSpPr>
          <p:cNvPr id="30" name="Group 30">
            <a:extLst>
              <a:ext uri="{FF2B5EF4-FFF2-40B4-BE49-F238E27FC236}">
                <a16:creationId xmlns:a16="http://schemas.microsoft.com/office/drawing/2014/main" id="{95860887-ECA5-15C8-CE97-FE07A29F66FC}"/>
              </a:ext>
            </a:extLst>
          </p:cNvPr>
          <p:cNvGrpSpPr/>
          <p:nvPr/>
        </p:nvGrpSpPr>
        <p:grpSpPr>
          <a:xfrm>
            <a:off x="16115510" y="3182866"/>
            <a:ext cx="1513917" cy="1513917"/>
            <a:chOff x="0" y="0"/>
            <a:chExt cx="812800" cy="812800"/>
          </a:xfrm>
        </p:grpSpPr>
        <p:sp>
          <p:nvSpPr>
            <p:cNvPr id="31" name="Freeform 31">
              <a:extLst>
                <a:ext uri="{FF2B5EF4-FFF2-40B4-BE49-F238E27FC236}">
                  <a16:creationId xmlns:a16="http://schemas.microsoft.com/office/drawing/2014/main" id="{9250E7B4-DBEC-3B52-CF43-737EEC58065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32" name="TextBox 32">
              <a:extLst>
                <a:ext uri="{FF2B5EF4-FFF2-40B4-BE49-F238E27FC236}">
                  <a16:creationId xmlns:a16="http://schemas.microsoft.com/office/drawing/2014/main" id="{3A3C3F9A-E80E-D5F5-7670-2FD51D9DEF74}"/>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33" name="Group 33">
            <a:extLst>
              <a:ext uri="{FF2B5EF4-FFF2-40B4-BE49-F238E27FC236}">
                <a16:creationId xmlns:a16="http://schemas.microsoft.com/office/drawing/2014/main" id="{1EED388F-B880-2E1D-09F3-C1BF053DD0E8}"/>
              </a:ext>
            </a:extLst>
          </p:cNvPr>
          <p:cNvGrpSpPr/>
          <p:nvPr/>
        </p:nvGrpSpPr>
        <p:grpSpPr>
          <a:xfrm>
            <a:off x="16443851" y="3535019"/>
            <a:ext cx="857235" cy="809611"/>
            <a:chOff x="0" y="0"/>
            <a:chExt cx="685800" cy="647700"/>
          </a:xfrm>
        </p:grpSpPr>
        <p:sp>
          <p:nvSpPr>
            <p:cNvPr id="34" name="Freeform 34">
              <a:extLst>
                <a:ext uri="{FF2B5EF4-FFF2-40B4-BE49-F238E27FC236}">
                  <a16:creationId xmlns:a16="http://schemas.microsoft.com/office/drawing/2014/main" id="{08CFA69E-9CE9-9B48-C950-38DCC8F453FC}"/>
                </a:ext>
              </a:extLst>
            </p:cNvPr>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35" name="TextBox 35">
              <a:extLst>
                <a:ext uri="{FF2B5EF4-FFF2-40B4-BE49-F238E27FC236}">
                  <a16:creationId xmlns:a16="http://schemas.microsoft.com/office/drawing/2014/main" id="{CB50381E-2C44-E15B-8C88-F7FAC022ED43}"/>
                </a:ext>
              </a:extLst>
            </p:cNvPr>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sp>
        <p:nvSpPr>
          <p:cNvPr id="12" name="TextBox 11">
            <a:extLst>
              <a:ext uri="{FF2B5EF4-FFF2-40B4-BE49-F238E27FC236}">
                <a16:creationId xmlns:a16="http://schemas.microsoft.com/office/drawing/2014/main" id="{EE97FCC2-5ECE-5AE1-9B43-BD6C44A700A8}"/>
              </a:ext>
            </a:extLst>
          </p:cNvPr>
          <p:cNvSpPr txBox="1"/>
          <p:nvPr/>
        </p:nvSpPr>
        <p:spPr>
          <a:xfrm>
            <a:off x="1070595" y="2523792"/>
            <a:ext cx="15186843" cy="4401205"/>
          </a:xfrm>
          <a:prstGeom prst="rect">
            <a:avLst/>
          </a:prstGeom>
          <a:noFill/>
        </p:spPr>
        <p:txBody>
          <a:bodyPr wrap="square">
            <a:spAutoFit/>
          </a:bodyPr>
          <a:lstStyle/>
          <a:p>
            <a:pPr>
              <a:buNone/>
            </a:pPr>
            <a:r>
              <a:rPr lang="en-US" sz="2800" b="1" dirty="0">
                <a:solidFill>
                  <a:srgbClr val="283396"/>
                </a:solidFill>
              </a:rPr>
              <a:t>CPython: The default and most widely used Python implementation. Written in C, it serves as the reference standard. </a:t>
            </a:r>
          </a:p>
          <a:p>
            <a:pPr>
              <a:buNone/>
            </a:pPr>
            <a:r>
              <a:rPr lang="en-US" sz="2800" b="1" dirty="0" err="1">
                <a:solidFill>
                  <a:srgbClr val="283396"/>
                </a:solidFill>
              </a:rPr>
              <a:t>PyPy</a:t>
            </a:r>
            <a:r>
              <a:rPr lang="en-US" sz="2800" b="1" dirty="0">
                <a:solidFill>
                  <a:srgbClr val="283396"/>
                </a:solidFill>
              </a:rPr>
              <a:t>: Features Just-In-Time (JIT) compilation for significantly faster execution. </a:t>
            </a:r>
          </a:p>
          <a:p>
            <a:pPr>
              <a:buNone/>
            </a:pPr>
            <a:r>
              <a:rPr lang="en-US" sz="2800" b="1" dirty="0" err="1">
                <a:solidFill>
                  <a:srgbClr val="283396"/>
                </a:solidFill>
              </a:rPr>
              <a:t>Jython</a:t>
            </a:r>
            <a:r>
              <a:rPr lang="en-US" sz="2800" b="1" dirty="0">
                <a:solidFill>
                  <a:srgbClr val="283396"/>
                </a:solidFill>
              </a:rPr>
              <a:t>: Runs on the Java Virtual Machine (JVM), enabling seamless integration with Java libraries.</a:t>
            </a:r>
          </a:p>
          <a:p>
            <a:pPr>
              <a:buNone/>
            </a:pPr>
            <a:endParaRPr lang="en-US" sz="2800" b="1" dirty="0">
              <a:solidFill>
                <a:srgbClr val="283396"/>
              </a:solidFill>
            </a:endParaRPr>
          </a:p>
          <a:p>
            <a:pPr>
              <a:buNone/>
            </a:pPr>
            <a:r>
              <a:rPr lang="en-US" sz="2800" b="1" dirty="0">
                <a:solidFill>
                  <a:srgbClr val="283396"/>
                </a:solidFill>
              </a:rPr>
              <a:t>IronPython: Runs on the .NET framework (CLR) and integrates with .NET libraries. </a:t>
            </a:r>
          </a:p>
          <a:p>
            <a:pPr>
              <a:buNone/>
            </a:pPr>
            <a:r>
              <a:rPr lang="en-US" sz="2800" b="1" dirty="0" err="1">
                <a:solidFill>
                  <a:srgbClr val="283396"/>
                </a:solidFill>
              </a:rPr>
              <a:t>MicroPython</a:t>
            </a:r>
            <a:r>
              <a:rPr lang="en-US" sz="2800" b="1" dirty="0">
                <a:solidFill>
                  <a:srgbClr val="283396"/>
                </a:solidFill>
              </a:rPr>
              <a:t>: Lean implementation optimized for microcontrollers and embedded systems with limited memory. </a:t>
            </a:r>
          </a:p>
          <a:p>
            <a:pPr>
              <a:buNone/>
            </a:pPr>
            <a:r>
              <a:rPr lang="en-US" sz="2800" b="1" dirty="0" err="1">
                <a:solidFill>
                  <a:srgbClr val="283396"/>
                </a:solidFill>
              </a:rPr>
              <a:t>Stackless</a:t>
            </a:r>
            <a:r>
              <a:rPr lang="en-US" sz="2800" b="1" dirty="0">
                <a:solidFill>
                  <a:srgbClr val="283396"/>
                </a:solidFill>
              </a:rPr>
              <a:t> Python: Enhanced CPython variant supporting microthreads for massive concurrency without threading overhead.</a:t>
            </a:r>
          </a:p>
        </p:txBody>
      </p:sp>
    </p:spTree>
    <p:extLst>
      <p:ext uri="{BB962C8B-B14F-4D97-AF65-F5344CB8AC3E}">
        <p14:creationId xmlns:p14="http://schemas.microsoft.com/office/powerpoint/2010/main" val="1404483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42B1C-A9F4-8247-AB1E-80C299151637}"/>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95D1FA20-CAB8-C103-B64E-47C3FAC5C6CA}"/>
              </a:ext>
            </a:extLst>
          </p:cNvPr>
          <p:cNvSpPr/>
          <p:nvPr/>
        </p:nvSpPr>
        <p:spPr>
          <a:xfrm>
            <a:off x="-427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AutoShape 4">
            <a:extLst>
              <a:ext uri="{FF2B5EF4-FFF2-40B4-BE49-F238E27FC236}">
                <a16:creationId xmlns:a16="http://schemas.microsoft.com/office/drawing/2014/main" id="{B74DD5F1-31A0-669D-154B-454BE978EB65}"/>
              </a:ext>
            </a:extLst>
          </p:cNvPr>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5" name="Freeform 5">
            <a:extLst>
              <a:ext uri="{FF2B5EF4-FFF2-40B4-BE49-F238E27FC236}">
                <a16:creationId xmlns:a16="http://schemas.microsoft.com/office/drawing/2014/main" id="{F66F9C89-0B3A-679C-822C-AF8ED1F81D93}"/>
              </a:ext>
            </a:extLst>
          </p:cNvPr>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6" name="Group 6">
            <a:extLst>
              <a:ext uri="{FF2B5EF4-FFF2-40B4-BE49-F238E27FC236}">
                <a16:creationId xmlns:a16="http://schemas.microsoft.com/office/drawing/2014/main" id="{286C963E-6429-A784-B496-CAEC98EA6DF0}"/>
              </a:ext>
            </a:extLst>
          </p:cNvPr>
          <p:cNvGrpSpPr/>
          <p:nvPr/>
        </p:nvGrpSpPr>
        <p:grpSpPr>
          <a:xfrm>
            <a:off x="1085850" y="665030"/>
            <a:ext cx="92277" cy="524320"/>
            <a:chOff x="0" y="0"/>
            <a:chExt cx="24303" cy="138092"/>
          </a:xfrm>
        </p:grpSpPr>
        <p:sp>
          <p:nvSpPr>
            <p:cNvPr id="7" name="Freeform 7">
              <a:extLst>
                <a:ext uri="{FF2B5EF4-FFF2-40B4-BE49-F238E27FC236}">
                  <a16:creationId xmlns:a16="http://schemas.microsoft.com/office/drawing/2014/main" id="{C5EA6045-5122-52F9-E846-FB75B2C6DA9B}"/>
                </a:ext>
              </a:extLst>
            </p:cNvPr>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8" name="TextBox 8">
              <a:extLst>
                <a:ext uri="{FF2B5EF4-FFF2-40B4-BE49-F238E27FC236}">
                  <a16:creationId xmlns:a16="http://schemas.microsoft.com/office/drawing/2014/main" id="{6C624D57-C625-2B89-190E-794DE6B2F1FC}"/>
                </a:ext>
              </a:extLst>
            </p:cNvPr>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9" name="Group 9">
            <a:extLst>
              <a:ext uri="{FF2B5EF4-FFF2-40B4-BE49-F238E27FC236}">
                <a16:creationId xmlns:a16="http://schemas.microsoft.com/office/drawing/2014/main" id="{3A4C4547-A97B-32CD-36C7-7CA132749000}"/>
              </a:ext>
            </a:extLst>
          </p:cNvPr>
          <p:cNvGrpSpPr/>
          <p:nvPr/>
        </p:nvGrpSpPr>
        <p:grpSpPr>
          <a:xfrm>
            <a:off x="10328121" y="1359977"/>
            <a:ext cx="1080278" cy="106932"/>
            <a:chOff x="0" y="0"/>
            <a:chExt cx="284518" cy="28163"/>
          </a:xfrm>
        </p:grpSpPr>
        <p:sp>
          <p:nvSpPr>
            <p:cNvPr id="10" name="Freeform 10">
              <a:extLst>
                <a:ext uri="{FF2B5EF4-FFF2-40B4-BE49-F238E27FC236}">
                  <a16:creationId xmlns:a16="http://schemas.microsoft.com/office/drawing/2014/main" id="{83747E40-07FF-2E48-C596-5589AE7FAE34}"/>
                </a:ext>
              </a:extLst>
            </p:cNvPr>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1" name="TextBox 11">
              <a:extLst>
                <a:ext uri="{FF2B5EF4-FFF2-40B4-BE49-F238E27FC236}">
                  <a16:creationId xmlns:a16="http://schemas.microsoft.com/office/drawing/2014/main" id="{C0A767A0-04DE-6D27-A9EA-0B428F0AB676}"/>
                </a:ext>
              </a:extLst>
            </p:cNvPr>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a:extLst>
              <a:ext uri="{FF2B5EF4-FFF2-40B4-BE49-F238E27FC236}">
                <a16:creationId xmlns:a16="http://schemas.microsoft.com/office/drawing/2014/main" id="{6B76C218-CB4A-1027-A021-16B95056742D}"/>
              </a:ext>
            </a:extLst>
          </p:cNvPr>
          <p:cNvGrpSpPr/>
          <p:nvPr/>
        </p:nvGrpSpPr>
        <p:grpSpPr>
          <a:xfrm>
            <a:off x="0" y="8017413"/>
            <a:ext cx="18232834" cy="1203348"/>
            <a:chOff x="0" y="0"/>
            <a:chExt cx="4977777" cy="328528"/>
          </a:xfrm>
        </p:grpSpPr>
        <p:sp>
          <p:nvSpPr>
            <p:cNvPr id="16" name="Freeform 16">
              <a:extLst>
                <a:ext uri="{FF2B5EF4-FFF2-40B4-BE49-F238E27FC236}">
                  <a16:creationId xmlns:a16="http://schemas.microsoft.com/office/drawing/2014/main" id="{39EC3DA4-A76E-1210-3B95-4B468815FE8D}"/>
                </a:ext>
              </a:extLst>
            </p:cNvPr>
            <p:cNvSpPr/>
            <p:nvPr/>
          </p:nvSpPr>
          <p:spPr>
            <a:xfrm>
              <a:off x="0" y="0"/>
              <a:ext cx="4977777" cy="328528"/>
            </a:xfrm>
            <a:custGeom>
              <a:avLst/>
              <a:gdLst/>
              <a:ahLst/>
              <a:cxnLst/>
              <a:rect l="l" t="t" r="r" b="b"/>
              <a:pathLst>
                <a:path w="4977777" h="328528">
                  <a:moveTo>
                    <a:pt x="21655" y="0"/>
                  </a:moveTo>
                  <a:lnTo>
                    <a:pt x="4956122" y="0"/>
                  </a:lnTo>
                  <a:cubicBezTo>
                    <a:pt x="4968081" y="0"/>
                    <a:pt x="4977777" y="9695"/>
                    <a:pt x="4977777" y="21655"/>
                  </a:cubicBezTo>
                  <a:lnTo>
                    <a:pt x="4977777" y="306873"/>
                  </a:lnTo>
                  <a:cubicBezTo>
                    <a:pt x="4977777" y="312616"/>
                    <a:pt x="4975495" y="318124"/>
                    <a:pt x="4971434" y="322185"/>
                  </a:cubicBezTo>
                  <a:cubicBezTo>
                    <a:pt x="4967373" y="326247"/>
                    <a:pt x="4961865" y="328528"/>
                    <a:pt x="4956122" y="328528"/>
                  </a:cubicBezTo>
                  <a:lnTo>
                    <a:pt x="21655" y="328528"/>
                  </a:lnTo>
                  <a:cubicBezTo>
                    <a:pt x="9695" y="328528"/>
                    <a:pt x="0" y="318833"/>
                    <a:pt x="0" y="306873"/>
                  </a:cubicBezTo>
                  <a:lnTo>
                    <a:pt x="0" y="21655"/>
                  </a:lnTo>
                  <a:cubicBezTo>
                    <a:pt x="0" y="15912"/>
                    <a:pt x="2282" y="10404"/>
                    <a:pt x="6343" y="6343"/>
                  </a:cubicBezTo>
                  <a:cubicBezTo>
                    <a:pt x="10404" y="2282"/>
                    <a:pt x="15912" y="0"/>
                    <a:pt x="21655" y="0"/>
                  </a:cubicBezTo>
                  <a:close/>
                </a:path>
              </a:pathLst>
            </a:custGeom>
            <a:solidFill>
              <a:srgbClr val="283396"/>
            </a:solidFill>
            <a:ln w="19050" cap="rnd">
              <a:solidFill>
                <a:srgbClr val="283396"/>
              </a:solidFill>
              <a:prstDash val="solid"/>
              <a:round/>
            </a:ln>
          </p:spPr>
        </p:sp>
        <p:sp>
          <p:nvSpPr>
            <p:cNvPr id="17" name="TextBox 17">
              <a:extLst>
                <a:ext uri="{FF2B5EF4-FFF2-40B4-BE49-F238E27FC236}">
                  <a16:creationId xmlns:a16="http://schemas.microsoft.com/office/drawing/2014/main" id="{4118D666-F24A-0660-7903-D36F1F84F435}"/>
                </a:ext>
              </a:extLst>
            </p:cNvPr>
            <p:cNvSpPr txBox="1"/>
            <p:nvPr/>
          </p:nvSpPr>
          <p:spPr>
            <a:xfrm>
              <a:off x="0" y="-38100"/>
              <a:ext cx="4977777" cy="366628"/>
            </a:xfrm>
            <a:prstGeom prst="rect">
              <a:avLst/>
            </a:prstGeom>
          </p:spPr>
          <p:txBody>
            <a:bodyPr lIns="50800" tIns="50800" rIns="50800" bIns="50800" rtlCol="0" anchor="ctr"/>
            <a:lstStyle/>
            <a:p>
              <a:pPr marL="0" lvl="0" indent="0" algn="ctr">
                <a:lnSpc>
                  <a:spcPts val="2659"/>
                </a:lnSpc>
              </a:pPr>
              <a:endParaRPr/>
            </a:p>
          </p:txBody>
        </p:sp>
      </p:grpSp>
      <p:sp>
        <p:nvSpPr>
          <p:cNvPr id="19" name="TextBox 19">
            <a:extLst>
              <a:ext uri="{FF2B5EF4-FFF2-40B4-BE49-F238E27FC236}">
                <a16:creationId xmlns:a16="http://schemas.microsoft.com/office/drawing/2014/main" id="{2FECB110-5640-4928-79FD-6155F8A3BAC5}"/>
              </a:ext>
            </a:extLst>
          </p:cNvPr>
          <p:cNvSpPr txBox="1"/>
          <p:nvPr/>
        </p:nvSpPr>
        <p:spPr>
          <a:xfrm>
            <a:off x="1350057" y="703130"/>
            <a:ext cx="2657415" cy="407218"/>
          </a:xfrm>
          <a:prstGeom prst="rect">
            <a:avLst/>
          </a:prstGeom>
        </p:spPr>
        <p:txBody>
          <a:bodyPr lIns="0" tIns="0" rIns="0" bIns="0" rtlCol="0" anchor="t">
            <a:spAutoFit/>
          </a:bodyPr>
          <a:lstStyle/>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PYTHON</a:t>
            </a:r>
          </a:p>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PROGRAMMING</a:t>
            </a:r>
          </a:p>
        </p:txBody>
      </p:sp>
      <p:sp>
        <p:nvSpPr>
          <p:cNvPr id="20" name="TextBox 20">
            <a:extLst>
              <a:ext uri="{FF2B5EF4-FFF2-40B4-BE49-F238E27FC236}">
                <a16:creationId xmlns:a16="http://schemas.microsoft.com/office/drawing/2014/main" id="{DE45BF3B-E75D-7555-B583-3BC8C7A504A3}"/>
              </a:ext>
            </a:extLst>
          </p:cNvPr>
          <p:cNvSpPr txBox="1"/>
          <p:nvPr/>
        </p:nvSpPr>
        <p:spPr>
          <a:xfrm>
            <a:off x="5337971" y="774825"/>
            <a:ext cx="1755559"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HOME</a:t>
            </a:r>
          </a:p>
        </p:txBody>
      </p:sp>
      <p:sp>
        <p:nvSpPr>
          <p:cNvPr id="21" name="TextBox 21">
            <a:extLst>
              <a:ext uri="{FF2B5EF4-FFF2-40B4-BE49-F238E27FC236}">
                <a16:creationId xmlns:a16="http://schemas.microsoft.com/office/drawing/2014/main" id="{8D6DD1C5-5615-3BAB-A1D2-7D8B46275C72}"/>
              </a:ext>
            </a:extLst>
          </p:cNvPr>
          <p:cNvSpPr txBox="1"/>
          <p:nvPr/>
        </p:nvSpPr>
        <p:spPr>
          <a:xfrm>
            <a:off x="7463217" y="774825"/>
            <a:ext cx="2013772"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ABOUT</a:t>
            </a:r>
          </a:p>
        </p:txBody>
      </p:sp>
      <p:sp>
        <p:nvSpPr>
          <p:cNvPr id="22" name="TextBox 22">
            <a:extLst>
              <a:ext uri="{FF2B5EF4-FFF2-40B4-BE49-F238E27FC236}">
                <a16:creationId xmlns:a16="http://schemas.microsoft.com/office/drawing/2014/main" id="{90FB2CCB-BD1A-0C3D-2383-6B14A45D0059}"/>
              </a:ext>
            </a:extLst>
          </p:cNvPr>
          <p:cNvSpPr txBox="1"/>
          <p:nvPr/>
        </p:nvSpPr>
        <p:spPr>
          <a:xfrm>
            <a:off x="9856201" y="774825"/>
            <a:ext cx="2024119" cy="273172"/>
          </a:xfrm>
          <a:prstGeom prst="rect">
            <a:avLst/>
          </a:prstGeom>
        </p:spPr>
        <p:txBody>
          <a:bodyPr lIns="0" tIns="0" rIns="0" bIns="0" rtlCol="0" anchor="t">
            <a:spAutoFit/>
          </a:bodyPr>
          <a:lstStyle/>
          <a:p>
            <a:pPr marL="0" lvl="0" indent="0" algn="ctr">
              <a:lnSpc>
                <a:spcPts val="2268"/>
              </a:lnSpc>
              <a:spcBef>
                <a:spcPct val="0"/>
              </a:spcBef>
            </a:pPr>
            <a:r>
              <a:rPr lang="en-US" sz="1620" b="1">
                <a:solidFill>
                  <a:srgbClr val="283396"/>
                </a:solidFill>
                <a:latin typeface="Montaser Arabic Bold"/>
                <a:ea typeface="Montaser Arabic Bold"/>
                <a:cs typeface="Montaser Arabic Bold"/>
                <a:sym typeface="Montaser Arabic Bold"/>
              </a:rPr>
              <a:t>CONTENT</a:t>
            </a:r>
          </a:p>
        </p:txBody>
      </p:sp>
      <p:sp>
        <p:nvSpPr>
          <p:cNvPr id="23" name="TextBox 23">
            <a:extLst>
              <a:ext uri="{FF2B5EF4-FFF2-40B4-BE49-F238E27FC236}">
                <a16:creationId xmlns:a16="http://schemas.microsoft.com/office/drawing/2014/main" id="{8D1464BC-D12F-3A44-CE32-104AC11AA25F}"/>
              </a:ext>
            </a:extLst>
          </p:cNvPr>
          <p:cNvSpPr txBox="1"/>
          <p:nvPr/>
        </p:nvSpPr>
        <p:spPr>
          <a:xfrm>
            <a:off x="12101593" y="774825"/>
            <a:ext cx="2349448"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OTHERS</a:t>
            </a:r>
          </a:p>
        </p:txBody>
      </p:sp>
      <p:sp>
        <p:nvSpPr>
          <p:cNvPr id="24" name="TextBox 24">
            <a:extLst>
              <a:ext uri="{FF2B5EF4-FFF2-40B4-BE49-F238E27FC236}">
                <a16:creationId xmlns:a16="http://schemas.microsoft.com/office/drawing/2014/main" id="{E82D5455-A75D-7342-DCB2-119DA9B15871}"/>
              </a:ext>
            </a:extLst>
          </p:cNvPr>
          <p:cNvSpPr txBox="1"/>
          <p:nvPr/>
        </p:nvSpPr>
        <p:spPr>
          <a:xfrm>
            <a:off x="1070596" y="1156493"/>
            <a:ext cx="12035804" cy="1085810"/>
          </a:xfrm>
          <a:prstGeom prst="rect">
            <a:avLst/>
          </a:prstGeom>
        </p:spPr>
        <p:txBody>
          <a:bodyPr wrap="square" lIns="0" tIns="0" rIns="0" bIns="0" rtlCol="0" anchor="t">
            <a:spAutoFit/>
          </a:bodyPr>
          <a:lstStyle/>
          <a:p>
            <a:pPr marL="0" lvl="0" indent="0">
              <a:lnSpc>
                <a:spcPts val="9628"/>
              </a:lnSpc>
            </a:pPr>
            <a:r>
              <a:rPr lang="en-US" sz="4800" b="1" dirty="0">
                <a:solidFill>
                  <a:srgbClr val="283396"/>
                </a:solidFill>
                <a:latin typeface="+mj-lt"/>
                <a:ea typeface="Agrandir Grand Bold"/>
                <a:cs typeface="Agrandir Grand Bold"/>
                <a:sym typeface="Agrandir Grand Bold"/>
              </a:rPr>
              <a:t>Python Program Execution Process</a:t>
            </a:r>
          </a:p>
        </p:txBody>
      </p:sp>
      <p:grpSp>
        <p:nvGrpSpPr>
          <p:cNvPr id="27" name="Group 27">
            <a:extLst>
              <a:ext uri="{FF2B5EF4-FFF2-40B4-BE49-F238E27FC236}">
                <a16:creationId xmlns:a16="http://schemas.microsoft.com/office/drawing/2014/main" id="{E0015CFB-A9B4-4063-E7BC-F09773795DB9}"/>
              </a:ext>
            </a:extLst>
          </p:cNvPr>
          <p:cNvGrpSpPr/>
          <p:nvPr/>
        </p:nvGrpSpPr>
        <p:grpSpPr>
          <a:xfrm>
            <a:off x="1131988" y="6872292"/>
            <a:ext cx="2119546" cy="627805"/>
            <a:chOff x="0" y="0"/>
            <a:chExt cx="558234" cy="165348"/>
          </a:xfrm>
        </p:grpSpPr>
        <p:sp>
          <p:nvSpPr>
            <p:cNvPr id="28" name="Freeform 28">
              <a:extLst>
                <a:ext uri="{FF2B5EF4-FFF2-40B4-BE49-F238E27FC236}">
                  <a16:creationId xmlns:a16="http://schemas.microsoft.com/office/drawing/2014/main" id="{650313D0-51A0-6690-389F-05D3BF119C58}"/>
                </a:ext>
              </a:extLst>
            </p:cNvPr>
            <p:cNvSpPr/>
            <p:nvPr/>
          </p:nvSpPr>
          <p:spPr>
            <a:xfrm>
              <a:off x="0" y="0"/>
              <a:ext cx="558234" cy="165348"/>
            </a:xfrm>
            <a:custGeom>
              <a:avLst/>
              <a:gdLst/>
              <a:ahLst/>
              <a:cxnLst/>
              <a:rect l="l" t="t" r="r" b="b"/>
              <a:pathLst>
                <a:path w="558234" h="165348">
                  <a:moveTo>
                    <a:pt x="82674" y="0"/>
                  </a:moveTo>
                  <a:lnTo>
                    <a:pt x="475560" y="0"/>
                  </a:lnTo>
                  <a:cubicBezTo>
                    <a:pt x="521220" y="0"/>
                    <a:pt x="558234" y="37014"/>
                    <a:pt x="558234" y="82674"/>
                  </a:cubicBezTo>
                  <a:lnTo>
                    <a:pt x="558234" y="82674"/>
                  </a:lnTo>
                  <a:cubicBezTo>
                    <a:pt x="558234" y="104600"/>
                    <a:pt x="549524" y="125629"/>
                    <a:pt x="534020" y="141133"/>
                  </a:cubicBezTo>
                  <a:cubicBezTo>
                    <a:pt x="518515" y="156638"/>
                    <a:pt x="497487" y="165348"/>
                    <a:pt x="475560" y="165348"/>
                  </a:cubicBezTo>
                  <a:lnTo>
                    <a:pt x="82674" y="165348"/>
                  </a:lnTo>
                  <a:cubicBezTo>
                    <a:pt x="37014" y="165348"/>
                    <a:pt x="0" y="128334"/>
                    <a:pt x="0" y="82674"/>
                  </a:cubicBezTo>
                  <a:lnTo>
                    <a:pt x="0" y="82674"/>
                  </a:lnTo>
                  <a:cubicBezTo>
                    <a:pt x="0" y="37014"/>
                    <a:pt x="37014" y="0"/>
                    <a:pt x="82674" y="0"/>
                  </a:cubicBezTo>
                  <a:close/>
                </a:path>
              </a:pathLst>
            </a:custGeom>
            <a:solidFill>
              <a:srgbClr val="D43838"/>
            </a:solidFill>
            <a:ln cap="rnd">
              <a:noFill/>
              <a:prstDash val="solid"/>
              <a:round/>
            </a:ln>
          </p:spPr>
        </p:sp>
        <p:sp>
          <p:nvSpPr>
            <p:cNvPr id="29" name="TextBox 29">
              <a:extLst>
                <a:ext uri="{FF2B5EF4-FFF2-40B4-BE49-F238E27FC236}">
                  <a16:creationId xmlns:a16="http://schemas.microsoft.com/office/drawing/2014/main" id="{B338B69A-A749-530E-BEB4-943EABA93FD1}"/>
                </a:ext>
              </a:extLst>
            </p:cNvPr>
            <p:cNvSpPr txBox="1"/>
            <p:nvPr/>
          </p:nvSpPr>
          <p:spPr>
            <a:xfrm>
              <a:off x="0" y="-28575"/>
              <a:ext cx="558234" cy="193923"/>
            </a:xfrm>
            <a:prstGeom prst="rect">
              <a:avLst/>
            </a:prstGeom>
          </p:spPr>
          <p:txBody>
            <a:bodyPr lIns="50800" tIns="50800" rIns="50800" bIns="50800" rtlCol="0" anchor="ctr"/>
            <a:lstStyle/>
            <a:p>
              <a:pPr marL="0" lvl="0" indent="0" algn="ctr">
                <a:lnSpc>
                  <a:spcPts val="2268"/>
                </a:lnSpc>
              </a:pPr>
              <a:r>
                <a:rPr lang="en-US" sz="1620" b="1">
                  <a:solidFill>
                    <a:srgbClr val="FFFFFF"/>
                  </a:solidFill>
                  <a:latin typeface="Montaser Arabic Bold"/>
                  <a:ea typeface="Montaser Arabic Bold"/>
                  <a:cs typeface="Montaser Arabic Bold"/>
                  <a:sym typeface="Montaser Arabic Bold"/>
                </a:rPr>
                <a:t>NEXT SLIDE</a:t>
              </a:r>
            </a:p>
          </p:txBody>
        </p:sp>
      </p:grpSp>
      <p:grpSp>
        <p:nvGrpSpPr>
          <p:cNvPr id="30" name="Group 30">
            <a:extLst>
              <a:ext uri="{FF2B5EF4-FFF2-40B4-BE49-F238E27FC236}">
                <a16:creationId xmlns:a16="http://schemas.microsoft.com/office/drawing/2014/main" id="{95860887-ECA5-15C8-CE97-FE07A29F66FC}"/>
              </a:ext>
            </a:extLst>
          </p:cNvPr>
          <p:cNvGrpSpPr/>
          <p:nvPr/>
        </p:nvGrpSpPr>
        <p:grpSpPr>
          <a:xfrm>
            <a:off x="16115510" y="3182866"/>
            <a:ext cx="1513917" cy="1513917"/>
            <a:chOff x="0" y="0"/>
            <a:chExt cx="812800" cy="812800"/>
          </a:xfrm>
        </p:grpSpPr>
        <p:sp>
          <p:nvSpPr>
            <p:cNvPr id="31" name="Freeform 31">
              <a:extLst>
                <a:ext uri="{FF2B5EF4-FFF2-40B4-BE49-F238E27FC236}">
                  <a16:creationId xmlns:a16="http://schemas.microsoft.com/office/drawing/2014/main" id="{9250E7B4-DBEC-3B52-CF43-737EEC58065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32" name="TextBox 32">
              <a:extLst>
                <a:ext uri="{FF2B5EF4-FFF2-40B4-BE49-F238E27FC236}">
                  <a16:creationId xmlns:a16="http://schemas.microsoft.com/office/drawing/2014/main" id="{3A3C3F9A-E80E-D5F5-7670-2FD51D9DEF74}"/>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33" name="Group 33">
            <a:extLst>
              <a:ext uri="{FF2B5EF4-FFF2-40B4-BE49-F238E27FC236}">
                <a16:creationId xmlns:a16="http://schemas.microsoft.com/office/drawing/2014/main" id="{1EED388F-B880-2E1D-09F3-C1BF053DD0E8}"/>
              </a:ext>
            </a:extLst>
          </p:cNvPr>
          <p:cNvGrpSpPr/>
          <p:nvPr/>
        </p:nvGrpSpPr>
        <p:grpSpPr>
          <a:xfrm>
            <a:off x="16443851" y="3535019"/>
            <a:ext cx="857235" cy="809611"/>
            <a:chOff x="0" y="0"/>
            <a:chExt cx="685800" cy="647700"/>
          </a:xfrm>
        </p:grpSpPr>
        <p:sp>
          <p:nvSpPr>
            <p:cNvPr id="34" name="Freeform 34">
              <a:extLst>
                <a:ext uri="{FF2B5EF4-FFF2-40B4-BE49-F238E27FC236}">
                  <a16:creationId xmlns:a16="http://schemas.microsoft.com/office/drawing/2014/main" id="{08CFA69E-9CE9-9B48-C950-38DCC8F453FC}"/>
                </a:ext>
              </a:extLst>
            </p:cNvPr>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35" name="TextBox 35">
              <a:extLst>
                <a:ext uri="{FF2B5EF4-FFF2-40B4-BE49-F238E27FC236}">
                  <a16:creationId xmlns:a16="http://schemas.microsoft.com/office/drawing/2014/main" id="{CB50381E-2C44-E15B-8C88-F7FAC022ED43}"/>
                </a:ext>
              </a:extLst>
            </p:cNvPr>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sp>
        <p:nvSpPr>
          <p:cNvPr id="12" name="TextBox 11">
            <a:extLst>
              <a:ext uri="{FF2B5EF4-FFF2-40B4-BE49-F238E27FC236}">
                <a16:creationId xmlns:a16="http://schemas.microsoft.com/office/drawing/2014/main" id="{EE97FCC2-5ECE-5AE1-9B43-BD6C44A700A8}"/>
              </a:ext>
            </a:extLst>
          </p:cNvPr>
          <p:cNvSpPr txBox="1"/>
          <p:nvPr/>
        </p:nvSpPr>
        <p:spPr>
          <a:xfrm>
            <a:off x="1057896" y="2774171"/>
            <a:ext cx="14182104" cy="3108543"/>
          </a:xfrm>
          <a:prstGeom prst="rect">
            <a:avLst/>
          </a:prstGeom>
          <a:noFill/>
        </p:spPr>
        <p:txBody>
          <a:bodyPr wrap="square">
            <a:spAutoFit/>
          </a:bodyPr>
          <a:lstStyle/>
          <a:p>
            <a:pPr>
              <a:buNone/>
            </a:pPr>
            <a:r>
              <a:rPr lang="en-US" sz="2800" b="1" dirty="0">
                <a:solidFill>
                  <a:srgbClr val="283396"/>
                </a:solidFill>
              </a:rPr>
              <a:t>Step 1 — Source Code: Write your Python code in a .py file using any text editor or IDE. This human-readable code contains your program logic and instructions.</a:t>
            </a:r>
          </a:p>
          <a:p>
            <a:pPr>
              <a:buNone/>
            </a:pPr>
            <a:endParaRPr lang="en-US" sz="2800" b="1" dirty="0">
              <a:solidFill>
                <a:srgbClr val="283396"/>
              </a:solidFill>
            </a:endParaRPr>
          </a:p>
          <a:p>
            <a:pPr>
              <a:buNone/>
            </a:pPr>
            <a:r>
              <a:rPr lang="en-US" sz="2800" b="1" dirty="0">
                <a:solidFill>
                  <a:srgbClr val="283396"/>
                </a:solidFill>
              </a:rPr>
              <a:t>Step 2 — Compilation: Python compiles source code to bytecode (.pyc files stored in __pycache__). The PVM then interprets and executes instructions line-by-line, producing your output. </a:t>
            </a:r>
          </a:p>
          <a:p>
            <a:pPr>
              <a:buNone/>
            </a:pPr>
            <a:r>
              <a:rPr lang="en-US" sz="2800" b="1" dirty="0">
                <a:solidFill>
                  <a:srgbClr val="283396"/>
                </a:solidFill>
              </a:rPr>
              <a:t>Flow: .py File → Compiler → .pyc Bytecode → PVM → Machine Code → Result.</a:t>
            </a:r>
          </a:p>
        </p:txBody>
      </p:sp>
    </p:spTree>
    <p:extLst>
      <p:ext uri="{BB962C8B-B14F-4D97-AF65-F5344CB8AC3E}">
        <p14:creationId xmlns:p14="http://schemas.microsoft.com/office/powerpoint/2010/main" val="14044833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B186B-06D4-846C-B784-7CAAA33766A0}"/>
            </a:ext>
          </a:extLst>
        </p:cNvPr>
        <p:cNvGrpSpPr/>
        <p:nvPr/>
      </p:nvGrpSpPr>
      <p:grpSpPr>
        <a:xfrm>
          <a:off x="0" y="0"/>
          <a:ext cx="0" cy="0"/>
          <a:chOff x="0" y="0"/>
          <a:chExt cx="0" cy="0"/>
        </a:xfrm>
      </p:grpSpPr>
      <p:sp>
        <p:nvSpPr>
          <p:cNvPr id="3" name="Freeform 3">
            <a:extLst>
              <a:ext uri="{FF2B5EF4-FFF2-40B4-BE49-F238E27FC236}">
                <a16:creationId xmlns:a16="http://schemas.microsoft.com/office/drawing/2014/main" id="{E0F84B5E-E5DC-61A8-C395-221FFA8583C7}"/>
              </a:ext>
            </a:extLst>
          </p:cNvPr>
          <p:cNvSpPr/>
          <p:nvPr/>
        </p:nvSpPr>
        <p:spPr>
          <a:xfrm>
            <a:off x="-427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AutoShape 4">
            <a:extLst>
              <a:ext uri="{FF2B5EF4-FFF2-40B4-BE49-F238E27FC236}">
                <a16:creationId xmlns:a16="http://schemas.microsoft.com/office/drawing/2014/main" id="{15D67664-A861-B02B-DE07-3E458F67B98A}"/>
              </a:ext>
            </a:extLst>
          </p:cNvPr>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5" name="Freeform 5">
            <a:extLst>
              <a:ext uri="{FF2B5EF4-FFF2-40B4-BE49-F238E27FC236}">
                <a16:creationId xmlns:a16="http://schemas.microsoft.com/office/drawing/2014/main" id="{2A2D2DD5-7277-3368-C21E-45549117E528}"/>
              </a:ext>
            </a:extLst>
          </p:cNvPr>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6" name="Group 6">
            <a:extLst>
              <a:ext uri="{FF2B5EF4-FFF2-40B4-BE49-F238E27FC236}">
                <a16:creationId xmlns:a16="http://schemas.microsoft.com/office/drawing/2014/main" id="{55603367-3214-22CE-AC84-FEBD04F0F418}"/>
              </a:ext>
            </a:extLst>
          </p:cNvPr>
          <p:cNvGrpSpPr/>
          <p:nvPr/>
        </p:nvGrpSpPr>
        <p:grpSpPr>
          <a:xfrm>
            <a:off x="1085850" y="665030"/>
            <a:ext cx="92277" cy="524320"/>
            <a:chOff x="0" y="0"/>
            <a:chExt cx="24303" cy="138092"/>
          </a:xfrm>
        </p:grpSpPr>
        <p:sp>
          <p:nvSpPr>
            <p:cNvPr id="7" name="Freeform 7">
              <a:extLst>
                <a:ext uri="{FF2B5EF4-FFF2-40B4-BE49-F238E27FC236}">
                  <a16:creationId xmlns:a16="http://schemas.microsoft.com/office/drawing/2014/main" id="{92C959B3-0402-7342-D2F2-0A8B4359A6E5}"/>
                </a:ext>
              </a:extLst>
            </p:cNvPr>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8" name="TextBox 8">
              <a:extLst>
                <a:ext uri="{FF2B5EF4-FFF2-40B4-BE49-F238E27FC236}">
                  <a16:creationId xmlns:a16="http://schemas.microsoft.com/office/drawing/2014/main" id="{3402A84A-5B8F-B3CB-E39F-CE33F4628614}"/>
                </a:ext>
              </a:extLst>
            </p:cNvPr>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9" name="Group 9">
            <a:extLst>
              <a:ext uri="{FF2B5EF4-FFF2-40B4-BE49-F238E27FC236}">
                <a16:creationId xmlns:a16="http://schemas.microsoft.com/office/drawing/2014/main" id="{881B50B0-E56E-31B4-109C-02F53C80F2B0}"/>
              </a:ext>
            </a:extLst>
          </p:cNvPr>
          <p:cNvGrpSpPr/>
          <p:nvPr/>
        </p:nvGrpSpPr>
        <p:grpSpPr>
          <a:xfrm>
            <a:off x="10328121" y="1359977"/>
            <a:ext cx="1080278" cy="106932"/>
            <a:chOff x="0" y="0"/>
            <a:chExt cx="284518" cy="28163"/>
          </a:xfrm>
        </p:grpSpPr>
        <p:sp>
          <p:nvSpPr>
            <p:cNvPr id="10" name="Freeform 10">
              <a:extLst>
                <a:ext uri="{FF2B5EF4-FFF2-40B4-BE49-F238E27FC236}">
                  <a16:creationId xmlns:a16="http://schemas.microsoft.com/office/drawing/2014/main" id="{085824AB-A8FF-B1CF-5110-83FA4591B7C4}"/>
                </a:ext>
              </a:extLst>
            </p:cNvPr>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1" name="TextBox 11">
              <a:extLst>
                <a:ext uri="{FF2B5EF4-FFF2-40B4-BE49-F238E27FC236}">
                  <a16:creationId xmlns:a16="http://schemas.microsoft.com/office/drawing/2014/main" id="{F2DF1CDF-B1C6-8923-D666-C68ACF1230FC}"/>
                </a:ext>
              </a:extLst>
            </p:cNvPr>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a:extLst>
              <a:ext uri="{FF2B5EF4-FFF2-40B4-BE49-F238E27FC236}">
                <a16:creationId xmlns:a16="http://schemas.microsoft.com/office/drawing/2014/main" id="{38F40AA4-6DB5-DBA2-7706-830A1370FABD}"/>
              </a:ext>
            </a:extLst>
          </p:cNvPr>
          <p:cNvGrpSpPr/>
          <p:nvPr/>
        </p:nvGrpSpPr>
        <p:grpSpPr>
          <a:xfrm>
            <a:off x="55166" y="8982196"/>
            <a:ext cx="18232834" cy="1203348"/>
            <a:chOff x="0" y="0"/>
            <a:chExt cx="4977777" cy="328528"/>
          </a:xfrm>
        </p:grpSpPr>
        <p:sp>
          <p:nvSpPr>
            <p:cNvPr id="16" name="Freeform 16">
              <a:extLst>
                <a:ext uri="{FF2B5EF4-FFF2-40B4-BE49-F238E27FC236}">
                  <a16:creationId xmlns:a16="http://schemas.microsoft.com/office/drawing/2014/main" id="{ABE26738-14D4-7C9C-9DAB-2CDF3B470136}"/>
                </a:ext>
              </a:extLst>
            </p:cNvPr>
            <p:cNvSpPr/>
            <p:nvPr/>
          </p:nvSpPr>
          <p:spPr>
            <a:xfrm>
              <a:off x="0" y="0"/>
              <a:ext cx="4977777" cy="328528"/>
            </a:xfrm>
            <a:custGeom>
              <a:avLst/>
              <a:gdLst/>
              <a:ahLst/>
              <a:cxnLst/>
              <a:rect l="l" t="t" r="r" b="b"/>
              <a:pathLst>
                <a:path w="4977777" h="328528">
                  <a:moveTo>
                    <a:pt x="21655" y="0"/>
                  </a:moveTo>
                  <a:lnTo>
                    <a:pt x="4956122" y="0"/>
                  </a:lnTo>
                  <a:cubicBezTo>
                    <a:pt x="4968081" y="0"/>
                    <a:pt x="4977777" y="9695"/>
                    <a:pt x="4977777" y="21655"/>
                  </a:cubicBezTo>
                  <a:lnTo>
                    <a:pt x="4977777" y="306873"/>
                  </a:lnTo>
                  <a:cubicBezTo>
                    <a:pt x="4977777" y="312616"/>
                    <a:pt x="4975495" y="318124"/>
                    <a:pt x="4971434" y="322185"/>
                  </a:cubicBezTo>
                  <a:cubicBezTo>
                    <a:pt x="4967373" y="326247"/>
                    <a:pt x="4961865" y="328528"/>
                    <a:pt x="4956122" y="328528"/>
                  </a:cubicBezTo>
                  <a:lnTo>
                    <a:pt x="21655" y="328528"/>
                  </a:lnTo>
                  <a:cubicBezTo>
                    <a:pt x="9695" y="328528"/>
                    <a:pt x="0" y="318833"/>
                    <a:pt x="0" y="306873"/>
                  </a:cubicBezTo>
                  <a:lnTo>
                    <a:pt x="0" y="21655"/>
                  </a:lnTo>
                  <a:cubicBezTo>
                    <a:pt x="0" y="15912"/>
                    <a:pt x="2282" y="10404"/>
                    <a:pt x="6343" y="6343"/>
                  </a:cubicBezTo>
                  <a:cubicBezTo>
                    <a:pt x="10404" y="2282"/>
                    <a:pt x="15912" y="0"/>
                    <a:pt x="21655" y="0"/>
                  </a:cubicBezTo>
                  <a:close/>
                </a:path>
              </a:pathLst>
            </a:custGeom>
            <a:solidFill>
              <a:srgbClr val="283396"/>
            </a:solidFill>
            <a:ln w="19050" cap="rnd">
              <a:solidFill>
                <a:srgbClr val="283396"/>
              </a:solidFill>
              <a:prstDash val="solid"/>
              <a:round/>
            </a:ln>
          </p:spPr>
        </p:sp>
        <p:sp>
          <p:nvSpPr>
            <p:cNvPr id="17" name="TextBox 17">
              <a:extLst>
                <a:ext uri="{FF2B5EF4-FFF2-40B4-BE49-F238E27FC236}">
                  <a16:creationId xmlns:a16="http://schemas.microsoft.com/office/drawing/2014/main" id="{222B4984-F898-6869-A6DD-1B391ADB3058}"/>
                </a:ext>
              </a:extLst>
            </p:cNvPr>
            <p:cNvSpPr txBox="1"/>
            <p:nvPr/>
          </p:nvSpPr>
          <p:spPr>
            <a:xfrm>
              <a:off x="0" y="-38100"/>
              <a:ext cx="4977777" cy="366628"/>
            </a:xfrm>
            <a:prstGeom prst="rect">
              <a:avLst/>
            </a:prstGeom>
          </p:spPr>
          <p:txBody>
            <a:bodyPr lIns="50800" tIns="50800" rIns="50800" bIns="50800" rtlCol="0" anchor="ctr"/>
            <a:lstStyle/>
            <a:p>
              <a:pPr marL="0" lvl="0" indent="0" algn="ctr">
                <a:lnSpc>
                  <a:spcPts val="2659"/>
                </a:lnSpc>
              </a:pPr>
              <a:endParaRPr/>
            </a:p>
          </p:txBody>
        </p:sp>
      </p:grpSp>
      <p:sp>
        <p:nvSpPr>
          <p:cNvPr id="19" name="TextBox 19">
            <a:extLst>
              <a:ext uri="{FF2B5EF4-FFF2-40B4-BE49-F238E27FC236}">
                <a16:creationId xmlns:a16="http://schemas.microsoft.com/office/drawing/2014/main" id="{9A8B82D3-7C10-9890-B34B-99AD6303E27C}"/>
              </a:ext>
            </a:extLst>
          </p:cNvPr>
          <p:cNvSpPr txBox="1"/>
          <p:nvPr/>
        </p:nvSpPr>
        <p:spPr>
          <a:xfrm>
            <a:off x="1350057" y="703130"/>
            <a:ext cx="2657415" cy="407218"/>
          </a:xfrm>
          <a:prstGeom prst="rect">
            <a:avLst/>
          </a:prstGeom>
        </p:spPr>
        <p:txBody>
          <a:bodyPr lIns="0" tIns="0" rIns="0" bIns="0" rtlCol="0" anchor="t">
            <a:spAutoFit/>
          </a:bodyPr>
          <a:lstStyle/>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PYTHON</a:t>
            </a:r>
          </a:p>
          <a:p>
            <a:pPr marL="0" lvl="0" indent="0" algn="l">
              <a:lnSpc>
                <a:spcPts val="1587"/>
              </a:lnSpc>
            </a:pPr>
            <a:r>
              <a:rPr lang="en-US" sz="1620" b="1" spc="-98">
                <a:solidFill>
                  <a:srgbClr val="283396"/>
                </a:solidFill>
                <a:latin typeface="Montaser Arabic Bold"/>
                <a:ea typeface="Montaser Arabic Bold"/>
                <a:cs typeface="Montaser Arabic Bold"/>
                <a:sym typeface="Montaser Arabic Bold"/>
              </a:rPr>
              <a:t>PROGRAMMING</a:t>
            </a:r>
          </a:p>
        </p:txBody>
      </p:sp>
      <p:sp>
        <p:nvSpPr>
          <p:cNvPr id="20" name="TextBox 20">
            <a:extLst>
              <a:ext uri="{FF2B5EF4-FFF2-40B4-BE49-F238E27FC236}">
                <a16:creationId xmlns:a16="http://schemas.microsoft.com/office/drawing/2014/main" id="{30EF7F5E-6422-59EA-5573-B4FBCC90EBFC}"/>
              </a:ext>
            </a:extLst>
          </p:cNvPr>
          <p:cNvSpPr txBox="1"/>
          <p:nvPr/>
        </p:nvSpPr>
        <p:spPr>
          <a:xfrm>
            <a:off x="5337971" y="774825"/>
            <a:ext cx="1755559"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HOME</a:t>
            </a:r>
          </a:p>
        </p:txBody>
      </p:sp>
      <p:sp>
        <p:nvSpPr>
          <p:cNvPr id="21" name="TextBox 21">
            <a:extLst>
              <a:ext uri="{FF2B5EF4-FFF2-40B4-BE49-F238E27FC236}">
                <a16:creationId xmlns:a16="http://schemas.microsoft.com/office/drawing/2014/main" id="{3D1B984F-CF31-2710-515F-BB26FF46428C}"/>
              </a:ext>
            </a:extLst>
          </p:cNvPr>
          <p:cNvSpPr txBox="1"/>
          <p:nvPr/>
        </p:nvSpPr>
        <p:spPr>
          <a:xfrm>
            <a:off x="7463217" y="774825"/>
            <a:ext cx="2013772"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ABOUT</a:t>
            </a:r>
          </a:p>
        </p:txBody>
      </p:sp>
      <p:sp>
        <p:nvSpPr>
          <p:cNvPr id="22" name="TextBox 22">
            <a:extLst>
              <a:ext uri="{FF2B5EF4-FFF2-40B4-BE49-F238E27FC236}">
                <a16:creationId xmlns:a16="http://schemas.microsoft.com/office/drawing/2014/main" id="{9B40B6F4-698E-3A2A-22AA-ECB91BC028D2}"/>
              </a:ext>
            </a:extLst>
          </p:cNvPr>
          <p:cNvSpPr txBox="1"/>
          <p:nvPr/>
        </p:nvSpPr>
        <p:spPr>
          <a:xfrm>
            <a:off x="9856201" y="774825"/>
            <a:ext cx="2024119" cy="273172"/>
          </a:xfrm>
          <a:prstGeom prst="rect">
            <a:avLst/>
          </a:prstGeom>
        </p:spPr>
        <p:txBody>
          <a:bodyPr lIns="0" tIns="0" rIns="0" bIns="0" rtlCol="0" anchor="t">
            <a:spAutoFit/>
          </a:bodyPr>
          <a:lstStyle/>
          <a:p>
            <a:pPr marL="0" lvl="0" indent="0" algn="ctr">
              <a:lnSpc>
                <a:spcPts val="2268"/>
              </a:lnSpc>
              <a:spcBef>
                <a:spcPct val="0"/>
              </a:spcBef>
            </a:pPr>
            <a:r>
              <a:rPr lang="en-US" sz="1620" b="1">
                <a:solidFill>
                  <a:srgbClr val="283396"/>
                </a:solidFill>
                <a:latin typeface="Montaser Arabic Bold"/>
                <a:ea typeface="Montaser Arabic Bold"/>
                <a:cs typeface="Montaser Arabic Bold"/>
                <a:sym typeface="Montaser Arabic Bold"/>
              </a:rPr>
              <a:t>CONTENT</a:t>
            </a:r>
          </a:p>
        </p:txBody>
      </p:sp>
      <p:sp>
        <p:nvSpPr>
          <p:cNvPr id="23" name="TextBox 23">
            <a:extLst>
              <a:ext uri="{FF2B5EF4-FFF2-40B4-BE49-F238E27FC236}">
                <a16:creationId xmlns:a16="http://schemas.microsoft.com/office/drawing/2014/main" id="{78792B47-6F25-1E1D-A8F2-7B9930CDB95B}"/>
              </a:ext>
            </a:extLst>
          </p:cNvPr>
          <p:cNvSpPr txBox="1"/>
          <p:nvPr/>
        </p:nvSpPr>
        <p:spPr>
          <a:xfrm>
            <a:off x="12101593" y="774825"/>
            <a:ext cx="2349448" cy="273172"/>
          </a:xfrm>
          <a:prstGeom prst="rect">
            <a:avLst/>
          </a:prstGeom>
        </p:spPr>
        <p:txBody>
          <a:bodyPr lIns="0" tIns="0" rIns="0" bIns="0" rtlCol="0" anchor="t">
            <a:spAutoFit/>
          </a:bodyPr>
          <a:lstStyle/>
          <a:p>
            <a:pPr marL="0" lvl="0" indent="0" algn="ctr">
              <a:lnSpc>
                <a:spcPts val="2268"/>
              </a:lnSpc>
              <a:spcBef>
                <a:spcPct val="0"/>
              </a:spcBef>
            </a:pPr>
            <a:r>
              <a:rPr lang="en-US" sz="1620">
                <a:solidFill>
                  <a:srgbClr val="283396"/>
                </a:solidFill>
                <a:latin typeface="Montaser Arabic"/>
                <a:ea typeface="Montaser Arabic"/>
                <a:cs typeface="Montaser Arabic"/>
                <a:sym typeface="Montaser Arabic"/>
              </a:rPr>
              <a:t>OTHERS</a:t>
            </a:r>
          </a:p>
        </p:txBody>
      </p:sp>
      <p:sp>
        <p:nvSpPr>
          <p:cNvPr id="24" name="TextBox 24">
            <a:extLst>
              <a:ext uri="{FF2B5EF4-FFF2-40B4-BE49-F238E27FC236}">
                <a16:creationId xmlns:a16="http://schemas.microsoft.com/office/drawing/2014/main" id="{0EEB8EC9-65FE-C03F-C325-FF6688CE5B7D}"/>
              </a:ext>
            </a:extLst>
          </p:cNvPr>
          <p:cNvSpPr txBox="1"/>
          <p:nvPr/>
        </p:nvSpPr>
        <p:spPr>
          <a:xfrm>
            <a:off x="1070596" y="1156493"/>
            <a:ext cx="12035804" cy="1085810"/>
          </a:xfrm>
          <a:prstGeom prst="rect">
            <a:avLst/>
          </a:prstGeom>
        </p:spPr>
        <p:txBody>
          <a:bodyPr wrap="square" lIns="0" tIns="0" rIns="0" bIns="0" rtlCol="0" anchor="t">
            <a:spAutoFit/>
          </a:bodyPr>
          <a:lstStyle/>
          <a:p>
            <a:pPr marL="0" lvl="0" indent="0">
              <a:lnSpc>
                <a:spcPts val="9628"/>
              </a:lnSpc>
            </a:pPr>
            <a:r>
              <a:rPr lang="en-US" sz="4800" b="1" dirty="0">
                <a:solidFill>
                  <a:srgbClr val="283396"/>
                </a:solidFill>
                <a:latin typeface="+mj-lt"/>
                <a:ea typeface="Agrandir Grand Bold"/>
                <a:cs typeface="Agrandir Grand Bold"/>
                <a:sym typeface="Agrandir Grand Bold"/>
              </a:rPr>
              <a:t>Python Program Execution Process</a:t>
            </a:r>
          </a:p>
        </p:txBody>
      </p:sp>
      <p:grpSp>
        <p:nvGrpSpPr>
          <p:cNvPr id="27" name="Group 27">
            <a:extLst>
              <a:ext uri="{FF2B5EF4-FFF2-40B4-BE49-F238E27FC236}">
                <a16:creationId xmlns:a16="http://schemas.microsoft.com/office/drawing/2014/main" id="{0121C0B7-447B-DB49-1975-5D2ED1B52CA3}"/>
              </a:ext>
            </a:extLst>
          </p:cNvPr>
          <p:cNvGrpSpPr/>
          <p:nvPr/>
        </p:nvGrpSpPr>
        <p:grpSpPr>
          <a:xfrm>
            <a:off x="1131988" y="6872292"/>
            <a:ext cx="2119546" cy="627805"/>
            <a:chOff x="0" y="0"/>
            <a:chExt cx="558234" cy="165348"/>
          </a:xfrm>
        </p:grpSpPr>
        <p:sp>
          <p:nvSpPr>
            <p:cNvPr id="28" name="Freeform 28">
              <a:extLst>
                <a:ext uri="{FF2B5EF4-FFF2-40B4-BE49-F238E27FC236}">
                  <a16:creationId xmlns:a16="http://schemas.microsoft.com/office/drawing/2014/main" id="{C591A3F9-F721-26E8-DA5E-276628372603}"/>
                </a:ext>
              </a:extLst>
            </p:cNvPr>
            <p:cNvSpPr/>
            <p:nvPr/>
          </p:nvSpPr>
          <p:spPr>
            <a:xfrm>
              <a:off x="0" y="0"/>
              <a:ext cx="558234" cy="165348"/>
            </a:xfrm>
            <a:custGeom>
              <a:avLst/>
              <a:gdLst/>
              <a:ahLst/>
              <a:cxnLst/>
              <a:rect l="l" t="t" r="r" b="b"/>
              <a:pathLst>
                <a:path w="558234" h="165348">
                  <a:moveTo>
                    <a:pt x="82674" y="0"/>
                  </a:moveTo>
                  <a:lnTo>
                    <a:pt x="475560" y="0"/>
                  </a:lnTo>
                  <a:cubicBezTo>
                    <a:pt x="521220" y="0"/>
                    <a:pt x="558234" y="37014"/>
                    <a:pt x="558234" y="82674"/>
                  </a:cubicBezTo>
                  <a:lnTo>
                    <a:pt x="558234" y="82674"/>
                  </a:lnTo>
                  <a:cubicBezTo>
                    <a:pt x="558234" y="104600"/>
                    <a:pt x="549524" y="125629"/>
                    <a:pt x="534020" y="141133"/>
                  </a:cubicBezTo>
                  <a:cubicBezTo>
                    <a:pt x="518515" y="156638"/>
                    <a:pt x="497487" y="165348"/>
                    <a:pt x="475560" y="165348"/>
                  </a:cubicBezTo>
                  <a:lnTo>
                    <a:pt x="82674" y="165348"/>
                  </a:lnTo>
                  <a:cubicBezTo>
                    <a:pt x="37014" y="165348"/>
                    <a:pt x="0" y="128334"/>
                    <a:pt x="0" y="82674"/>
                  </a:cubicBezTo>
                  <a:lnTo>
                    <a:pt x="0" y="82674"/>
                  </a:lnTo>
                  <a:cubicBezTo>
                    <a:pt x="0" y="37014"/>
                    <a:pt x="37014" y="0"/>
                    <a:pt x="82674" y="0"/>
                  </a:cubicBezTo>
                  <a:close/>
                </a:path>
              </a:pathLst>
            </a:custGeom>
            <a:solidFill>
              <a:srgbClr val="D43838"/>
            </a:solidFill>
            <a:ln cap="rnd">
              <a:noFill/>
              <a:prstDash val="solid"/>
              <a:round/>
            </a:ln>
          </p:spPr>
        </p:sp>
        <p:sp>
          <p:nvSpPr>
            <p:cNvPr id="29" name="TextBox 29">
              <a:extLst>
                <a:ext uri="{FF2B5EF4-FFF2-40B4-BE49-F238E27FC236}">
                  <a16:creationId xmlns:a16="http://schemas.microsoft.com/office/drawing/2014/main" id="{00021816-3C34-E014-E87E-5A32520E4F5E}"/>
                </a:ext>
              </a:extLst>
            </p:cNvPr>
            <p:cNvSpPr txBox="1"/>
            <p:nvPr/>
          </p:nvSpPr>
          <p:spPr>
            <a:xfrm>
              <a:off x="0" y="-28575"/>
              <a:ext cx="558234" cy="193923"/>
            </a:xfrm>
            <a:prstGeom prst="rect">
              <a:avLst/>
            </a:prstGeom>
          </p:spPr>
          <p:txBody>
            <a:bodyPr lIns="50800" tIns="50800" rIns="50800" bIns="50800" rtlCol="0" anchor="ctr"/>
            <a:lstStyle/>
            <a:p>
              <a:pPr marL="0" lvl="0" indent="0" algn="ctr">
                <a:lnSpc>
                  <a:spcPts val="2268"/>
                </a:lnSpc>
              </a:pPr>
              <a:r>
                <a:rPr lang="en-US" sz="1620" b="1">
                  <a:solidFill>
                    <a:srgbClr val="FFFFFF"/>
                  </a:solidFill>
                  <a:latin typeface="Montaser Arabic Bold"/>
                  <a:ea typeface="Montaser Arabic Bold"/>
                  <a:cs typeface="Montaser Arabic Bold"/>
                  <a:sym typeface="Montaser Arabic Bold"/>
                </a:rPr>
                <a:t>NEXT SLIDE</a:t>
              </a:r>
            </a:p>
          </p:txBody>
        </p:sp>
      </p:grpSp>
      <p:grpSp>
        <p:nvGrpSpPr>
          <p:cNvPr id="30" name="Group 30">
            <a:extLst>
              <a:ext uri="{FF2B5EF4-FFF2-40B4-BE49-F238E27FC236}">
                <a16:creationId xmlns:a16="http://schemas.microsoft.com/office/drawing/2014/main" id="{F94B3A06-D2EE-99C3-3D30-1EDC8387B391}"/>
              </a:ext>
            </a:extLst>
          </p:cNvPr>
          <p:cNvGrpSpPr/>
          <p:nvPr/>
        </p:nvGrpSpPr>
        <p:grpSpPr>
          <a:xfrm>
            <a:off x="16115510" y="3182866"/>
            <a:ext cx="1513917" cy="1513917"/>
            <a:chOff x="0" y="0"/>
            <a:chExt cx="812800" cy="812800"/>
          </a:xfrm>
        </p:grpSpPr>
        <p:sp>
          <p:nvSpPr>
            <p:cNvPr id="31" name="Freeform 31">
              <a:extLst>
                <a:ext uri="{FF2B5EF4-FFF2-40B4-BE49-F238E27FC236}">
                  <a16:creationId xmlns:a16="http://schemas.microsoft.com/office/drawing/2014/main" id="{F9610AF5-882B-6DF0-B827-8D3D5AF4C5D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32" name="TextBox 32">
              <a:extLst>
                <a:ext uri="{FF2B5EF4-FFF2-40B4-BE49-F238E27FC236}">
                  <a16:creationId xmlns:a16="http://schemas.microsoft.com/office/drawing/2014/main" id="{688D5562-8FEE-4137-6A0D-256A686A1456}"/>
                </a:ext>
              </a:extLst>
            </p:cNvPr>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33" name="Group 33">
            <a:extLst>
              <a:ext uri="{FF2B5EF4-FFF2-40B4-BE49-F238E27FC236}">
                <a16:creationId xmlns:a16="http://schemas.microsoft.com/office/drawing/2014/main" id="{7F9FADBE-E2B0-2930-418E-B612488426F7}"/>
              </a:ext>
            </a:extLst>
          </p:cNvPr>
          <p:cNvGrpSpPr/>
          <p:nvPr/>
        </p:nvGrpSpPr>
        <p:grpSpPr>
          <a:xfrm>
            <a:off x="16443851" y="3535019"/>
            <a:ext cx="857235" cy="809611"/>
            <a:chOff x="0" y="0"/>
            <a:chExt cx="685800" cy="647700"/>
          </a:xfrm>
        </p:grpSpPr>
        <p:sp>
          <p:nvSpPr>
            <p:cNvPr id="34" name="Freeform 34">
              <a:extLst>
                <a:ext uri="{FF2B5EF4-FFF2-40B4-BE49-F238E27FC236}">
                  <a16:creationId xmlns:a16="http://schemas.microsoft.com/office/drawing/2014/main" id="{8629FB27-E87F-445C-3D75-C22F2D298299}"/>
                </a:ext>
              </a:extLst>
            </p:cNvPr>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35" name="TextBox 35">
              <a:extLst>
                <a:ext uri="{FF2B5EF4-FFF2-40B4-BE49-F238E27FC236}">
                  <a16:creationId xmlns:a16="http://schemas.microsoft.com/office/drawing/2014/main" id="{4779BEAD-DE35-0A3A-9533-F09041ECD27D}"/>
                </a:ext>
              </a:extLst>
            </p:cNvPr>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pic>
        <p:nvPicPr>
          <p:cNvPr id="2" name="Picture 1">
            <a:extLst>
              <a:ext uri="{FF2B5EF4-FFF2-40B4-BE49-F238E27FC236}">
                <a16:creationId xmlns:a16="http://schemas.microsoft.com/office/drawing/2014/main" id="{2B5964D9-2618-D881-8E57-B0F161727BF1}"/>
              </a:ext>
            </a:extLst>
          </p:cNvPr>
          <p:cNvPicPr>
            <a:picLocks noChangeAspect="1"/>
          </p:cNvPicPr>
          <p:nvPr/>
        </p:nvPicPr>
        <p:blipFill>
          <a:blip r:embed="rId4"/>
          <a:stretch>
            <a:fillRect/>
          </a:stretch>
        </p:blipFill>
        <p:spPr>
          <a:xfrm>
            <a:off x="110332" y="2371243"/>
            <a:ext cx="18177668" cy="6599237"/>
          </a:xfrm>
          <a:prstGeom prst="rect">
            <a:avLst/>
          </a:prstGeom>
        </p:spPr>
      </p:pic>
    </p:spTree>
    <p:extLst>
      <p:ext uri="{BB962C8B-B14F-4D97-AF65-F5344CB8AC3E}">
        <p14:creationId xmlns:p14="http://schemas.microsoft.com/office/powerpoint/2010/main" val="4151139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FEEEB"/>
        </a:solidFill>
        <a:effectLst/>
      </p:bgPr>
    </p:bg>
    <p:spTree>
      <p:nvGrpSpPr>
        <p:cNvPr id="1" name=""/>
        <p:cNvGrpSpPr/>
        <p:nvPr/>
      </p:nvGrpSpPr>
      <p:grpSpPr>
        <a:xfrm>
          <a:off x="0" y="0"/>
          <a:ext cx="0" cy="0"/>
          <a:chOff x="0" y="0"/>
          <a:chExt cx="0" cy="0"/>
        </a:xfrm>
      </p:grpSpPr>
      <p:sp>
        <p:nvSpPr>
          <p:cNvPr id="2" name="Freeform 2"/>
          <p:cNvSpPr/>
          <p:nvPr/>
        </p:nvSpPr>
        <p:spPr>
          <a:xfrm>
            <a:off x="8428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3" name="Freeform 3"/>
          <p:cNvSpPr/>
          <p:nvPr/>
        </p:nvSpPr>
        <p:spPr>
          <a:xfrm>
            <a:off x="-427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AutoShape 4"/>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5" name="Freeform 5"/>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6" name="Group 6"/>
          <p:cNvGrpSpPr/>
          <p:nvPr/>
        </p:nvGrpSpPr>
        <p:grpSpPr>
          <a:xfrm>
            <a:off x="1085850" y="665030"/>
            <a:ext cx="92277" cy="524320"/>
            <a:chOff x="0" y="0"/>
            <a:chExt cx="24303" cy="138092"/>
          </a:xfrm>
        </p:grpSpPr>
        <p:sp>
          <p:nvSpPr>
            <p:cNvPr id="7" name="Freeform 7"/>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8" name="TextBox 8"/>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9" name="Group 9"/>
          <p:cNvGrpSpPr/>
          <p:nvPr/>
        </p:nvGrpSpPr>
        <p:grpSpPr>
          <a:xfrm>
            <a:off x="10328121" y="1359977"/>
            <a:ext cx="1080278" cy="106932"/>
            <a:chOff x="0" y="0"/>
            <a:chExt cx="284518" cy="28163"/>
          </a:xfrm>
        </p:grpSpPr>
        <p:sp>
          <p:nvSpPr>
            <p:cNvPr id="10" name="Freeform 10"/>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1" name="TextBox 11"/>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p:cNvGrpSpPr/>
          <p:nvPr/>
        </p:nvGrpSpPr>
        <p:grpSpPr>
          <a:xfrm>
            <a:off x="980827" y="8994165"/>
            <a:ext cx="2119546" cy="627805"/>
            <a:chOff x="0" y="0"/>
            <a:chExt cx="558234" cy="165348"/>
          </a:xfrm>
        </p:grpSpPr>
        <p:sp>
          <p:nvSpPr>
            <p:cNvPr id="13" name="Freeform 13"/>
            <p:cNvSpPr/>
            <p:nvPr/>
          </p:nvSpPr>
          <p:spPr>
            <a:xfrm>
              <a:off x="0" y="0"/>
              <a:ext cx="558234" cy="165348"/>
            </a:xfrm>
            <a:custGeom>
              <a:avLst/>
              <a:gdLst/>
              <a:ahLst/>
              <a:cxnLst/>
              <a:rect l="l" t="t" r="r" b="b"/>
              <a:pathLst>
                <a:path w="558234" h="165348">
                  <a:moveTo>
                    <a:pt x="82674" y="0"/>
                  </a:moveTo>
                  <a:lnTo>
                    <a:pt x="475560" y="0"/>
                  </a:lnTo>
                  <a:cubicBezTo>
                    <a:pt x="521220" y="0"/>
                    <a:pt x="558234" y="37014"/>
                    <a:pt x="558234" y="82674"/>
                  </a:cubicBezTo>
                  <a:lnTo>
                    <a:pt x="558234" y="82674"/>
                  </a:lnTo>
                  <a:cubicBezTo>
                    <a:pt x="558234" y="104600"/>
                    <a:pt x="549524" y="125629"/>
                    <a:pt x="534020" y="141133"/>
                  </a:cubicBezTo>
                  <a:cubicBezTo>
                    <a:pt x="518515" y="156638"/>
                    <a:pt x="497487" y="165348"/>
                    <a:pt x="475560" y="165348"/>
                  </a:cubicBezTo>
                  <a:lnTo>
                    <a:pt x="82674" y="165348"/>
                  </a:lnTo>
                  <a:cubicBezTo>
                    <a:pt x="37014" y="165348"/>
                    <a:pt x="0" y="128334"/>
                    <a:pt x="0" y="82674"/>
                  </a:cubicBezTo>
                  <a:lnTo>
                    <a:pt x="0" y="82674"/>
                  </a:lnTo>
                  <a:cubicBezTo>
                    <a:pt x="0" y="37014"/>
                    <a:pt x="37014" y="0"/>
                    <a:pt x="82674" y="0"/>
                  </a:cubicBezTo>
                  <a:close/>
                </a:path>
              </a:pathLst>
            </a:custGeom>
            <a:solidFill>
              <a:srgbClr val="D43838"/>
            </a:solidFill>
            <a:ln cap="rnd">
              <a:noFill/>
              <a:prstDash val="solid"/>
              <a:round/>
            </a:ln>
          </p:spPr>
        </p:sp>
        <p:sp>
          <p:nvSpPr>
            <p:cNvPr id="14" name="TextBox 14"/>
            <p:cNvSpPr txBox="1"/>
            <p:nvPr/>
          </p:nvSpPr>
          <p:spPr>
            <a:xfrm>
              <a:off x="0" y="-38100"/>
              <a:ext cx="558234" cy="203448"/>
            </a:xfrm>
            <a:prstGeom prst="rect">
              <a:avLst/>
            </a:prstGeom>
          </p:spPr>
          <p:txBody>
            <a:bodyPr lIns="50800" tIns="50800" rIns="50800" bIns="50800" rtlCol="0" anchor="ctr"/>
            <a:lstStyle/>
            <a:p>
              <a:pPr marL="0" lvl="0" indent="0" algn="ctr">
                <a:lnSpc>
                  <a:spcPts val="2658"/>
                </a:lnSpc>
              </a:pPr>
              <a:r>
                <a:rPr lang="en-US" sz="1898" b="1">
                  <a:solidFill>
                    <a:srgbClr val="FFFFFF"/>
                  </a:solidFill>
                  <a:latin typeface="Montaser Arabic Bold"/>
                  <a:ea typeface="Montaser Arabic Bold"/>
                  <a:cs typeface="Montaser Arabic Bold"/>
                  <a:sym typeface="Montaser Arabic Bold"/>
                </a:rPr>
                <a:t>NEXT SLIDE</a:t>
              </a:r>
            </a:p>
          </p:txBody>
        </p:sp>
      </p:grpSp>
      <p:grpSp>
        <p:nvGrpSpPr>
          <p:cNvPr id="15" name="Group 15"/>
          <p:cNvGrpSpPr/>
          <p:nvPr/>
        </p:nvGrpSpPr>
        <p:grpSpPr>
          <a:xfrm>
            <a:off x="1220865" y="2309961"/>
            <a:ext cx="4942221" cy="3696681"/>
            <a:chOff x="0" y="0"/>
            <a:chExt cx="1301655" cy="973611"/>
          </a:xfrm>
        </p:grpSpPr>
        <p:sp>
          <p:nvSpPr>
            <p:cNvPr id="16" name="Freeform 16"/>
            <p:cNvSpPr/>
            <p:nvPr/>
          </p:nvSpPr>
          <p:spPr>
            <a:xfrm>
              <a:off x="0" y="0"/>
              <a:ext cx="1301655" cy="973611"/>
            </a:xfrm>
            <a:custGeom>
              <a:avLst/>
              <a:gdLst/>
              <a:ahLst/>
              <a:cxnLst/>
              <a:rect l="l" t="t" r="r" b="b"/>
              <a:pathLst>
                <a:path w="1301655" h="973611">
                  <a:moveTo>
                    <a:pt x="79891" y="0"/>
                  </a:moveTo>
                  <a:lnTo>
                    <a:pt x="1221764" y="0"/>
                  </a:lnTo>
                  <a:cubicBezTo>
                    <a:pt x="1265887" y="0"/>
                    <a:pt x="1301655" y="35768"/>
                    <a:pt x="1301655" y="79891"/>
                  </a:cubicBezTo>
                  <a:lnTo>
                    <a:pt x="1301655" y="893721"/>
                  </a:lnTo>
                  <a:cubicBezTo>
                    <a:pt x="1301655" y="937843"/>
                    <a:pt x="1265887" y="973611"/>
                    <a:pt x="1221764" y="973611"/>
                  </a:cubicBezTo>
                  <a:lnTo>
                    <a:pt x="79891" y="973611"/>
                  </a:lnTo>
                  <a:cubicBezTo>
                    <a:pt x="35768" y="973611"/>
                    <a:pt x="0" y="937843"/>
                    <a:pt x="0" y="893721"/>
                  </a:cubicBezTo>
                  <a:lnTo>
                    <a:pt x="0" y="79891"/>
                  </a:lnTo>
                  <a:cubicBezTo>
                    <a:pt x="0" y="35768"/>
                    <a:pt x="35768" y="0"/>
                    <a:pt x="79891" y="0"/>
                  </a:cubicBezTo>
                  <a:close/>
                </a:path>
              </a:pathLst>
            </a:custGeom>
            <a:ln w="19050" cap="rnd">
              <a:solidFill>
                <a:srgbClr val="283396"/>
              </a:solidFill>
              <a:prstDash val="solid"/>
              <a:round/>
            </a:ln>
          </p:spPr>
        </p:sp>
        <p:sp>
          <p:nvSpPr>
            <p:cNvPr id="17" name="TextBox 17"/>
            <p:cNvSpPr txBox="1"/>
            <p:nvPr/>
          </p:nvSpPr>
          <p:spPr>
            <a:xfrm>
              <a:off x="0" y="-38100"/>
              <a:ext cx="1301655" cy="1011711"/>
            </a:xfrm>
            <a:prstGeom prst="rect">
              <a:avLst/>
            </a:prstGeom>
          </p:spPr>
          <p:txBody>
            <a:bodyPr lIns="50800" tIns="50800" rIns="50800" bIns="50800" rtlCol="0" anchor="ctr"/>
            <a:lstStyle/>
            <a:p>
              <a:pPr marL="0" lvl="0" indent="0" algn="ctr">
                <a:lnSpc>
                  <a:spcPts val="2659"/>
                </a:lnSpc>
              </a:pPr>
              <a:endParaRPr/>
            </a:p>
          </p:txBody>
        </p:sp>
      </p:grpSp>
      <p:grpSp>
        <p:nvGrpSpPr>
          <p:cNvPr id="18" name="Group 18"/>
          <p:cNvGrpSpPr/>
          <p:nvPr/>
        </p:nvGrpSpPr>
        <p:grpSpPr>
          <a:xfrm>
            <a:off x="1220865" y="4947630"/>
            <a:ext cx="4942221" cy="1059011"/>
            <a:chOff x="0" y="0"/>
            <a:chExt cx="1301655" cy="278916"/>
          </a:xfrm>
        </p:grpSpPr>
        <p:sp>
          <p:nvSpPr>
            <p:cNvPr id="19" name="Freeform 19"/>
            <p:cNvSpPr/>
            <p:nvPr/>
          </p:nvSpPr>
          <p:spPr>
            <a:xfrm>
              <a:off x="0" y="0"/>
              <a:ext cx="1301655" cy="278916"/>
            </a:xfrm>
            <a:custGeom>
              <a:avLst/>
              <a:gdLst/>
              <a:ahLst/>
              <a:cxnLst/>
              <a:rect l="l" t="t" r="r" b="b"/>
              <a:pathLst>
                <a:path w="1301655" h="278916">
                  <a:moveTo>
                    <a:pt x="79891" y="0"/>
                  </a:moveTo>
                  <a:lnTo>
                    <a:pt x="1221764" y="0"/>
                  </a:lnTo>
                  <a:cubicBezTo>
                    <a:pt x="1265887" y="0"/>
                    <a:pt x="1301655" y="35768"/>
                    <a:pt x="1301655" y="79891"/>
                  </a:cubicBezTo>
                  <a:lnTo>
                    <a:pt x="1301655" y="199026"/>
                  </a:lnTo>
                  <a:cubicBezTo>
                    <a:pt x="1301655" y="243148"/>
                    <a:pt x="1265887" y="278916"/>
                    <a:pt x="1221764" y="278916"/>
                  </a:cubicBezTo>
                  <a:lnTo>
                    <a:pt x="79891" y="278916"/>
                  </a:lnTo>
                  <a:cubicBezTo>
                    <a:pt x="35768" y="278916"/>
                    <a:pt x="0" y="243148"/>
                    <a:pt x="0" y="199026"/>
                  </a:cubicBezTo>
                  <a:lnTo>
                    <a:pt x="0" y="79891"/>
                  </a:lnTo>
                  <a:cubicBezTo>
                    <a:pt x="0" y="35768"/>
                    <a:pt x="35768" y="0"/>
                    <a:pt x="79891" y="0"/>
                  </a:cubicBezTo>
                  <a:close/>
                </a:path>
              </a:pathLst>
            </a:custGeom>
            <a:solidFill>
              <a:srgbClr val="283396"/>
            </a:solidFill>
            <a:ln w="19050" cap="rnd">
              <a:solidFill>
                <a:srgbClr val="283396"/>
              </a:solidFill>
              <a:prstDash val="solid"/>
              <a:round/>
            </a:ln>
          </p:spPr>
        </p:sp>
        <p:sp>
          <p:nvSpPr>
            <p:cNvPr id="20" name="TextBox 20"/>
            <p:cNvSpPr txBox="1"/>
            <p:nvPr/>
          </p:nvSpPr>
          <p:spPr>
            <a:xfrm>
              <a:off x="0" y="-38100"/>
              <a:ext cx="1301655" cy="317016"/>
            </a:xfrm>
            <a:prstGeom prst="rect">
              <a:avLst/>
            </a:prstGeom>
          </p:spPr>
          <p:txBody>
            <a:bodyPr lIns="50800" tIns="50800" rIns="50800" bIns="50800" rtlCol="0" anchor="ctr"/>
            <a:lstStyle/>
            <a:p>
              <a:pPr marL="0" lvl="0" indent="0" algn="ctr">
                <a:lnSpc>
                  <a:spcPts val="2659"/>
                </a:lnSpc>
              </a:pPr>
              <a:endParaRPr/>
            </a:p>
          </p:txBody>
        </p:sp>
      </p:grpSp>
      <p:grpSp>
        <p:nvGrpSpPr>
          <p:cNvPr id="21" name="Group 21"/>
          <p:cNvGrpSpPr/>
          <p:nvPr/>
        </p:nvGrpSpPr>
        <p:grpSpPr>
          <a:xfrm>
            <a:off x="6672889" y="2275408"/>
            <a:ext cx="4942221" cy="3696681"/>
            <a:chOff x="0" y="0"/>
            <a:chExt cx="1301655" cy="973611"/>
          </a:xfrm>
        </p:grpSpPr>
        <p:sp>
          <p:nvSpPr>
            <p:cNvPr id="22" name="Freeform 22"/>
            <p:cNvSpPr/>
            <p:nvPr/>
          </p:nvSpPr>
          <p:spPr>
            <a:xfrm>
              <a:off x="0" y="0"/>
              <a:ext cx="1301655" cy="973611"/>
            </a:xfrm>
            <a:custGeom>
              <a:avLst/>
              <a:gdLst/>
              <a:ahLst/>
              <a:cxnLst/>
              <a:rect l="l" t="t" r="r" b="b"/>
              <a:pathLst>
                <a:path w="1301655" h="973611">
                  <a:moveTo>
                    <a:pt x="79891" y="0"/>
                  </a:moveTo>
                  <a:lnTo>
                    <a:pt x="1221764" y="0"/>
                  </a:lnTo>
                  <a:cubicBezTo>
                    <a:pt x="1265887" y="0"/>
                    <a:pt x="1301655" y="35768"/>
                    <a:pt x="1301655" y="79891"/>
                  </a:cubicBezTo>
                  <a:lnTo>
                    <a:pt x="1301655" y="893721"/>
                  </a:lnTo>
                  <a:cubicBezTo>
                    <a:pt x="1301655" y="937843"/>
                    <a:pt x="1265887" y="973611"/>
                    <a:pt x="1221764" y="973611"/>
                  </a:cubicBezTo>
                  <a:lnTo>
                    <a:pt x="79891" y="973611"/>
                  </a:lnTo>
                  <a:cubicBezTo>
                    <a:pt x="35768" y="973611"/>
                    <a:pt x="0" y="937843"/>
                    <a:pt x="0" y="893721"/>
                  </a:cubicBezTo>
                  <a:lnTo>
                    <a:pt x="0" y="79891"/>
                  </a:lnTo>
                  <a:cubicBezTo>
                    <a:pt x="0" y="35768"/>
                    <a:pt x="35768" y="0"/>
                    <a:pt x="79891" y="0"/>
                  </a:cubicBezTo>
                  <a:close/>
                </a:path>
              </a:pathLst>
            </a:custGeom>
            <a:ln w="19050" cap="rnd">
              <a:solidFill>
                <a:srgbClr val="283396"/>
              </a:solidFill>
              <a:prstDash val="solid"/>
              <a:round/>
            </a:ln>
          </p:spPr>
        </p:sp>
        <p:sp>
          <p:nvSpPr>
            <p:cNvPr id="23" name="TextBox 23"/>
            <p:cNvSpPr txBox="1"/>
            <p:nvPr/>
          </p:nvSpPr>
          <p:spPr>
            <a:xfrm>
              <a:off x="0" y="-38100"/>
              <a:ext cx="1301655" cy="1011711"/>
            </a:xfrm>
            <a:prstGeom prst="rect">
              <a:avLst/>
            </a:prstGeom>
          </p:spPr>
          <p:txBody>
            <a:bodyPr lIns="50800" tIns="50800" rIns="50800" bIns="50800" rtlCol="0" anchor="ctr"/>
            <a:lstStyle/>
            <a:p>
              <a:pPr marL="0" lvl="0" indent="0" algn="ctr">
                <a:lnSpc>
                  <a:spcPts val="2659"/>
                </a:lnSpc>
              </a:pPr>
              <a:endParaRPr/>
            </a:p>
          </p:txBody>
        </p:sp>
      </p:grpSp>
      <p:grpSp>
        <p:nvGrpSpPr>
          <p:cNvPr id="24" name="Group 24"/>
          <p:cNvGrpSpPr/>
          <p:nvPr/>
        </p:nvGrpSpPr>
        <p:grpSpPr>
          <a:xfrm>
            <a:off x="6672889" y="4904505"/>
            <a:ext cx="4942221" cy="1059011"/>
            <a:chOff x="0" y="0"/>
            <a:chExt cx="1301655" cy="278916"/>
          </a:xfrm>
        </p:grpSpPr>
        <p:sp>
          <p:nvSpPr>
            <p:cNvPr id="25" name="Freeform 25"/>
            <p:cNvSpPr/>
            <p:nvPr/>
          </p:nvSpPr>
          <p:spPr>
            <a:xfrm>
              <a:off x="0" y="0"/>
              <a:ext cx="1301655" cy="278916"/>
            </a:xfrm>
            <a:custGeom>
              <a:avLst/>
              <a:gdLst/>
              <a:ahLst/>
              <a:cxnLst/>
              <a:rect l="l" t="t" r="r" b="b"/>
              <a:pathLst>
                <a:path w="1301655" h="278916">
                  <a:moveTo>
                    <a:pt x="79891" y="0"/>
                  </a:moveTo>
                  <a:lnTo>
                    <a:pt x="1221764" y="0"/>
                  </a:lnTo>
                  <a:cubicBezTo>
                    <a:pt x="1265887" y="0"/>
                    <a:pt x="1301655" y="35768"/>
                    <a:pt x="1301655" y="79891"/>
                  </a:cubicBezTo>
                  <a:lnTo>
                    <a:pt x="1301655" y="199026"/>
                  </a:lnTo>
                  <a:cubicBezTo>
                    <a:pt x="1301655" y="243148"/>
                    <a:pt x="1265887" y="278916"/>
                    <a:pt x="1221764" y="278916"/>
                  </a:cubicBezTo>
                  <a:lnTo>
                    <a:pt x="79891" y="278916"/>
                  </a:lnTo>
                  <a:cubicBezTo>
                    <a:pt x="35768" y="278916"/>
                    <a:pt x="0" y="243148"/>
                    <a:pt x="0" y="199026"/>
                  </a:cubicBezTo>
                  <a:lnTo>
                    <a:pt x="0" y="79891"/>
                  </a:lnTo>
                  <a:cubicBezTo>
                    <a:pt x="0" y="35768"/>
                    <a:pt x="35768" y="0"/>
                    <a:pt x="79891" y="0"/>
                  </a:cubicBezTo>
                  <a:close/>
                </a:path>
              </a:pathLst>
            </a:custGeom>
            <a:solidFill>
              <a:srgbClr val="283396"/>
            </a:solidFill>
            <a:ln w="19050" cap="rnd">
              <a:solidFill>
                <a:srgbClr val="283396"/>
              </a:solidFill>
              <a:prstDash val="solid"/>
              <a:round/>
            </a:ln>
          </p:spPr>
        </p:sp>
        <p:sp>
          <p:nvSpPr>
            <p:cNvPr id="26" name="TextBox 26"/>
            <p:cNvSpPr txBox="1"/>
            <p:nvPr/>
          </p:nvSpPr>
          <p:spPr>
            <a:xfrm>
              <a:off x="0" y="-38100"/>
              <a:ext cx="1301655" cy="317016"/>
            </a:xfrm>
            <a:prstGeom prst="rect">
              <a:avLst/>
            </a:prstGeom>
          </p:spPr>
          <p:txBody>
            <a:bodyPr lIns="50800" tIns="50800" rIns="50800" bIns="50800" rtlCol="0" anchor="ctr"/>
            <a:lstStyle/>
            <a:p>
              <a:pPr marL="0" lvl="0" indent="0" algn="ctr">
                <a:lnSpc>
                  <a:spcPts val="2659"/>
                </a:lnSpc>
              </a:pPr>
              <a:endParaRPr/>
            </a:p>
          </p:txBody>
        </p:sp>
      </p:grpSp>
      <p:grpSp>
        <p:nvGrpSpPr>
          <p:cNvPr id="27" name="Group 27"/>
          <p:cNvGrpSpPr/>
          <p:nvPr/>
        </p:nvGrpSpPr>
        <p:grpSpPr>
          <a:xfrm>
            <a:off x="12124914" y="2240856"/>
            <a:ext cx="4942221" cy="3696681"/>
            <a:chOff x="0" y="0"/>
            <a:chExt cx="1301655" cy="973611"/>
          </a:xfrm>
        </p:grpSpPr>
        <p:sp>
          <p:nvSpPr>
            <p:cNvPr id="28" name="Freeform 28"/>
            <p:cNvSpPr/>
            <p:nvPr/>
          </p:nvSpPr>
          <p:spPr>
            <a:xfrm>
              <a:off x="0" y="0"/>
              <a:ext cx="1301655" cy="973611"/>
            </a:xfrm>
            <a:custGeom>
              <a:avLst/>
              <a:gdLst/>
              <a:ahLst/>
              <a:cxnLst/>
              <a:rect l="l" t="t" r="r" b="b"/>
              <a:pathLst>
                <a:path w="1301655" h="973611">
                  <a:moveTo>
                    <a:pt x="79891" y="0"/>
                  </a:moveTo>
                  <a:lnTo>
                    <a:pt x="1221764" y="0"/>
                  </a:lnTo>
                  <a:cubicBezTo>
                    <a:pt x="1265887" y="0"/>
                    <a:pt x="1301655" y="35768"/>
                    <a:pt x="1301655" y="79891"/>
                  </a:cubicBezTo>
                  <a:lnTo>
                    <a:pt x="1301655" y="893721"/>
                  </a:lnTo>
                  <a:cubicBezTo>
                    <a:pt x="1301655" y="937843"/>
                    <a:pt x="1265887" y="973611"/>
                    <a:pt x="1221764" y="973611"/>
                  </a:cubicBezTo>
                  <a:lnTo>
                    <a:pt x="79891" y="973611"/>
                  </a:lnTo>
                  <a:cubicBezTo>
                    <a:pt x="35768" y="973611"/>
                    <a:pt x="0" y="937843"/>
                    <a:pt x="0" y="893721"/>
                  </a:cubicBezTo>
                  <a:lnTo>
                    <a:pt x="0" y="79891"/>
                  </a:lnTo>
                  <a:cubicBezTo>
                    <a:pt x="0" y="35768"/>
                    <a:pt x="35768" y="0"/>
                    <a:pt x="79891" y="0"/>
                  </a:cubicBezTo>
                  <a:close/>
                </a:path>
              </a:pathLst>
            </a:custGeom>
            <a:ln w="19050" cap="rnd">
              <a:solidFill>
                <a:srgbClr val="283396"/>
              </a:solidFill>
              <a:prstDash val="solid"/>
              <a:round/>
            </a:ln>
          </p:spPr>
        </p:sp>
        <p:sp>
          <p:nvSpPr>
            <p:cNvPr id="29" name="TextBox 29"/>
            <p:cNvSpPr txBox="1"/>
            <p:nvPr/>
          </p:nvSpPr>
          <p:spPr>
            <a:xfrm>
              <a:off x="0" y="-38100"/>
              <a:ext cx="1301655" cy="1011711"/>
            </a:xfrm>
            <a:prstGeom prst="rect">
              <a:avLst/>
            </a:prstGeom>
          </p:spPr>
          <p:txBody>
            <a:bodyPr lIns="50800" tIns="50800" rIns="50800" bIns="50800" rtlCol="0" anchor="ctr"/>
            <a:lstStyle/>
            <a:p>
              <a:pPr marL="0" lvl="0" indent="0" algn="ctr">
                <a:lnSpc>
                  <a:spcPts val="2659"/>
                </a:lnSpc>
              </a:pPr>
              <a:endParaRPr/>
            </a:p>
          </p:txBody>
        </p:sp>
      </p:grpSp>
      <p:grpSp>
        <p:nvGrpSpPr>
          <p:cNvPr id="30" name="Group 30"/>
          <p:cNvGrpSpPr/>
          <p:nvPr/>
        </p:nvGrpSpPr>
        <p:grpSpPr>
          <a:xfrm>
            <a:off x="12124914" y="4861379"/>
            <a:ext cx="4942221" cy="1059011"/>
            <a:chOff x="0" y="0"/>
            <a:chExt cx="1301655" cy="278916"/>
          </a:xfrm>
        </p:grpSpPr>
        <p:sp>
          <p:nvSpPr>
            <p:cNvPr id="31" name="Freeform 31"/>
            <p:cNvSpPr/>
            <p:nvPr/>
          </p:nvSpPr>
          <p:spPr>
            <a:xfrm>
              <a:off x="0" y="0"/>
              <a:ext cx="1301655" cy="278916"/>
            </a:xfrm>
            <a:custGeom>
              <a:avLst/>
              <a:gdLst/>
              <a:ahLst/>
              <a:cxnLst/>
              <a:rect l="l" t="t" r="r" b="b"/>
              <a:pathLst>
                <a:path w="1301655" h="278916">
                  <a:moveTo>
                    <a:pt x="79891" y="0"/>
                  </a:moveTo>
                  <a:lnTo>
                    <a:pt x="1221764" y="0"/>
                  </a:lnTo>
                  <a:cubicBezTo>
                    <a:pt x="1265887" y="0"/>
                    <a:pt x="1301655" y="35768"/>
                    <a:pt x="1301655" y="79891"/>
                  </a:cubicBezTo>
                  <a:lnTo>
                    <a:pt x="1301655" y="199026"/>
                  </a:lnTo>
                  <a:cubicBezTo>
                    <a:pt x="1301655" y="243148"/>
                    <a:pt x="1265887" y="278916"/>
                    <a:pt x="1221764" y="278916"/>
                  </a:cubicBezTo>
                  <a:lnTo>
                    <a:pt x="79891" y="278916"/>
                  </a:lnTo>
                  <a:cubicBezTo>
                    <a:pt x="35768" y="278916"/>
                    <a:pt x="0" y="243148"/>
                    <a:pt x="0" y="199026"/>
                  </a:cubicBezTo>
                  <a:lnTo>
                    <a:pt x="0" y="79891"/>
                  </a:lnTo>
                  <a:cubicBezTo>
                    <a:pt x="0" y="35768"/>
                    <a:pt x="35768" y="0"/>
                    <a:pt x="79891" y="0"/>
                  </a:cubicBezTo>
                  <a:close/>
                </a:path>
              </a:pathLst>
            </a:custGeom>
            <a:solidFill>
              <a:srgbClr val="283396"/>
            </a:solidFill>
            <a:ln w="19050" cap="rnd">
              <a:solidFill>
                <a:srgbClr val="283396"/>
              </a:solidFill>
              <a:prstDash val="solid"/>
              <a:round/>
            </a:ln>
          </p:spPr>
        </p:sp>
        <p:sp>
          <p:nvSpPr>
            <p:cNvPr id="32" name="TextBox 32"/>
            <p:cNvSpPr txBox="1"/>
            <p:nvPr/>
          </p:nvSpPr>
          <p:spPr>
            <a:xfrm>
              <a:off x="0" y="-38100"/>
              <a:ext cx="1301655" cy="317016"/>
            </a:xfrm>
            <a:prstGeom prst="rect">
              <a:avLst/>
            </a:prstGeom>
          </p:spPr>
          <p:txBody>
            <a:bodyPr lIns="50800" tIns="50800" rIns="50800" bIns="50800" rtlCol="0" anchor="ctr"/>
            <a:lstStyle/>
            <a:p>
              <a:pPr marL="0" lvl="0" indent="0" algn="ctr">
                <a:lnSpc>
                  <a:spcPts val="2659"/>
                </a:lnSpc>
              </a:pPr>
              <a:endParaRPr/>
            </a:p>
          </p:txBody>
        </p:sp>
      </p:grpSp>
      <p:sp>
        <p:nvSpPr>
          <p:cNvPr id="33" name="Freeform 33"/>
          <p:cNvSpPr/>
          <p:nvPr/>
        </p:nvSpPr>
        <p:spPr>
          <a:xfrm>
            <a:off x="2546101" y="2749267"/>
            <a:ext cx="2455342" cy="3188756"/>
          </a:xfrm>
          <a:custGeom>
            <a:avLst/>
            <a:gdLst/>
            <a:ahLst/>
            <a:cxnLst/>
            <a:rect l="l" t="t" r="r" b="b"/>
            <a:pathLst>
              <a:path w="2455342" h="3188756">
                <a:moveTo>
                  <a:pt x="0" y="0"/>
                </a:moveTo>
                <a:lnTo>
                  <a:pt x="2455342" y="0"/>
                </a:lnTo>
                <a:lnTo>
                  <a:pt x="2455342" y="3188756"/>
                </a:lnTo>
                <a:lnTo>
                  <a:pt x="0" y="3188756"/>
                </a:lnTo>
                <a:lnTo>
                  <a:pt x="0" y="0"/>
                </a:lnTo>
                <a:close/>
              </a:path>
            </a:pathLst>
          </a:custGeom>
          <a:blipFill>
            <a:blip r:embed="rId4"/>
            <a:stretch>
              <a:fillRect/>
            </a:stretch>
          </a:blipFill>
        </p:spPr>
      </p:sp>
      <p:sp>
        <p:nvSpPr>
          <p:cNvPr id="34" name="Freeform 34"/>
          <p:cNvSpPr/>
          <p:nvPr/>
        </p:nvSpPr>
        <p:spPr>
          <a:xfrm>
            <a:off x="13021160" y="2598732"/>
            <a:ext cx="3293206" cy="3252041"/>
          </a:xfrm>
          <a:custGeom>
            <a:avLst/>
            <a:gdLst/>
            <a:ahLst/>
            <a:cxnLst/>
            <a:rect l="l" t="t" r="r" b="b"/>
            <a:pathLst>
              <a:path w="3293206" h="3252041">
                <a:moveTo>
                  <a:pt x="0" y="0"/>
                </a:moveTo>
                <a:lnTo>
                  <a:pt x="3293206" y="0"/>
                </a:lnTo>
                <a:lnTo>
                  <a:pt x="3293206" y="3252041"/>
                </a:lnTo>
                <a:lnTo>
                  <a:pt x="0" y="3252041"/>
                </a:lnTo>
                <a:lnTo>
                  <a:pt x="0" y="0"/>
                </a:lnTo>
                <a:close/>
              </a:path>
            </a:pathLst>
          </a:custGeom>
          <a:blipFill>
            <a:blip r:embed="rId5"/>
            <a:stretch>
              <a:fillRect/>
            </a:stretch>
          </a:blipFill>
        </p:spPr>
      </p:sp>
      <p:sp>
        <p:nvSpPr>
          <p:cNvPr id="35" name="Freeform 35"/>
          <p:cNvSpPr/>
          <p:nvPr/>
        </p:nvSpPr>
        <p:spPr>
          <a:xfrm>
            <a:off x="7110761" y="2707504"/>
            <a:ext cx="4161925" cy="2772883"/>
          </a:xfrm>
          <a:custGeom>
            <a:avLst/>
            <a:gdLst/>
            <a:ahLst/>
            <a:cxnLst/>
            <a:rect l="l" t="t" r="r" b="b"/>
            <a:pathLst>
              <a:path w="4161925" h="2772883">
                <a:moveTo>
                  <a:pt x="0" y="0"/>
                </a:moveTo>
                <a:lnTo>
                  <a:pt x="4161925" y="0"/>
                </a:lnTo>
                <a:lnTo>
                  <a:pt x="4161925" y="2772882"/>
                </a:lnTo>
                <a:lnTo>
                  <a:pt x="0" y="2772882"/>
                </a:lnTo>
                <a:lnTo>
                  <a:pt x="0" y="0"/>
                </a:lnTo>
                <a:close/>
              </a:path>
            </a:pathLst>
          </a:custGeom>
          <a:blipFill>
            <a:blip r:embed="rId6"/>
            <a:stretch>
              <a:fillRect/>
            </a:stretch>
          </a:blipFill>
        </p:spPr>
      </p:sp>
      <p:sp>
        <p:nvSpPr>
          <p:cNvPr id="36" name="TextBox 36"/>
          <p:cNvSpPr txBox="1"/>
          <p:nvPr/>
        </p:nvSpPr>
        <p:spPr>
          <a:xfrm>
            <a:off x="1350057" y="703130"/>
            <a:ext cx="2657415" cy="472149"/>
          </a:xfrm>
          <a:prstGeom prst="rect">
            <a:avLst/>
          </a:prstGeom>
        </p:spPr>
        <p:txBody>
          <a:bodyPr lIns="0" tIns="0" rIns="0" bIns="0" rtlCol="0" anchor="t">
            <a:spAutoFit/>
          </a:bodyPr>
          <a:lstStyle/>
          <a:p>
            <a:pPr marL="0" lvl="0" indent="0" algn="l">
              <a:lnSpc>
                <a:spcPts val="1860"/>
              </a:lnSpc>
            </a:pPr>
            <a:r>
              <a:rPr lang="en-US" sz="1898" b="1" spc="-115">
                <a:solidFill>
                  <a:srgbClr val="283396"/>
                </a:solidFill>
                <a:latin typeface="Montaser Arabic Bold"/>
                <a:ea typeface="Montaser Arabic Bold"/>
                <a:cs typeface="Montaser Arabic Bold"/>
                <a:sym typeface="Montaser Arabic Bold"/>
              </a:rPr>
              <a:t>PYTHON</a:t>
            </a:r>
          </a:p>
          <a:p>
            <a:pPr marL="0" lvl="0" indent="0" algn="l">
              <a:lnSpc>
                <a:spcPts val="1860"/>
              </a:lnSpc>
            </a:pPr>
            <a:r>
              <a:rPr lang="en-US" sz="1898" b="1" spc="-115">
                <a:solidFill>
                  <a:srgbClr val="283396"/>
                </a:solidFill>
                <a:latin typeface="Montaser Arabic Bold"/>
                <a:ea typeface="Montaser Arabic Bold"/>
                <a:cs typeface="Montaser Arabic Bold"/>
                <a:sym typeface="Montaser Arabic Bold"/>
              </a:rPr>
              <a:t>PRESENTATION</a:t>
            </a:r>
          </a:p>
        </p:txBody>
      </p:sp>
      <p:sp>
        <p:nvSpPr>
          <p:cNvPr id="37" name="TextBox 37"/>
          <p:cNvSpPr txBox="1"/>
          <p:nvPr/>
        </p:nvSpPr>
        <p:spPr>
          <a:xfrm>
            <a:off x="5337971" y="774825"/>
            <a:ext cx="1755559" cy="280424"/>
          </a:xfrm>
          <a:prstGeom prst="rect">
            <a:avLst/>
          </a:prstGeom>
        </p:spPr>
        <p:txBody>
          <a:bodyPr lIns="0" tIns="0" rIns="0" bIns="0" rtlCol="0" anchor="t">
            <a:spAutoFit/>
          </a:bodyPr>
          <a:lstStyle/>
          <a:p>
            <a:pPr marL="0" lvl="0" indent="0" algn="ctr">
              <a:lnSpc>
                <a:spcPts val="2393"/>
              </a:lnSpc>
              <a:spcBef>
                <a:spcPct val="0"/>
              </a:spcBef>
            </a:pPr>
            <a:r>
              <a:rPr lang="en-US" sz="1709">
                <a:solidFill>
                  <a:srgbClr val="283396"/>
                </a:solidFill>
                <a:latin typeface="Montaser Arabic"/>
                <a:ea typeface="Montaser Arabic"/>
                <a:cs typeface="Montaser Arabic"/>
                <a:sym typeface="Montaser Arabic"/>
              </a:rPr>
              <a:t>HOME</a:t>
            </a:r>
          </a:p>
        </p:txBody>
      </p:sp>
      <p:sp>
        <p:nvSpPr>
          <p:cNvPr id="38" name="TextBox 38"/>
          <p:cNvSpPr txBox="1"/>
          <p:nvPr/>
        </p:nvSpPr>
        <p:spPr>
          <a:xfrm>
            <a:off x="7463217" y="774825"/>
            <a:ext cx="2013772" cy="280424"/>
          </a:xfrm>
          <a:prstGeom prst="rect">
            <a:avLst/>
          </a:prstGeom>
        </p:spPr>
        <p:txBody>
          <a:bodyPr lIns="0" tIns="0" rIns="0" bIns="0" rtlCol="0" anchor="t">
            <a:spAutoFit/>
          </a:bodyPr>
          <a:lstStyle/>
          <a:p>
            <a:pPr marL="0" lvl="0" indent="0" algn="ctr">
              <a:lnSpc>
                <a:spcPts val="2393"/>
              </a:lnSpc>
              <a:spcBef>
                <a:spcPct val="0"/>
              </a:spcBef>
            </a:pPr>
            <a:r>
              <a:rPr lang="en-US" sz="1709">
                <a:solidFill>
                  <a:srgbClr val="283396"/>
                </a:solidFill>
                <a:latin typeface="Montaser Arabic"/>
                <a:ea typeface="Montaser Arabic"/>
                <a:cs typeface="Montaser Arabic"/>
                <a:sym typeface="Montaser Arabic"/>
              </a:rPr>
              <a:t>ABOUT</a:t>
            </a:r>
          </a:p>
        </p:txBody>
      </p:sp>
      <p:sp>
        <p:nvSpPr>
          <p:cNvPr id="39" name="TextBox 39"/>
          <p:cNvSpPr txBox="1"/>
          <p:nvPr/>
        </p:nvSpPr>
        <p:spPr>
          <a:xfrm>
            <a:off x="9856201" y="765300"/>
            <a:ext cx="2024119" cy="323249"/>
          </a:xfrm>
          <a:prstGeom prst="rect">
            <a:avLst/>
          </a:prstGeom>
        </p:spPr>
        <p:txBody>
          <a:bodyPr lIns="0" tIns="0" rIns="0" bIns="0" rtlCol="0" anchor="t">
            <a:spAutoFit/>
          </a:bodyPr>
          <a:lstStyle/>
          <a:p>
            <a:pPr marL="0" lvl="0" indent="0" algn="ctr">
              <a:lnSpc>
                <a:spcPts val="2658"/>
              </a:lnSpc>
              <a:spcBef>
                <a:spcPct val="0"/>
              </a:spcBef>
            </a:pPr>
            <a:r>
              <a:rPr lang="en-US" sz="1898" b="1">
                <a:solidFill>
                  <a:srgbClr val="283396"/>
                </a:solidFill>
                <a:latin typeface="Montaser Arabic Bold"/>
                <a:ea typeface="Montaser Arabic Bold"/>
                <a:cs typeface="Montaser Arabic Bold"/>
                <a:sym typeface="Montaser Arabic Bold"/>
              </a:rPr>
              <a:t>CONTENT</a:t>
            </a:r>
          </a:p>
        </p:txBody>
      </p:sp>
      <p:sp>
        <p:nvSpPr>
          <p:cNvPr id="40" name="TextBox 40"/>
          <p:cNvSpPr txBox="1"/>
          <p:nvPr/>
        </p:nvSpPr>
        <p:spPr>
          <a:xfrm>
            <a:off x="12101593" y="774825"/>
            <a:ext cx="2349448" cy="280424"/>
          </a:xfrm>
          <a:prstGeom prst="rect">
            <a:avLst/>
          </a:prstGeom>
        </p:spPr>
        <p:txBody>
          <a:bodyPr lIns="0" tIns="0" rIns="0" bIns="0" rtlCol="0" anchor="t">
            <a:spAutoFit/>
          </a:bodyPr>
          <a:lstStyle/>
          <a:p>
            <a:pPr marL="0" lvl="0" indent="0" algn="ctr">
              <a:lnSpc>
                <a:spcPts val="2393"/>
              </a:lnSpc>
              <a:spcBef>
                <a:spcPct val="0"/>
              </a:spcBef>
            </a:pPr>
            <a:r>
              <a:rPr lang="en-US" sz="1709">
                <a:solidFill>
                  <a:srgbClr val="283396"/>
                </a:solidFill>
                <a:latin typeface="Montaser Arabic"/>
                <a:ea typeface="Montaser Arabic"/>
                <a:cs typeface="Montaser Arabic"/>
                <a:sym typeface="Montaser Arabic"/>
              </a:rPr>
              <a:t>OTHERS</a:t>
            </a:r>
          </a:p>
        </p:txBody>
      </p:sp>
      <p:sp>
        <p:nvSpPr>
          <p:cNvPr id="41" name="TextBox 41"/>
          <p:cNvSpPr txBox="1"/>
          <p:nvPr/>
        </p:nvSpPr>
        <p:spPr>
          <a:xfrm>
            <a:off x="1220865" y="6639338"/>
            <a:ext cx="8361017" cy="1818862"/>
          </a:xfrm>
          <a:prstGeom prst="rect">
            <a:avLst/>
          </a:prstGeom>
        </p:spPr>
        <p:txBody>
          <a:bodyPr lIns="0" tIns="0" rIns="0" bIns="0" rtlCol="0" anchor="t">
            <a:spAutoFit/>
          </a:bodyPr>
          <a:lstStyle/>
          <a:p>
            <a:pPr marL="0" lvl="0" indent="0" algn="just">
              <a:lnSpc>
                <a:spcPts val="6356"/>
              </a:lnSpc>
            </a:pPr>
            <a:r>
              <a:rPr lang="en-US" sz="6231" b="1" spc="-224" dirty="0">
                <a:solidFill>
                  <a:srgbClr val="283396"/>
                </a:solidFill>
                <a:latin typeface="Agrandir Grand Bold"/>
                <a:ea typeface="Agrandir Grand Bold"/>
                <a:cs typeface="Agrandir Grand Bold"/>
                <a:sym typeface="Agrandir Grand Bold"/>
              </a:rPr>
              <a:t>WHY IS PYTHON POPULAR?</a:t>
            </a:r>
          </a:p>
        </p:txBody>
      </p:sp>
      <p:sp>
        <p:nvSpPr>
          <p:cNvPr id="42" name="TextBox 42"/>
          <p:cNvSpPr txBox="1"/>
          <p:nvPr/>
        </p:nvSpPr>
        <p:spPr>
          <a:xfrm>
            <a:off x="10674221" y="6677438"/>
            <a:ext cx="6392914" cy="2585323"/>
          </a:xfrm>
          <a:prstGeom prst="rect">
            <a:avLst/>
          </a:prstGeom>
        </p:spPr>
        <p:txBody>
          <a:bodyPr lIns="0" tIns="0" rIns="0" bIns="0" rtlCol="0" anchor="t">
            <a:spAutoFit/>
          </a:bodyPr>
          <a:lstStyle/>
          <a:p>
            <a:pPr marL="0" lvl="0" indent="0" algn="just"/>
            <a:r>
              <a:rPr lang="en-US" sz="2800" b="1" dirty="0">
                <a:solidFill>
                  <a:srgbClr val="283396"/>
                </a:solidFill>
                <a:ea typeface="Montaser Arabic Light"/>
                <a:cs typeface="Montaser Arabic Light"/>
                <a:sym typeface="Montaser Arabic Light"/>
              </a:rPr>
              <a:t>Python's popularity stems from its simple, readable syntax that beginners love. Its vast standard library and active community provide endless resources. Plus, it's versatile across web, AI, data science, and more.</a:t>
            </a:r>
          </a:p>
        </p:txBody>
      </p:sp>
      <p:grpSp>
        <p:nvGrpSpPr>
          <p:cNvPr id="43" name="Group 43"/>
          <p:cNvGrpSpPr/>
          <p:nvPr/>
        </p:nvGrpSpPr>
        <p:grpSpPr>
          <a:xfrm>
            <a:off x="16406430" y="2860743"/>
            <a:ext cx="1210061" cy="1210061"/>
            <a:chOff x="0" y="0"/>
            <a:chExt cx="812800" cy="812800"/>
          </a:xfrm>
        </p:grpSpPr>
        <p:sp>
          <p:nvSpPr>
            <p:cNvPr id="44" name="Freeform 4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45" name="TextBox 45"/>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46" name="Group 46"/>
          <p:cNvGrpSpPr/>
          <p:nvPr/>
        </p:nvGrpSpPr>
        <p:grpSpPr>
          <a:xfrm>
            <a:off x="16668870" y="3142216"/>
            <a:ext cx="685181" cy="647115"/>
            <a:chOff x="0" y="0"/>
            <a:chExt cx="685800" cy="647700"/>
          </a:xfrm>
        </p:grpSpPr>
        <p:sp>
          <p:nvSpPr>
            <p:cNvPr id="47" name="Freeform 47"/>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48" name="TextBox 48"/>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grpSp>
        <p:nvGrpSpPr>
          <p:cNvPr id="49" name="Group 49"/>
          <p:cNvGrpSpPr/>
          <p:nvPr/>
        </p:nvGrpSpPr>
        <p:grpSpPr>
          <a:xfrm>
            <a:off x="745026" y="2537186"/>
            <a:ext cx="1210061" cy="1210061"/>
            <a:chOff x="0" y="0"/>
            <a:chExt cx="812800" cy="812800"/>
          </a:xfrm>
        </p:grpSpPr>
        <p:sp>
          <p:nvSpPr>
            <p:cNvPr id="50" name="Freeform 5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51" name="TextBox 51"/>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52" name="Group 52"/>
          <p:cNvGrpSpPr/>
          <p:nvPr/>
        </p:nvGrpSpPr>
        <p:grpSpPr>
          <a:xfrm>
            <a:off x="1007466" y="2818659"/>
            <a:ext cx="685181" cy="647115"/>
            <a:chOff x="0" y="0"/>
            <a:chExt cx="685800" cy="647700"/>
          </a:xfrm>
        </p:grpSpPr>
        <p:sp>
          <p:nvSpPr>
            <p:cNvPr id="53" name="Freeform 53"/>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54" name="TextBox 54"/>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FEEEB"/>
        </a:solidFill>
        <a:effectLst/>
      </p:bgPr>
    </p:bg>
    <p:spTree>
      <p:nvGrpSpPr>
        <p:cNvPr id="1" name=""/>
        <p:cNvGrpSpPr/>
        <p:nvPr/>
      </p:nvGrpSpPr>
      <p:grpSpPr>
        <a:xfrm>
          <a:off x="0" y="0"/>
          <a:ext cx="0" cy="0"/>
          <a:chOff x="0" y="0"/>
          <a:chExt cx="0" cy="0"/>
        </a:xfrm>
      </p:grpSpPr>
      <p:sp>
        <p:nvSpPr>
          <p:cNvPr id="2" name="Freeform 2"/>
          <p:cNvSpPr/>
          <p:nvPr/>
        </p:nvSpPr>
        <p:spPr>
          <a:xfrm>
            <a:off x="8428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3" name="Freeform 3"/>
          <p:cNvSpPr/>
          <p:nvPr/>
        </p:nvSpPr>
        <p:spPr>
          <a:xfrm>
            <a:off x="-427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AutoShape 4"/>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5" name="Freeform 5"/>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6" name="Group 6"/>
          <p:cNvGrpSpPr/>
          <p:nvPr/>
        </p:nvGrpSpPr>
        <p:grpSpPr>
          <a:xfrm>
            <a:off x="1085850" y="665030"/>
            <a:ext cx="92277" cy="524320"/>
            <a:chOff x="0" y="0"/>
            <a:chExt cx="24303" cy="138092"/>
          </a:xfrm>
        </p:grpSpPr>
        <p:sp>
          <p:nvSpPr>
            <p:cNvPr id="7" name="Freeform 7"/>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8" name="TextBox 8"/>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9" name="Group 9"/>
          <p:cNvGrpSpPr/>
          <p:nvPr/>
        </p:nvGrpSpPr>
        <p:grpSpPr>
          <a:xfrm>
            <a:off x="10328121" y="1359977"/>
            <a:ext cx="1080278" cy="106932"/>
            <a:chOff x="0" y="0"/>
            <a:chExt cx="284518" cy="28163"/>
          </a:xfrm>
        </p:grpSpPr>
        <p:sp>
          <p:nvSpPr>
            <p:cNvPr id="10" name="Freeform 10"/>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1" name="TextBox 11"/>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p:cNvGrpSpPr/>
          <p:nvPr/>
        </p:nvGrpSpPr>
        <p:grpSpPr>
          <a:xfrm>
            <a:off x="1028700" y="2228619"/>
            <a:ext cx="16230600" cy="7193374"/>
            <a:chOff x="0" y="0"/>
            <a:chExt cx="4274726" cy="1894551"/>
          </a:xfrm>
        </p:grpSpPr>
        <p:sp>
          <p:nvSpPr>
            <p:cNvPr id="13" name="Freeform 13"/>
            <p:cNvSpPr/>
            <p:nvPr/>
          </p:nvSpPr>
          <p:spPr>
            <a:xfrm>
              <a:off x="0" y="0"/>
              <a:ext cx="4274726" cy="1894551"/>
            </a:xfrm>
            <a:custGeom>
              <a:avLst/>
              <a:gdLst/>
              <a:ahLst/>
              <a:cxnLst/>
              <a:rect l="l" t="t" r="r" b="b"/>
              <a:pathLst>
                <a:path w="4274726" h="1894551">
                  <a:moveTo>
                    <a:pt x="24327" y="0"/>
                  </a:moveTo>
                  <a:lnTo>
                    <a:pt x="4250399" y="0"/>
                  </a:lnTo>
                  <a:cubicBezTo>
                    <a:pt x="4263834" y="0"/>
                    <a:pt x="4274726" y="10891"/>
                    <a:pt x="4274726" y="24327"/>
                  </a:cubicBezTo>
                  <a:lnTo>
                    <a:pt x="4274726" y="1870224"/>
                  </a:lnTo>
                  <a:cubicBezTo>
                    <a:pt x="4274726" y="1883660"/>
                    <a:pt x="4263834" y="1894551"/>
                    <a:pt x="4250399" y="1894551"/>
                  </a:cubicBezTo>
                  <a:lnTo>
                    <a:pt x="24327" y="1894551"/>
                  </a:lnTo>
                  <a:cubicBezTo>
                    <a:pt x="17875" y="1894551"/>
                    <a:pt x="11687" y="1891988"/>
                    <a:pt x="7125" y="1887426"/>
                  </a:cubicBezTo>
                  <a:cubicBezTo>
                    <a:pt x="2563" y="1882864"/>
                    <a:pt x="0" y="1876676"/>
                    <a:pt x="0" y="1870224"/>
                  </a:cubicBezTo>
                  <a:lnTo>
                    <a:pt x="0" y="24327"/>
                  </a:lnTo>
                  <a:cubicBezTo>
                    <a:pt x="0" y="10891"/>
                    <a:pt x="10891" y="0"/>
                    <a:pt x="24327" y="0"/>
                  </a:cubicBezTo>
                  <a:close/>
                </a:path>
              </a:pathLst>
            </a:custGeom>
            <a:ln w="19050" cap="rnd">
              <a:solidFill>
                <a:srgbClr val="283396"/>
              </a:solidFill>
              <a:prstDash val="solid"/>
              <a:round/>
            </a:ln>
          </p:spPr>
        </p:sp>
        <p:sp>
          <p:nvSpPr>
            <p:cNvPr id="14" name="TextBox 14"/>
            <p:cNvSpPr txBox="1"/>
            <p:nvPr/>
          </p:nvSpPr>
          <p:spPr>
            <a:xfrm>
              <a:off x="0" y="-38100"/>
              <a:ext cx="4274726" cy="1932651"/>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p:cNvGrpSpPr/>
          <p:nvPr/>
        </p:nvGrpSpPr>
        <p:grpSpPr>
          <a:xfrm>
            <a:off x="1028700" y="2228619"/>
            <a:ext cx="6660588" cy="7193374"/>
            <a:chOff x="0" y="0"/>
            <a:chExt cx="1754229" cy="1894551"/>
          </a:xfrm>
        </p:grpSpPr>
        <p:sp>
          <p:nvSpPr>
            <p:cNvPr id="16" name="Freeform 16"/>
            <p:cNvSpPr/>
            <p:nvPr/>
          </p:nvSpPr>
          <p:spPr>
            <a:xfrm>
              <a:off x="0" y="0"/>
              <a:ext cx="1754229" cy="1894551"/>
            </a:xfrm>
            <a:custGeom>
              <a:avLst/>
              <a:gdLst/>
              <a:ahLst/>
              <a:cxnLst/>
              <a:rect l="l" t="t" r="r" b="b"/>
              <a:pathLst>
                <a:path w="1754229" h="1894551">
                  <a:moveTo>
                    <a:pt x="59280" y="0"/>
                  </a:moveTo>
                  <a:lnTo>
                    <a:pt x="1694949" y="0"/>
                  </a:lnTo>
                  <a:cubicBezTo>
                    <a:pt x="1710671" y="0"/>
                    <a:pt x="1725749" y="6246"/>
                    <a:pt x="1736866" y="17363"/>
                  </a:cubicBezTo>
                  <a:cubicBezTo>
                    <a:pt x="1747983" y="28480"/>
                    <a:pt x="1754229" y="43558"/>
                    <a:pt x="1754229" y="59280"/>
                  </a:cubicBezTo>
                  <a:lnTo>
                    <a:pt x="1754229" y="1835272"/>
                  </a:lnTo>
                  <a:cubicBezTo>
                    <a:pt x="1754229" y="1850993"/>
                    <a:pt x="1747983" y="1866072"/>
                    <a:pt x="1736866" y="1877189"/>
                  </a:cubicBezTo>
                  <a:cubicBezTo>
                    <a:pt x="1725749" y="1888306"/>
                    <a:pt x="1710671" y="1894551"/>
                    <a:pt x="1694949" y="1894551"/>
                  </a:cubicBezTo>
                  <a:lnTo>
                    <a:pt x="59280" y="1894551"/>
                  </a:lnTo>
                  <a:cubicBezTo>
                    <a:pt x="43558" y="1894551"/>
                    <a:pt x="28480" y="1888306"/>
                    <a:pt x="17363" y="1877189"/>
                  </a:cubicBezTo>
                  <a:cubicBezTo>
                    <a:pt x="6246" y="1866072"/>
                    <a:pt x="0" y="1850993"/>
                    <a:pt x="0" y="1835272"/>
                  </a:cubicBezTo>
                  <a:lnTo>
                    <a:pt x="0" y="59280"/>
                  </a:lnTo>
                  <a:cubicBezTo>
                    <a:pt x="0" y="43558"/>
                    <a:pt x="6246" y="28480"/>
                    <a:pt x="17363" y="17363"/>
                  </a:cubicBezTo>
                  <a:cubicBezTo>
                    <a:pt x="28480" y="6246"/>
                    <a:pt x="43558" y="0"/>
                    <a:pt x="59280" y="0"/>
                  </a:cubicBezTo>
                  <a:close/>
                </a:path>
              </a:pathLst>
            </a:custGeom>
            <a:ln w="19050" cap="rnd">
              <a:solidFill>
                <a:srgbClr val="283396"/>
              </a:solidFill>
              <a:prstDash val="solid"/>
              <a:round/>
            </a:ln>
          </p:spPr>
        </p:sp>
        <p:sp>
          <p:nvSpPr>
            <p:cNvPr id="17" name="TextBox 17"/>
            <p:cNvSpPr txBox="1"/>
            <p:nvPr/>
          </p:nvSpPr>
          <p:spPr>
            <a:xfrm>
              <a:off x="0" y="-38100"/>
              <a:ext cx="1754229" cy="1932651"/>
            </a:xfrm>
            <a:prstGeom prst="rect">
              <a:avLst/>
            </a:prstGeom>
          </p:spPr>
          <p:txBody>
            <a:bodyPr lIns="50800" tIns="50800" rIns="50800" bIns="50800" rtlCol="0" anchor="ctr"/>
            <a:lstStyle/>
            <a:p>
              <a:pPr marL="0" lvl="0" indent="0" algn="ctr">
                <a:lnSpc>
                  <a:spcPts val="2659"/>
                </a:lnSpc>
              </a:pPr>
              <a:endParaRPr/>
            </a:p>
          </p:txBody>
        </p:sp>
      </p:grpSp>
      <p:grpSp>
        <p:nvGrpSpPr>
          <p:cNvPr id="18" name="Group 18"/>
          <p:cNvGrpSpPr/>
          <p:nvPr/>
        </p:nvGrpSpPr>
        <p:grpSpPr>
          <a:xfrm>
            <a:off x="1028700" y="8478095"/>
            <a:ext cx="16230600" cy="943898"/>
            <a:chOff x="0" y="0"/>
            <a:chExt cx="4274726" cy="248599"/>
          </a:xfrm>
        </p:grpSpPr>
        <p:sp>
          <p:nvSpPr>
            <p:cNvPr id="19" name="Freeform 19"/>
            <p:cNvSpPr/>
            <p:nvPr/>
          </p:nvSpPr>
          <p:spPr>
            <a:xfrm>
              <a:off x="0" y="0"/>
              <a:ext cx="4274726" cy="248599"/>
            </a:xfrm>
            <a:custGeom>
              <a:avLst/>
              <a:gdLst/>
              <a:ahLst/>
              <a:cxnLst/>
              <a:rect l="l" t="t" r="r" b="b"/>
              <a:pathLst>
                <a:path w="4274726" h="248599">
                  <a:moveTo>
                    <a:pt x="24327" y="0"/>
                  </a:moveTo>
                  <a:lnTo>
                    <a:pt x="4250399" y="0"/>
                  </a:lnTo>
                  <a:cubicBezTo>
                    <a:pt x="4263834" y="0"/>
                    <a:pt x="4274726" y="10891"/>
                    <a:pt x="4274726" y="24327"/>
                  </a:cubicBezTo>
                  <a:lnTo>
                    <a:pt x="4274726" y="224272"/>
                  </a:lnTo>
                  <a:cubicBezTo>
                    <a:pt x="4274726" y="230724"/>
                    <a:pt x="4272163" y="236911"/>
                    <a:pt x="4267601" y="241474"/>
                  </a:cubicBezTo>
                  <a:cubicBezTo>
                    <a:pt x="4263039" y="246036"/>
                    <a:pt x="4256851" y="248599"/>
                    <a:pt x="4250399" y="248599"/>
                  </a:cubicBezTo>
                  <a:lnTo>
                    <a:pt x="24327" y="248599"/>
                  </a:lnTo>
                  <a:cubicBezTo>
                    <a:pt x="10891" y="248599"/>
                    <a:pt x="0" y="237707"/>
                    <a:pt x="0" y="224272"/>
                  </a:cubicBezTo>
                  <a:lnTo>
                    <a:pt x="0" y="24327"/>
                  </a:lnTo>
                  <a:cubicBezTo>
                    <a:pt x="0" y="10891"/>
                    <a:pt x="10891" y="0"/>
                    <a:pt x="24327" y="0"/>
                  </a:cubicBezTo>
                  <a:close/>
                </a:path>
              </a:pathLst>
            </a:custGeom>
            <a:solidFill>
              <a:srgbClr val="283396"/>
            </a:solidFill>
            <a:ln w="19050" cap="rnd">
              <a:solidFill>
                <a:srgbClr val="283396"/>
              </a:solidFill>
              <a:prstDash val="solid"/>
              <a:round/>
            </a:ln>
          </p:spPr>
        </p:sp>
        <p:sp>
          <p:nvSpPr>
            <p:cNvPr id="20" name="TextBox 20"/>
            <p:cNvSpPr txBox="1"/>
            <p:nvPr/>
          </p:nvSpPr>
          <p:spPr>
            <a:xfrm>
              <a:off x="0" y="-38100"/>
              <a:ext cx="4274726" cy="286699"/>
            </a:xfrm>
            <a:prstGeom prst="rect">
              <a:avLst/>
            </a:prstGeom>
          </p:spPr>
          <p:txBody>
            <a:bodyPr lIns="50800" tIns="50800" rIns="50800" bIns="50800" rtlCol="0" anchor="ctr"/>
            <a:lstStyle/>
            <a:p>
              <a:pPr marL="0" lvl="0" indent="0" algn="ctr">
                <a:lnSpc>
                  <a:spcPts val="2659"/>
                </a:lnSpc>
              </a:pPr>
              <a:endParaRPr/>
            </a:p>
          </p:txBody>
        </p:sp>
      </p:grpSp>
      <p:sp>
        <p:nvSpPr>
          <p:cNvPr id="21" name="Freeform 21"/>
          <p:cNvSpPr/>
          <p:nvPr/>
        </p:nvSpPr>
        <p:spPr>
          <a:xfrm>
            <a:off x="1683088" y="2814902"/>
            <a:ext cx="5091894" cy="5819308"/>
          </a:xfrm>
          <a:custGeom>
            <a:avLst/>
            <a:gdLst/>
            <a:ahLst/>
            <a:cxnLst/>
            <a:rect l="l" t="t" r="r" b="b"/>
            <a:pathLst>
              <a:path w="5091894" h="5819308">
                <a:moveTo>
                  <a:pt x="0" y="0"/>
                </a:moveTo>
                <a:lnTo>
                  <a:pt x="5091894" y="0"/>
                </a:lnTo>
                <a:lnTo>
                  <a:pt x="5091894" y="5819308"/>
                </a:lnTo>
                <a:lnTo>
                  <a:pt x="0" y="5819308"/>
                </a:lnTo>
                <a:lnTo>
                  <a:pt x="0" y="0"/>
                </a:lnTo>
                <a:close/>
              </a:path>
            </a:pathLst>
          </a:custGeom>
          <a:blipFill>
            <a:blip r:embed="rId4"/>
            <a:stretch>
              <a:fillRect/>
            </a:stretch>
          </a:blipFill>
        </p:spPr>
      </p:sp>
      <p:sp>
        <p:nvSpPr>
          <p:cNvPr id="22" name="TextBox 22"/>
          <p:cNvSpPr txBox="1"/>
          <p:nvPr/>
        </p:nvSpPr>
        <p:spPr>
          <a:xfrm>
            <a:off x="1350057" y="703130"/>
            <a:ext cx="2657415" cy="408330"/>
          </a:xfrm>
          <a:prstGeom prst="rect">
            <a:avLst/>
          </a:prstGeom>
        </p:spPr>
        <p:txBody>
          <a:bodyPr lIns="0" tIns="0" rIns="0" bIns="0" rtlCol="0" anchor="t">
            <a:spAutoFit/>
          </a:bodyPr>
          <a:lstStyle/>
          <a:p>
            <a:pPr marL="0" lvl="0" indent="0" algn="l">
              <a:lnSpc>
                <a:spcPts val="1626"/>
              </a:lnSpc>
            </a:pPr>
            <a:r>
              <a:rPr lang="en-US" sz="1659" b="1" spc="-101">
                <a:solidFill>
                  <a:srgbClr val="283396"/>
                </a:solidFill>
                <a:latin typeface="Montaser Arabic Bold"/>
                <a:ea typeface="Montaser Arabic Bold"/>
                <a:cs typeface="Montaser Arabic Bold"/>
                <a:sym typeface="Montaser Arabic Bold"/>
              </a:rPr>
              <a:t>PYTHON</a:t>
            </a:r>
          </a:p>
          <a:p>
            <a:pPr marL="0" lvl="0" indent="0" algn="l">
              <a:lnSpc>
                <a:spcPts val="1626"/>
              </a:lnSpc>
            </a:pPr>
            <a:r>
              <a:rPr lang="en-US" sz="1659" b="1" spc="-101">
                <a:solidFill>
                  <a:srgbClr val="283396"/>
                </a:solidFill>
                <a:latin typeface="Montaser Arabic Bold"/>
                <a:ea typeface="Montaser Arabic Bold"/>
                <a:cs typeface="Montaser Arabic Bold"/>
                <a:sym typeface="Montaser Arabic Bold"/>
              </a:rPr>
              <a:t>PRESENTATION</a:t>
            </a:r>
          </a:p>
        </p:txBody>
      </p:sp>
      <p:sp>
        <p:nvSpPr>
          <p:cNvPr id="23" name="TextBox 23"/>
          <p:cNvSpPr txBox="1"/>
          <p:nvPr/>
        </p:nvSpPr>
        <p:spPr>
          <a:xfrm>
            <a:off x="5337971" y="774825"/>
            <a:ext cx="1755559" cy="272162"/>
          </a:xfrm>
          <a:prstGeom prst="rect">
            <a:avLst/>
          </a:prstGeom>
        </p:spPr>
        <p:txBody>
          <a:bodyPr lIns="0" tIns="0" rIns="0" bIns="0" rtlCol="0" anchor="t">
            <a:spAutoFit/>
          </a:bodyPr>
          <a:lstStyle/>
          <a:p>
            <a:pPr marL="0" lvl="0" indent="0" algn="ctr">
              <a:lnSpc>
                <a:spcPts val="2323"/>
              </a:lnSpc>
              <a:spcBef>
                <a:spcPct val="0"/>
              </a:spcBef>
            </a:pPr>
            <a:r>
              <a:rPr lang="en-US" sz="1659">
                <a:solidFill>
                  <a:srgbClr val="283396"/>
                </a:solidFill>
                <a:latin typeface="Montaser Arabic"/>
                <a:ea typeface="Montaser Arabic"/>
                <a:cs typeface="Montaser Arabic"/>
                <a:sym typeface="Montaser Arabic"/>
              </a:rPr>
              <a:t>HOME</a:t>
            </a:r>
          </a:p>
        </p:txBody>
      </p:sp>
      <p:sp>
        <p:nvSpPr>
          <p:cNvPr id="24" name="TextBox 24"/>
          <p:cNvSpPr txBox="1"/>
          <p:nvPr/>
        </p:nvSpPr>
        <p:spPr>
          <a:xfrm>
            <a:off x="7463217" y="774825"/>
            <a:ext cx="2013772" cy="272162"/>
          </a:xfrm>
          <a:prstGeom prst="rect">
            <a:avLst/>
          </a:prstGeom>
        </p:spPr>
        <p:txBody>
          <a:bodyPr lIns="0" tIns="0" rIns="0" bIns="0" rtlCol="0" anchor="t">
            <a:spAutoFit/>
          </a:bodyPr>
          <a:lstStyle/>
          <a:p>
            <a:pPr marL="0" lvl="0" indent="0" algn="ctr">
              <a:lnSpc>
                <a:spcPts val="2323"/>
              </a:lnSpc>
              <a:spcBef>
                <a:spcPct val="0"/>
              </a:spcBef>
            </a:pPr>
            <a:r>
              <a:rPr lang="en-US" sz="1659">
                <a:solidFill>
                  <a:srgbClr val="283396"/>
                </a:solidFill>
                <a:latin typeface="Montaser Arabic"/>
                <a:ea typeface="Montaser Arabic"/>
                <a:cs typeface="Montaser Arabic"/>
                <a:sym typeface="Montaser Arabic"/>
              </a:rPr>
              <a:t>ABOUT</a:t>
            </a:r>
          </a:p>
        </p:txBody>
      </p:sp>
      <p:sp>
        <p:nvSpPr>
          <p:cNvPr id="25" name="TextBox 25"/>
          <p:cNvSpPr txBox="1"/>
          <p:nvPr/>
        </p:nvSpPr>
        <p:spPr>
          <a:xfrm>
            <a:off x="9856201" y="774825"/>
            <a:ext cx="2024119" cy="272162"/>
          </a:xfrm>
          <a:prstGeom prst="rect">
            <a:avLst/>
          </a:prstGeom>
        </p:spPr>
        <p:txBody>
          <a:bodyPr lIns="0" tIns="0" rIns="0" bIns="0" rtlCol="0" anchor="t">
            <a:spAutoFit/>
          </a:bodyPr>
          <a:lstStyle/>
          <a:p>
            <a:pPr marL="0" lvl="0" indent="0" algn="ctr">
              <a:lnSpc>
                <a:spcPts val="2323"/>
              </a:lnSpc>
              <a:spcBef>
                <a:spcPct val="0"/>
              </a:spcBef>
            </a:pPr>
            <a:r>
              <a:rPr lang="en-US" sz="1659" b="1">
                <a:solidFill>
                  <a:srgbClr val="283396"/>
                </a:solidFill>
                <a:latin typeface="Montaser Arabic Bold"/>
                <a:ea typeface="Montaser Arabic Bold"/>
                <a:cs typeface="Montaser Arabic Bold"/>
                <a:sym typeface="Montaser Arabic Bold"/>
              </a:rPr>
              <a:t>CONTENT</a:t>
            </a:r>
          </a:p>
        </p:txBody>
      </p:sp>
      <p:sp>
        <p:nvSpPr>
          <p:cNvPr id="26" name="TextBox 26"/>
          <p:cNvSpPr txBox="1"/>
          <p:nvPr/>
        </p:nvSpPr>
        <p:spPr>
          <a:xfrm>
            <a:off x="12101593" y="774825"/>
            <a:ext cx="2349448" cy="272162"/>
          </a:xfrm>
          <a:prstGeom prst="rect">
            <a:avLst/>
          </a:prstGeom>
        </p:spPr>
        <p:txBody>
          <a:bodyPr lIns="0" tIns="0" rIns="0" bIns="0" rtlCol="0" anchor="t">
            <a:spAutoFit/>
          </a:bodyPr>
          <a:lstStyle/>
          <a:p>
            <a:pPr marL="0" lvl="0" indent="0" algn="ctr">
              <a:lnSpc>
                <a:spcPts val="2323"/>
              </a:lnSpc>
              <a:spcBef>
                <a:spcPct val="0"/>
              </a:spcBef>
            </a:pPr>
            <a:r>
              <a:rPr lang="en-US" sz="1659">
                <a:solidFill>
                  <a:srgbClr val="283396"/>
                </a:solidFill>
                <a:latin typeface="Montaser Arabic"/>
                <a:ea typeface="Montaser Arabic"/>
                <a:cs typeface="Montaser Arabic"/>
                <a:sym typeface="Montaser Arabic"/>
              </a:rPr>
              <a:t>OTHERS</a:t>
            </a:r>
          </a:p>
        </p:txBody>
      </p:sp>
      <p:sp>
        <p:nvSpPr>
          <p:cNvPr id="27" name="TextBox 27"/>
          <p:cNvSpPr txBox="1"/>
          <p:nvPr/>
        </p:nvSpPr>
        <p:spPr>
          <a:xfrm>
            <a:off x="1080344" y="8763645"/>
            <a:ext cx="16127312" cy="466033"/>
          </a:xfrm>
          <a:prstGeom prst="rect">
            <a:avLst/>
          </a:prstGeom>
        </p:spPr>
        <p:txBody>
          <a:bodyPr lIns="0" tIns="0" rIns="0" bIns="0" rtlCol="0" anchor="t">
            <a:spAutoFit/>
          </a:bodyPr>
          <a:lstStyle/>
          <a:p>
            <a:pPr marL="0" lvl="0" indent="0" algn="ctr">
              <a:lnSpc>
                <a:spcPts val="2944"/>
              </a:lnSpc>
            </a:pPr>
            <a:r>
              <a:rPr lang="en-US" sz="2886" b="1" spc="-103">
                <a:solidFill>
                  <a:srgbClr val="EFEEEB"/>
                </a:solidFill>
                <a:latin typeface="Agrandir Grand Bold"/>
                <a:ea typeface="Agrandir Grand Bold"/>
                <a:cs typeface="Agrandir Grand Bold"/>
                <a:sym typeface="Agrandir Grand Bold"/>
              </a:rPr>
              <a:t>PYTHON PRESENTATION - PYTHON PRESENTATION</a:t>
            </a:r>
          </a:p>
        </p:txBody>
      </p:sp>
      <p:sp>
        <p:nvSpPr>
          <p:cNvPr id="28" name="TextBox 28"/>
          <p:cNvSpPr txBox="1"/>
          <p:nvPr/>
        </p:nvSpPr>
        <p:spPr>
          <a:xfrm>
            <a:off x="8371326" y="2915395"/>
            <a:ext cx="8361017" cy="826508"/>
          </a:xfrm>
          <a:prstGeom prst="rect">
            <a:avLst/>
          </a:prstGeom>
        </p:spPr>
        <p:txBody>
          <a:bodyPr lIns="0" tIns="0" rIns="0" bIns="0" rtlCol="0" anchor="t">
            <a:spAutoFit/>
          </a:bodyPr>
          <a:lstStyle/>
          <a:p>
            <a:pPr marL="0" lvl="0" indent="0" algn="l">
              <a:lnSpc>
                <a:spcPts val="6356"/>
              </a:lnSpc>
            </a:pPr>
            <a:r>
              <a:rPr lang="en-US" sz="6231" b="1" spc="-224" dirty="0">
                <a:solidFill>
                  <a:srgbClr val="283396"/>
                </a:solidFill>
                <a:latin typeface="+mj-lt"/>
                <a:ea typeface="Agrandir Grand Bold"/>
                <a:cs typeface="Agrandir Grand Bold"/>
                <a:sym typeface="Agrandir Grand Bold"/>
              </a:rPr>
              <a:t>SUMMARY</a:t>
            </a:r>
          </a:p>
        </p:txBody>
      </p:sp>
      <p:sp>
        <p:nvSpPr>
          <p:cNvPr id="29" name="TextBox 29"/>
          <p:cNvSpPr txBox="1"/>
          <p:nvPr/>
        </p:nvSpPr>
        <p:spPr>
          <a:xfrm>
            <a:off x="8567113" y="3941167"/>
            <a:ext cx="7832113" cy="2585323"/>
          </a:xfrm>
          <a:prstGeom prst="rect">
            <a:avLst/>
          </a:prstGeom>
        </p:spPr>
        <p:txBody>
          <a:bodyPr wrap="square" lIns="0" tIns="0" rIns="0" bIns="0" rtlCol="0" anchor="t">
            <a:spAutoFit/>
          </a:bodyPr>
          <a:lstStyle/>
          <a:p>
            <a:pPr marL="0" lvl="0" indent="0"/>
            <a:r>
              <a:rPr lang="en-US" sz="2800" b="1" dirty="0">
                <a:solidFill>
                  <a:srgbClr val="283396"/>
                </a:solidFill>
                <a:ea typeface="Montaser Arabic Light"/>
                <a:cs typeface="Montaser Arabic Light"/>
                <a:sym typeface="Montaser Arabic Light"/>
              </a:rPr>
              <a:t>We covered programming language concepts, program implementation, IDLE vs IDE, compiler vs interpreter, virtual machines, the Python Virtual Machine (PVM), machine code vs bytecode, types of Python implementations, and the Python program execution pipeline.</a:t>
            </a:r>
          </a:p>
        </p:txBody>
      </p:sp>
      <p:grpSp>
        <p:nvGrpSpPr>
          <p:cNvPr id="30" name="Group 30"/>
          <p:cNvGrpSpPr/>
          <p:nvPr/>
        </p:nvGrpSpPr>
        <p:grpSpPr>
          <a:xfrm>
            <a:off x="8231158" y="7326404"/>
            <a:ext cx="2119546" cy="627805"/>
            <a:chOff x="0" y="0"/>
            <a:chExt cx="558234" cy="165348"/>
          </a:xfrm>
        </p:grpSpPr>
        <p:sp>
          <p:nvSpPr>
            <p:cNvPr id="31" name="Freeform 31"/>
            <p:cNvSpPr/>
            <p:nvPr/>
          </p:nvSpPr>
          <p:spPr>
            <a:xfrm>
              <a:off x="0" y="0"/>
              <a:ext cx="558234" cy="165348"/>
            </a:xfrm>
            <a:custGeom>
              <a:avLst/>
              <a:gdLst/>
              <a:ahLst/>
              <a:cxnLst/>
              <a:rect l="l" t="t" r="r" b="b"/>
              <a:pathLst>
                <a:path w="558234" h="165348">
                  <a:moveTo>
                    <a:pt x="82674" y="0"/>
                  </a:moveTo>
                  <a:lnTo>
                    <a:pt x="475560" y="0"/>
                  </a:lnTo>
                  <a:cubicBezTo>
                    <a:pt x="521220" y="0"/>
                    <a:pt x="558234" y="37014"/>
                    <a:pt x="558234" y="82674"/>
                  </a:cubicBezTo>
                  <a:lnTo>
                    <a:pt x="558234" y="82674"/>
                  </a:lnTo>
                  <a:cubicBezTo>
                    <a:pt x="558234" y="104600"/>
                    <a:pt x="549524" y="125629"/>
                    <a:pt x="534020" y="141133"/>
                  </a:cubicBezTo>
                  <a:cubicBezTo>
                    <a:pt x="518515" y="156638"/>
                    <a:pt x="497487" y="165348"/>
                    <a:pt x="475560" y="165348"/>
                  </a:cubicBezTo>
                  <a:lnTo>
                    <a:pt x="82674" y="165348"/>
                  </a:lnTo>
                  <a:cubicBezTo>
                    <a:pt x="37014" y="165348"/>
                    <a:pt x="0" y="128334"/>
                    <a:pt x="0" y="82674"/>
                  </a:cubicBezTo>
                  <a:lnTo>
                    <a:pt x="0" y="82674"/>
                  </a:lnTo>
                  <a:cubicBezTo>
                    <a:pt x="0" y="37014"/>
                    <a:pt x="37014" y="0"/>
                    <a:pt x="82674" y="0"/>
                  </a:cubicBezTo>
                  <a:close/>
                </a:path>
              </a:pathLst>
            </a:custGeom>
            <a:solidFill>
              <a:srgbClr val="D43838"/>
            </a:solidFill>
            <a:ln cap="rnd">
              <a:noFill/>
              <a:prstDash val="solid"/>
              <a:round/>
            </a:ln>
          </p:spPr>
        </p:sp>
        <p:sp>
          <p:nvSpPr>
            <p:cNvPr id="32" name="TextBox 32"/>
            <p:cNvSpPr txBox="1"/>
            <p:nvPr/>
          </p:nvSpPr>
          <p:spPr>
            <a:xfrm>
              <a:off x="0" y="-28575"/>
              <a:ext cx="558234" cy="193923"/>
            </a:xfrm>
            <a:prstGeom prst="rect">
              <a:avLst/>
            </a:prstGeom>
          </p:spPr>
          <p:txBody>
            <a:bodyPr lIns="50800" tIns="50800" rIns="50800" bIns="50800" rtlCol="0" anchor="ctr"/>
            <a:lstStyle/>
            <a:p>
              <a:pPr marL="0" lvl="0" indent="0" algn="ctr">
                <a:lnSpc>
                  <a:spcPts val="2323"/>
                </a:lnSpc>
              </a:pPr>
              <a:r>
                <a:rPr lang="en-US" sz="1659" b="1">
                  <a:solidFill>
                    <a:srgbClr val="FFFFFF"/>
                  </a:solidFill>
                  <a:latin typeface="Montaser Arabic Bold"/>
                  <a:ea typeface="Montaser Arabic Bold"/>
                  <a:cs typeface="Montaser Arabic Bold"/>
                  <a:sym typeface="Montaser Arabic Bold"/>
                </a:rPr>
                <a:t>NEXT SLIDE</a:t>
              </a:r>
            </a:p>
          </p:txBody>
        </p:sp>
      </p:grpSp>
      <p:grpSp>
        <p:nvGrpSpPr>
          <p:cNvPr id="33" name="Group 33"/>
          <p:cNvGrpSpPr/>
          <p:nvPr/>
        </p:nvGrpSpPr>
        <p:grpSpPr>
          <a:xfrm>
            <a:off x="15196410" y="6433517"/>
            <a:ext cx="1535933" cy="1535933"/>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35" name="TextBox 35"/>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36" name="Group 36"/>
          <p:cNvGrpSpPr/>
          <p:nvPr/>
        </p:nvGrpSpPr>
        <p:grpSpPr>
          <a:xfrm>
            <a:off x="15529526" y="6790791"/>
            <a:ext cx="869701" cy="821384"/>
            <a:chOff x="0" y="0"/>
            <a:chExt cx="685800" cy="647700"/>
          </a:xfrm>
        </p:grpSpPr>
        <p:sp>
          <p:nvSpPr>
            <p:cNvPr id="37" name="Freeform 37"/>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38" name="TextBox 38"/>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grpSp>
        <p:nvGrpSpPr>
          <p:cNvPr id="39" name="Group 39"/>
          <p:cNvGrpSpPr/>
          <p:nvPr/>
        </p:nvGrpSpPr>
        <p:grpSpPr>
          <a:xfrm>
            <a:off x="573096" y="2031154"/>
            <a:ext cx="1210061" cy="1210061"/>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41" name="TextBox 41"/>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42" name="Group 42"/>
          <p:cNvGrpSpPr/>
          <p:nvPr/>
        </p:nvGrpSpPr>
        <p:grpSpPr>
          <a:xfrm>
            <a:off x="835536" y="2312627"/>
            <a:ext cx="685181" cy="647115"/>
            <a:chOff x="0" y="0"/>
            <a:chExt cx="685800" cy="647700"/>
          </a:xfrm>
        </p:grpSpPr>
        <p:sp>
          <p:nvSpPr>
            <p:cNvPr id="43" name="Freeform 43"/>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44" name="TextBox 44"/>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FEEEB"/>
        </a:solidFill>
        <a:effectLst/>
      </p:bgPr>
    </p:bg>
    <p:spTree>
      <p:nvGrpSpPr>
        <p:cNvPr id="1" name=""/>
        <p:cNvGrpSpPr/>
        <p:nvPr/>
      </p:nvGrpSpPr>
      <p:grpSpPr>
        <a:xfrm>
          <a:off x="0" y="0"/>
          <a:ext cx="0" cy="0"/>
          <a:chOff x="0" y="0"/>
          <a:chExt cx="0" cy="0"/>
        </a:xfrm>
      </p:grpSpPr>
      <p:sp>
        <p:nvSpPr>
          <p:cNvPr id="2" name="Freeform 2"/>
          <p:cNvSpPr/>
          <p:nvPr/>
        </p:nvSpPr>
        <p:spPr>
          <a:xfrm>
            <a:off x="8428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3" name="Freeform 3"/>
          <p:cNvSpPr/>
          <p:nvPr/>
        </p:nvSpPr>
        <p:spPr>
          <a:xfrm>
            <a:off x="-427476" y="0"/>
            <a:ext cx="10287000" cy="10287000"/>
          </a:xfrm>
          <a:custGeom>
            <a:avLst/>
            <a:gdLst/>
            <a:ahLst/>
            <a:cxnLst/>
            <a:rect l="l" t="t" r="r" b="b"/>
            <a:pathLst>
              <a:path w="10287000" h="10287000">
                <a:moveTo>
                  <a:pt x="0" y="0"/>
                </a:moveTo>
                <a:lnTo>
                  <a:pt x="10287000" y="0"/>
                </a:lnTo>
                <a:lnTo>
                  <a:pt x="10287000" y="10287000"/>
                </a:lnTo>
                <a:lnTo>
                  <a:pt x="0" y="10287000"/>
                </a:lnTo>
                <a:lnTo>
                  <a:pt x="0" y="0"/>
                </a:lnTo>
                <a:close/>
              </a:path>
            </a:pathLst>
          </a:custGeom>
          <a:blipFill>
            <a:blip>
              <a:alphaModFix amt="30000"/>
              <a:extLst>
                <a:ext uri="{96DAC541-7B7A-43D3-8B79-37D633B846F1}">
                  <asvg:svgBlip xmlns:asvg="http://schemas.microsoft.com/office/drawing/2016/SVG/main" r:embed="rId2"/>
                </a:ext>
              </a:extLst>
            </a:blip>
            <a:stretch>
              <a:fillRect/>
            </a:stretch>
          </a:blipFill>
        </p:spPr>
      </p:sp>
      <p:sp>
        <p:nvSpPr>
          <p:cNvPr id="4" name="AutoShape 4"/>
          <p:cNvSpPr/>
          <p:nvPr/>
        </p:nvSpPr>
        <p:spPr>
          <a:xfrm>
            <a:off x="1028700" y="1413444"/>
            <a:ext cx="16230600" cy="0"/>
          </a:xfrm>
          <a:prstGeom prst="line">
            <a:avLst/>
          </a:prstGeom>
          <a:ln w="9525" cap="flat">
            <a:solidFill>
              <a:srgbClr val="283396"/>
            </a:solidFill>
            <a:prstDash val="solid"/>
            <a:headEnd type="none" w="sm" len="sm"/>
            <a:tailEnd type="none" w="sm" len="sm"/>
          </a:ln>
        </p:spPr>
      </p:sp>
      <p:sp>
        <p:nvSpPr>
          <p:cNvPr id="5" name="Freeform 5"/>
          <p:cNvSpPr/>
          <p:nvPr/>
        </p:nvSpPr>
        <p:spPr>
          <a:xfrm>
            <a:off x="16789493" y="734782"/>
            <a:ext cx="469807" cy="370783"/>
          </a:xfrm>
          <a:custGeom>
            <a:avLst/>
            <a:gdLst/>
            <a:ahLst/>
            <a:cxnLst/>
            <a:rect l="l" t="t" r="r" b="b"/>
            <a:pathLst>
              <a:path w="469807" h="370783">
                <a:moveTo>
                  <a:pt x="0" y="0"/>
                </a:moveTo>
                <a:lnTo>
                  <a:pt x="469807" y="0"/>
                </a:lnTo>
                <a:lnTo>
                  <a:pt x="469807" y="370783"/>
                </a:lnTo>
                <a:lnTo>
                  <a:pt x="0" y="370783"/>
                </a:lnTo>
                <a:lnTo>
                  <a:pt x="0" y="0"/>
                </a:lnTo>
                <a:close/>
              </a:path>
            </a:pathLst>
          </a:custGeom>
          <a:blipFill>
            <a:blip>
              <a:extLst>
                <a:ext uri="{96DAC541-7B7A-43D3-8B79-37D633B846F1}">
                  <asvg:svgBlip xmlns:asvg="http://schemas.microsoft.com/office/drawing/2016/SVG/main" r:embed="rId3"/>
                </a:ext>
              </a:extLst>
            </a:blip>
            <a:stretch>
              <a:fillRect r="-264580" b="-73020"/>
            </a:stretch>
          </a:blipFill>
        </p:spPr>
      </p:sp>
      <p:grpSp>
        <p:nvGrpSpPr>
          <p:cNvPr id="6" name="Group 6"/>
          <p:cNvGrpSpPr/>
          <p:nvPr/>
        </p:nvGrpSpPr>
        <p:grpSpPr>
          <a:xfrm>
            <a:off x="1085850" y="665030"/>
            <a:ext cx="92277" cy="524320"/>
            <a:chOff x="0" y="0"/>
            <a:chExt cx="24303" cy="138092"/>
          </a:xfrm>
        </p:grpSpPr>
        <p:sp>
          <p:nvSpPr>
            <p:cNvPr id="7" name="Freeform 7"/>
            <p:cNvSpPr/>
            <p:nvPr/>
          </p:nvSpPr>
          <p:spPr>
            <a:xfrm>
              <a:off x="0" y="0"/>
              <a:ext cx="24303" cy="138092"/>
            </a:xfrm>
            <a:custGeom>
              <a:avLst/>
              <a:gdLst/>
              <a:ahLst/>
              <a:cxnLst/>
              <a:rect l="l" t="t" r="r" b="b"/>
              <a:pathLst>
                <a:path w="24303" h="138092">
                  <a:moveTo>
                    <a:pt x="12152" y="0"/>
                  </a:moveTo>
                  <a:lnTo>
                    <a:pt x="12152" y="0"/>
                  </a:lnTo>
                  <a:cubicBezTo>
                    <a:pt x="15375" y="0"/>
                    <a:pt x="18465" y="1280"/>
                    <a:pt x="20744" y="3559"/>
                  </a:cubicBezTo>
                  <a:cubicBezTo>
                    <a:pt x="23023" y="5838"/>
                    <a:pt x="24303" y="8929"/>
                    <a:pt x="24303" y="12152"/>
                  </a:cubicBezTo>
                  <a:lnTo>
                    <a:pt x="24303" y="125941"/>
                  </a:lnTo>
                  <a:cubicBezTo>
                    <a:pt x="24303" y="132652"/>
                    <a:pt x="18863" y="138092"/>
                    <a:pt x="12152" y="138092"/>
                  </a:cubicBezTo>
                  <a:lnTo>
                    <a:pt x="12152" y="138092"/>
                  </a:lnTo>
                  <a:cubicBezTo>
                    <a:pt x="5440" y="138092"/>
                    <a:pt x="0" y="132652"/>
                    <a:pt x="0" y="125941"/>
                  </a:cubicBezTo>
                  <a:lnTo>
                    <a:pt x="0" y="12152"/>
                  </a:lnTo>
                  <a:cubicBezTo>
                    <a:pt x="0" y="5440"/>
                    <a:pt x="5440" y="0"/>
                    <a:pt x="12152" y="0"/>
                  </a:cubicBezTo>
                  <a:close/>
                </a:path>
              </a:pathLst>
            </a:custGeom>
            <a:solidFill>
              <a:srgbClr val="D43838"/>
            </a:solidFill>
          </p:spPr>
        </p:sp>
        <p:sp>
          <p:nvSpPr>
            <p:cNvPr id="8" name="TextBox 8"/>
            <p:cNvSpPr txBox="1"/>
            <p:nvPr/>
          </p:nvSpPr>
          <p:spPr>
            <a:xfrm>
              <a:off x="0" y="-38100"/>
              <a:ext cx="24303" cy="176192"/>
            </a:xfrm>
            <a:prstGeom prst="rect">
              <a:avLst/>
            </a:prstGeom>
          </p:spPr>
          <p:txBody>
            <a:bodyPr lIns="50800" tIns="50800" rIns="50800" bIns="50800" rtlCol="0" anchor="ctr"/>
            <a:lstStyle/>
            <a:p>
              <a:pPr marL="0" lvl="0" indent="0" algn="ctr">
                <a:lnSpc>
                  <a:spcPts val="2659"/>
                </a:lnSpc>
              </a:pPr>
              <a:endParaRPr/>
            </a:p>
          </p:txBody>
        </p:sp>
      </p:grpSp>
      <p:grpSp>
        <p:nvGrpSpPr>
          <p:cNvPr id="9" name="Group 9"/>
          <p:cNvGrpSpPr/>
          <p:nvPr/>
        </p:nvGrpSpPr>
        <p:grpSpPr>
          <a:xfrm>
            <a:off x="12736178" y="1359977"/>
            <a:ext cx="1080278" cy="106932"/>
            <a:chOff x="0" y="0"/>
            <a:chExt cx="284518" cy="28163"/>
          </a:xfrm>
        </p:grpSpPr>
        <p:sp>
          <p:nvSpPr>
            <p:cNvPr id="10" name="Freeform 10"/>
            <p:cNvSpPr/>
            <p:nvPr/>
          </p:nvSpPr>
          <p:spPr>
            <a:xfrm>
              <a:off x="0" y="0"/>
              <a:ext cx="284518" cy="28163"/>
            </a:xfrm>
            <a:custGeom>
              <a:avLst/>
              <a:gdLst/>
              <a:ahLst/>
              <a:cxnLst/>
              <a:rect l="l" t="t" r="r" b="b"/>
              <a:pathLst>
                <a:path w="284518" h="28163">
                  <a:moveTo>
                    <a:pt x="14082" y="0"/>
                  </a:moveTo>
                  <a:lnTo>
                    <a:pt x="270436" y="0"/>
                  </a:lnTo>
                  <a:cubicBezTo>
                    <a:pt x="278213" y="0"/>
                    <a:pt x="284518" y="6305"/>
                    <a:pt x="284518" y="14082"/>
                  </a:cubicBezTo>
                  <a:lnTo>
                    <a:pt x="284518" y="14082"/>
                  </a:lnTo>
                  <a:cubicBezTo>
                    <a:pt x="284518" y="21859"/>
                    <a:pt x="278213" y="28163"/>
                    <a:pt x="270436" y="28163"/>
                  </a:cubicBezTo>
                  <a:lnTo>
                    <a:pt x="14082" y="28163"/>
                  </a:lnTo>
                  <a:cubicBezTo>
                    <a:pt x="6305" y="28163"/>
                    <a:pt x="0" y="21859"/>
                    <a:pt x="0" y="14082"/>
                  </a:cubicBezTo>
                  <a:lnTo>
                    <a:pt x="0" y="14082"/>
                  </a:lnTo>
                  <a:cubicBezTo>
                    <a:pt x="0" y="6305"/>
                    <a:pt x="6305" y="0"/>
                    <a:pt x="14082" y="0"/>
                  </a:cubicBezTo>
                  <a:close/>
                </a:path>
              </a:pathLst>
            </a:custGeom>
            <a:solidFill>
              <a:srgbClr val="D43838"/>
            </a:solidFill>
          </p:spPr>
        </p:sp>
        <p:sp>
          <p:nvSpPr>
            <p:cNvPr id="11" name="TextBox 11"/>
            <p:cNvSpPr txBox="1"/>
            <p:nvPr/>
          </p:nvSpPr>
          <p:spPr>
            <a:xfrm>
              <a:off x="0" y="-38100"/>
              <a:ext cx="284518" cy="66263"/>
            </a:xfrm>
            <a:prstGeom prst="rect">
              <a:avLst/>
            </a:prstGeom>
          </p:spPr>
          <p:txBody>
            <a:bodyPr lIns="50800" tIns="50800" rIns="50800" bIns="50800" rtlCol="0" anchor="ctr"/>
            <a:lstStyle/>
            <a:p>
              <a:pPr marL="0" lvl="0" indent="0" algn="ctr">
                <a:lnSpc>
                  <a:spcPts val="2659"/>
                </a:lnSpc>
              </a:pPr>
              <a:endParaRPr/>
            </a:p>
          </p:txBody>
        </p:sp>
      </p:grpSp>
      <p:grpSp>
        <p:nvGrpSpPr>
          <p:cNvPr id="12" name="Group 12"/>
          <p:cNvGrpSpPr/>
          <p:nvPr/>
        </p:nvGrpSpPr>
        <p:grpSpPr>
          <a:xfrm>
            <a:off x="1028700" y="8478095"/>
            <a:ext cx="16230600" cy="943898"/>
            <a:chOff x="0" y="0"/>
            <a:chExt cx="4274726" cy="248599"/>
          </a:xfrm>
        </p:grpSpPr>
        <p:sp>
          <p:nvSpPr>
            <p:cNvPr id="13" name="Freeform 13"/>
            <p:cNvSpPr/>
            <p:nvPr/>
          </p:nvSpPr>
          <p:spPr>
            <a:xfrm>
              <a:off x="0" y="0"/>
              <a:ext cx="4274726" cy="248599"/>
            </a:xfrm>
            <a:custGeom>
              <a:avLst/>
              <a:gdLst/>
              <a:ahLst/>
              <a:cxnLst/>
              <a:rect l="l" t="t" r="r" b="b"/>
              <a:pathLst>
                <a:path w="4274726" h="248599">
                  <a:moveTo>
                    <a:pt x="24327" y="0"/>
                  </a:moveTo>
                  <a:lnTo>
                    <a:pt x="4250399" y="0"/>
                  </a:lnTo>
                  <a:cubicBezTo>
                    <a:pt x="4263834" y="0"/>
                    <a:pt x="4274726" y="10891"/>
                    <a:pt x="4274726" y="24327"/>
                  </a:cubicBezTo>
                  <a:lnTo>
                    <a:pt x="4274726" y="224272"/>
                  </a:lnTo>
                  <a:cubicBezTo>
                    <a:pt x="4274726" y="230724"/>
                    <a:pt x="4272163" y="236911"/>
                    <a:pt x="4267601" y="241474"/>
                  </a:cubicBezTo>
                  <a:cubicBezTo>
                    <a:pt x="4263039" y="246036"/>
                    <a:pt x="4256851" y="248599"/>
                    <a:pt x="4250399" y="248599"/>
                  </a:cubicBezTo>
                  <a:lnTo>
                    <a:pt x="24327" y="248599"/>
                  </a:lnTo>
                  <a:cubicBezTo>
                    <a:pt x="10891" y="248599"/>
                    <a:pt x="0" y="237707"/>
                    <a:pt x="0" y="224272"/>
                  </a:cubicBezTo>
                  <a:lnTo>
                    <a:pt x="0" y="24327"/>
                  </a:lnTo>
                  <a:cubicBezTo>
                    <a:pt x="0" y="10891"/>
                    <a:pt x="10891" y="0"/>
                    <a:pt x="24327" y="0"/>
                  </a:cubicBezTo>
                  <a:close/>
                </a:path>
              </a:pathLst>
            </a:custGeom>
            <a:solidFill>
              <a:srgbClr val="283396"/>
            </a:solidFill>
            <a:ln w="19050" cap="rnd">
              <a:solidFill>
                <a:srgbClr val="283396"/>
              </a:solidFill>
              <a:prstDash val="solid"/>
              <a:round/>
            </a:ln>
          </p:spPr>
        </p:sp>
        <p:sp>
          <p:nvSpPr>
            <p:cNvPr id="14" name="TextBox 14"/>
            <p:cNvSpPr txBox="1"/>
            <p:nvPr/>
          </p:nvSpPr>
          <p:spPr>
            <a:xfrm>
              <a:off x="0" y="-38100"/>
              <a:ext cx="4274726" cy="286699"/>
            </a:xfrm>
            <a:prstGeom prst="rect">
              <a:avLst/>
            </a:prstGeom>
          </p:spPr>
          <p:txBody>
            <a:bodyPr lIns="50800" tIns="50800" rIns="50800" bIns="50800" rtlCol="0" anchor="ctr"/>
            <a:lstStyle/>
            <a:p>
              <a:pPr marL="0" lvl="0" indent="0" algn="ctr">
                <a:lnSpc>
                  <a:spcPts val="2659"/>
                </a:lnSpc>
              </a:pPr>
              <a:endParaRPr/>
            </a:p>
          </p:txBody>
        </p:sp>
      </p:grpSp>
      <p:grpSp>
        <p:nvGrpSpPr>
          <p:cNvPr id="15" name="Group 15"/>
          <p:cNvGrpSpPr/>
          <p:nvPr/>
        </p:nvGrpSpPr>
        <p:grpSpPr>
          <a:xfrm>
            <a:off x="1028700" y="4749434"/>
            <a:ext cx="16230600" cy="4672559"/>
            <a:chOff x="0" y="0"/>
            <a:chExt cx="4274726" cy="1230633"/>
          </a:xfrm>
        </p:grpSpPr>
        <p:sp>
          <p:nvSpPr>
            <p:cNvPr id="16" name="Freeform 16"/>
            <p:cNvSpPr/>
            <p:nvPr/>
          </p:nvSpPr>
          <p:spPr>
            <a:xfrm>
              <a:off x="0" y="0"/>
              <a:ext cx="4274726" cy="1230633"/>
            </a:xfrm>
            <a:custGeom>
              <a:avLst/>
              <a:gdLst/>
              <a:ahLst/>
              <a:cxnLst/>
              <a:rect l="l" t="t" r="r" b="b"/>
              <a:pathLst>
                <a:path w="4274726" h="1230633">
                  <a:moveTo>
                    <a:pt x="24327" y="0"/>
                  </a:moveTo>
                  <a:lnTo>
                    <a:pt x="4250399" y="0"/>
                  </a:lnTo>
                  <a:cubicBezTo>
                    <a:pt x="4263834" y="0"/>
                    <a:pt x="4274726" y="10891"/>
                    <a:pt x="4274726" y="24327"/>
                  </a:cubicBezTo>
                  <a:lnTo>
                    <a:pt x="4274726" y="1206306"/>
                  </a:lnTo>
                  <a:cubicBezTo>
                    <a:pt x="4274726" y="1212758"/>
                    <a:pt x="4272163" y="1218946"/>
                    <a:pt x="4267601" y="1223508"/>
                  </a:cubicBezTo>
                  <a:cubicBezTo>
                    <a:pt x="4263039" y="1228070"/>
                    <a:pt x="4256851" y="1230633"/>
                    <a:pt x="4250399" y="1230633"/>
                  </a:cubicBezTo>
                  <a:lnTo>
                    <a:pt x="24327" y="1230633"/>
                  </a:lnTo>
                  <a:cubicBezTo>
                    <a:pt x="10891" y="1230633"/>
                    <a:pt x="0" y="1219741"/>
                    <a:pt x="0" y="1206306"/>
                  </a:cubicBezTo>
                  <a:lnTo>
                    <a:pt x="0" y="24327"/>
                  </a:lnTo>
                  <a:cubicBezTo>
                    <a:pt x="0" y="10891"/>
                    <a:pt x="10891" y="0"/>
                    <a:pt x="24327" y="0"/>
                  </a:cubicBezTo>
                  <a:close/>
                </a:path>
              </a:pathLst>
            </a:custGeom>
            <a:ln w="19050" cap="rnd">
              <a:solidFill>
                <a:srgbClr val="283396"/>
              </a:solidFill>
              <a:prstDash val="solid"/>
              <a:round/>
            </a:ln>
          </p:spPr>
        </p:sp>
        <p:sp>
          <p:nvSpPr>
            <p:cNvPr id="17" name="TextBox 17"/>
            <p:cNvSpPr txBox="1"/>
            <p:nvPr/>
          </p:nvSpPr>
          <p:spPr>
            <a:xfrm>
              <a:off x="0" y="-38100"/>
              <a:ext cx="4274726" cy="1268733"/>
            </a:xfrm>
            <a:prstGeom prst="rect">
              <a:avLst/>
            </a:prstGeom>
          </p:spPr>
          <p:txBody>
            <a:bodyPr lIns="50800" tIns="50800" rIns="50800" bIns="50800" rtlCol="0" anchor="ctr"/>
            <a:lstStyle/>
            <a:p>
              <a:pPr marL="0" lvl="0" indent="0" algn="ctr">
                <a:lnSpc>
                  <a:spcPts val="2659"/>
                </a:lnSpc>
              </a:pPr>
              <a:endParaRPr/>
            </a:p>
          </p:txBody>
        </p:sp>
      </p:grpSp>
      <p:grpSp>
        <p:nvGrpSpPr>
          <p:cNvPr id="18" name="Group 18"/>
          <p:cNvGrpSpPr/>
          <p:nvPr/>
        </p:nvGrpSpPr>
        <p:grpSpPr>
          <a:xfrm>
            <a:off x="1028700" y="2228619"/>
            <a:ext cx="16230600" cy="2914881"/>
            <a:chOff x="0" y="0"/>
            <a:chExt cx="4274726" cy="767705"/>
          </a:xfrm>
        </p:grpSpPr>
        <p:sp>
          <p:nvSpPr>
            <p:cNvPr id="19" name="Freeform 19"/>
            <p:cNvSpPr/>
            <p:nvPr/>
          </p:nvSpPr>
          <p:spPr>
            <a:xfrm>
              <a:off x="0" y="0"/>
              <a:ext cx="4274726" cy="767705"/>
            </a:xfrm>
            <a:custGeom>
              <a:avLst/>
              <a:gdLst/>
              <a:ahLst/>
              <a:cxnLst/>
              <a:rect l="l" t="t" r="r" b="b"/>
              <a:pathLst>
                <a:path w="4274726" h="767705">
                  <a:moveTo>
                    <a:pt x="24327" y="0"/>
                  </a:moveTo>
                  <a:lnTo>
                    <a:pt x="4250399" y="0"/>
                  </a:lnTo>
                  <a:cubicBezTo>
                    <a:pt x="4263834" y="0"/>
                    <a:pt x="4274726" y="10891"/>
                    <a:pt x="4274726" y="24327"/>
                  </a:cubicBezTo>
                  <a:lnTo>
                    <a:pt x="4274726" y="743379"/>
                  </a:lnTo>
                  <a:cubicBezTo>
                    <a:pt x="4274726" y="749830"/>
                    <a:pt x="4272163" y="756018"/>
                    <a:pt x="4267601" y="760580"/>
                  </a:cubicBezTo>
                  <a:cubicBezTo>
                    <a:pt x="4263039" y="765142"/>
                    <a:pt x="4256851" y="767705"/>
                    <a:pt x="4250399" y="767705"/>
                  </a:cubicBezTo>
                  <a:lnTo>
                    <a:pt x="24327" y="767705"/>
                  </a:lnTo>
                  <a:cubicBezTo>
                    <a:pt x="10891" y="767705"/>
                    <a:pt x="0" y="756814"/>
                    <a:pt x="0" y="743379"/>
                  </a:cubicBezTo>
                  <a:lnTo>
                    <a:pt x="0" y="24327"/>
                  </a:lnTo>
                  <a:cubicBezTo>
                    <a:pt x="0" y="10891"/>
                    <a:pt x="10891" y="0"/>
                    <a:pt x="24327" y="0"/>
                  </a:cubicBezTo>
                  <a:close/>
                </a:path>
              </a:pathLst>
            </a:custGeom>
            <a:ln w="19050" cap="rnd">
              <a:solidFill>
                <a:srgbClr val="283396"/>
              </a:solidFill>
              <a:prstDash val="solid"/>
              <a:round/>
            </a:ln>
          </p:spPr>
        </p:sp>
        <p:sp>
          <p:nvSpPr>
            <p:cNvPr id="20" name="TextBox 20"/>
            <p:cNvSpPr txBox="1"/>
            <p:nvPr/>
          </p:nvSpPr>
          <p:spPr>
            <a:xfrm>
              <a:off x="0" y="-38100"/>
              <a:ext cx="4274726" cy="805805"/>
            </a:xfrm>
            <a:prstGeom prst="rect">
              <a:avLst/>
            </a:prstGeom>
          </p:spPr>
          <p:txBody>
            <a:bodyPr lIns="50800" tIns="50800" rIns="50800" bIns="50800" rtlCol="0" anchor="ctr"/>
            <a:lstStyle/>
            <a:p>
              <a:pPr marL="0" lvl="0" indent="0" algn="ctr">
                <a:lnSpc>
                  <a:spcPts val="2659"/>
                </a:lnSpc>
              </a:pPr>
              <a:endParaRPr/>
            </a:p>
          </p:txBody>
        </p:sp>
      </p:grpSp>
      <p:sp>
        <p:nvSpPr>
          <p:cNvPr id="21" name="Freeform 21"/>
          <p:cNvSpPr/>
          <p:nvPr/>
        </p:nvSpPr>
        <p:spPr>
          <a:xfrm>
            <a:off x="2553649" y="4322625"/>
            <a:ext cx="3410343" cy="4108847"/>
          </a:xfrm>
          <a:custGeom>
            <a:avLst/>
            <a:gdLst/>
            <a:ahLst/>
            <a:cxnLst/>
            <a:rect l="l" t="t" r="r" b="b"/>
            <a:pathLst>
              <a:path w="3410343" h="4108847">
                <a:moveTo>
                  <a:pt x="0" y="0"/>
                </a:moveTo>
                <a:lnTo>
                  <a:pt x="3410343" y="0"/>
                </a:lnTo>
                <a:lnTo>
                  <a:pt x="3410343" y="4108847"/>
                </a:lnTo>
                <a:lnTo>
                  <a:pt x="0" y="4108847"/>
                </a:lnTo>
                <a:lnTo>
                  <a:pt x="0" y="0"/>
                </a:lnTo>
                <a:close/>
              </a:path>
            </a:pathLst>
          </a:custGeom>
          <a:blipFill>
            <a:blip r:embed="rId4"/>
            <a:stretch>
              <a:fillRect/>
            </a:stretch>
          </a:blipFill>
        </p:spPr>
      </p:sp>
      <p:sp>
        <p:nvSpPr>
          <p:cNvPr id="22" name="Freeform 22"/>
          <p:cNvSpPr/>
          <p:nvPr/>
        </p:nvSpPr>
        <p:spPr>
          <a:xfrm>
            <a:off x="7443060" y="4601350"/>
            <a:ext cx="3503110" cy="3596526"/>
          </a:xfrm>
          <a:custGeom>
            <a:avLst/>
            <a:gdLst/>
            <a:ahLst/>
            <a:cxnLst/>
            <a:rect l="l" t="t" r="r" b="b"/>
            <a:pathLst>
              <a:path w="3503110" h="3596526">
                <a:moveTo>
                  <a:pt x="0" y="0"/>
                </a:moveTo>
                <a:lnTo>
                  <a:pt x="3503110" y="0"/>
                </a:lnTo>
                <a:lnTo>
                  <a:pt x="3503110" y="3596526"/>
                </a:lnTo>
                <a:lnTo>
                  <a:pt x="0" y="3596526"/>
                </a:lnTo>
                <a:lnTo>
                  <a:pt x="0" y="0"/>
                </a:lnTo>
                <a:close/>
              </a:path>
            </a:pathLst>
          </a:custGeom>
          <a:blipFill>
            <a:blip r:embed="rId5"/>
            <a:stretch>
              <a:fillRect/>
            </a:stretch>
          </a:blipFill>
        </p:spPr>
      </p:sp>
      <p:sp>
        <p:nvSpPr>
          <p:cNvPr id="23" name="Freeform 23"/>
          <p:cNvSpPr/>
          <p:nvPr/>
        </p:nvSpPr>
        <p:spPr>
          <a:xfrm>
            <a:off x="12152008" y="4257315"/>
            <a:ext cx="3930065" cy="3974782"/>
          </a:xfrm>
          <a:custGeom>
            <a:avLst/>
            <a:gdLst/>
            <a:ahLst/>
            <a:cxnLst/>
            <a:rect l="l" t="t" r="r" b="b"/>
            <a:pathLst>
              <a:path w="3930065" h="3974782">
                <a:moveTo>
                  <a:pt x="0" y="0"/>
                </a:moveTo>
                <a:lnTo>
                  <a:pt x="3930065" y="0"/>
                </a:lnTo>
                <a:lnTo>
                  <a:pt x="3930065" y="3974782"/>
                </a:lnTo>
                <a:lnTo>
                  <a:pt x="0" y="3974782"/>
                </a:lnTo>
                <a:lnTo>
                  <a:pt x="0" y="0"/>
                </a:lnTo>
                <a:close/>
              </a:path>
            </a:pathLst>
          </a:custGeom>
          <a:blipFill>
            <a:blip r:embed="rId6"/>
            <a:stretch>
              <a:fillRect/>
            </a:stretch>
          </a:blipFill>
        </p:spPr>
      </p:sp>
      <p:sp>
        <p:nvSpPr>
          <p:cNvPr id="24" name="TextBox 24"/>
          <p:cNvSpPr txBox="1"/>
          <p:nvPr/>
        </p:nvSpPr>
        <p:spPr>
          <a:xfrm>
            <a:off x="1350057" y="693605"/>
            <a:ext cx="2657415" cy="396031"/>
          </a:xfrm>
          <a:prstGeom prst="rect">
            <a:avLst/>
          </a:prstGeom>
        </p:spPr>
        <p:txBody>
          <a:bodyPr lIns="0" tIns="0" rIns="0" bIns="0" rtlCol="0" anchor="t">
            <a:spAutoFit/>
          </a:bodyPr>
          <a:lstStyle/>
          <a:p>
            <a:pPr marL="0" lvl="0" indent="0" algn="l">
              <a:lnSpc>
                <a:spcPts val="1529"/>
              </a:lnSpc>
            </a:pPr>
            <a:r>
              <a:rPr lang="en-US" sz="1560" b="1" spc="-95">
                <a:solidFill>
                  <a:srgbClr val="283396"/>
                </a:solidFill>
                <a:latin typeface="Montaser Arabic Bold"/>
                <a:ea typeface="Montaser Arabic Bold"/>
                <a:cs typeface="Montaser Arabic Bold"/>
                <a:sym typeface="Montaser Arabic Bold"/>
              </a:rPr>
              <a:t>PYTHON</a:t>
            </a:r>
          </a:p>
          <a:p>
            <a:pPr marL="0" lvl="0" indent="0" algn="l">
              <a:lnSpc>
                <a:spcPts val="1529"/>
              </a:lnSpc>
            </a:pPr>
            <a:r>
              <a:rPr lang="en-US" sz="1560" b="1" spc="-95">
                <a:solidFill>
                  <a:srgbClr val="283396"/>
                </a:solidFill>
                <a:latin typeface="Montaser Arabic Bold"/>
                <a:ea typeface="Montaser Arabic Bold"/>
                <a:cs typeface="Montaser Arabic Bold"/>
                <a:sym typeface="Montaser Arabic Bold"/>
              </a:rPr>
              <a:t>PRESENTATION</a:t>
            </a:r>
          </a:p>
        </p:txBody>
      </p:sp>
      <p:sp>
        <p:nvSpPr>
          <p:cNvPr id="25" name="TextBox 25"/>
          <p:cNvSpPr txBox="1"/>
          <p:nvPr/>
        </p:nvSpPr>
        <p:spPr>
          <a:xfrm>
            <a:off x="5337971" y="765300"/>
            <a:ext cx="1755559"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HOME</a:t>
            </a:r>
          </a:p>
        </p:txBody>
      </p:sp>
      <p:sp>
        <p:nvSpPr>
          <p:cNvPr id="26" name="TextBox 26"/>
          <p:cNvSpPr txBox="1"/>
          <p:nvPr/>
        </p:nvSpPr>
        <p:spPr>
          <a:xfrm>
            <a:off x="7463217" y="765300"/>
            <a:ext cx="2013772"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ABOUT</a:t>
            </a:r>
          </a:p>
        </p:txBody>
      </p:sp>
      <p:sp>
        <p:nvSpPr>
          <p:cNvPr id="27" name="TextBox 27"/>
          <p:cNvSpPr txBox="1"/>
          <p:nvPr/>
        </p:nvSpPr>
        <p:spPr>
          <a:xfrm>
            <a:off x="9856201" y="774825"/>
            <a:ext cx="2024119" cy="265158"/>
          </a:xfrm>
          <a:prstGeom prst="rect">
            <a:avLst/>
          </a:prstGeom>
        </p:spPr>
        <p:txBody>
          <a:bodyPr lIns="0" tIns="0" rIns="0" bIns="0" rtlCol="0" anchor="t">
            <a:spAutoFit/>
          </a:bodyPr>
          <a:lstStyle/>
          <a:p>
            <a:pPr marL="0" lvl="0" indent="0" algn="ctr">
              <a:lnSpc>
                <a:spcPts val="2184"/>
              </a:lnSpc>
              <a:spcBef>
                <a:spcPct val="0"/>
              </a:spcBef>
            </a:pPr>
            <a:r>
              <a:rPr lang="en-US" sz="1560" b="1">
                <a:solidFill>
                  <a:srgbClr val="283396"/>
                </a:solidFill>
                <a:latin typeface="Montaser Arabic Bold"/>
                <a:ea typeface="Montaser Arabic Bold"/>
                <a:cs typeface="Montaser Arabic Bold"/>
                <a:sym typeface="Montaser Arabic Bold"/>
              </a:rPr>
              <a:t>CONTENT</a:t>
            </a:r>
          </a:p>
        </p:txBody>
      </p:sp>
      <p:sp>
        <p:nvSpPr>
          <p:cNvPr id="28" name="TextBox 28"/>
          <p:cNvSpPr txBox="1"/>
          <p:nvPr/>
        </p:nvSpPr>
        <p:spPr>
          <a:xfrm>
            <a:off x="12101593" y="765300"/>
            <a:ext cx="2349448" cy="323249"/>
          </a:xfrm>
          <a:prstGeom prst="rect">
            <a:avLst/>
          </a:prstGeom>
        </p:spPr>
        <p:txBody>
          <a:bodyPr lIns="0" tIns="0" rIns="0" bIns="0" rtlCol="0" anchor="t">
            <a:spAutoFit/>
          </a:bodyPr>
          <a:lstStyle/>
          <a:p>
            <a:pPr marL="0" lvl="0" indent="0" algn="ctr">
              <a:lnSpc>
                <a:spcPts val="2658"/>
              </a:lnSpc>
              <a:spcBef>
                <a:spcPct val="0"/>
              </a:spcBef>
            </a:pPr>
            <a:r>
              <a:rPr lang="en-US" sz="1898">
                <a:solidFill>
                  <a:srgbClr val="283396"/>
                </a:solidFill>
                <a:latin typeface="Montaser Arabic"/>
                <a:ea typeface="Montaser Arabic"/>
                <a:cs typeface="Montaser Arabic"/>
                <a:sym typeface="Montaser Arabic"/>
              </a:rPr>
              <a:t>OTHERS</a:t>
            </a:r>
          </a:p>
        </p:txBody>
      </p:sp>
      <p:sp>
        <p:nvSpPr>
          <p:cNvPr id="31" name="TextBox 31"/>
          <p:cNvSpPr txBox="1"/>
          <p:nvPr/>
        </p:nvSpPr>
        <p:spPr>
          <a:xfrm>
            <a:off x="8289176" y="8773641"/>
            <a:ext cx="1709648" cy="277558"/>
          </a:xfrm>
          <a:prstGeom prst="rect">
            <a:avLst/>
          </a:prstGeom>
        </p:spPr>
        <p:txBody>
          <a:bodyPr lIns="0" tIns="0" rIns="0" bIns="0" rtlCol="0" anchor="t">
            <a:spAutoFit/>
          </a:bodyPr>
          <a:lstStyle/>
          <a:p>
            <a:pPr marL="0" lvl="0" indent="0" algn="ctr">
              <a:lnSpc>
                <a:spcPts val="1759"/>
              </a:lnSpc>
            </a:pPr>
            <a:r>
              <a:rPr lang="en-US" sz="1725" b="1" spc="-62">
                <a:solidFill>
                  <a:srgbClr val="EFEEEB"/>
                </a:solidFill>
                <a:latin typeface="Agrandir Grand Bold"/>
                <a:ea typeface="Agrandir Grand Bold"/>
                <a:cs typeface="Agrandir Grand Bold"/>
                <a:sym typeface="Agrandir Grand Bold"/>
              </a:rPr>
              <a:t>-</a:t>
            </a:r>
          </a:p>
        </p:txBody>
      </p:sp>
      <p:sp>
        <p:nvSpPr>
          <p:cNvPr id="32" name="TextBox 32"/>
          <p:cNvSpPr txBox="1"/>
          <p:nvPr/>
        </p:nvSpPr>
        <p:spPr>
          <a:xfrm>
            <a:off x="1515883" y="2874044"/>
            <a:ext cx="5825947" cy="1125757"/>
          </a:xfrm>
          <a:prstGeom prst="rect">
            <a:avLst/>
          </a:prstGeom>
        </p:spPr>
        <p:txBody>
          <a:bodyPr wrap="square" lIns="0" tIns="0" rIns="0" bIns="0" rtlCol="0" anchor="t">
            <a:spAutoFit/>
          </a:bodyPr>
          <a:lstStyle/>
          <a:p>
            <a:pPr marL="0" lvl="0" indent="0" algn="l">
              <a:lnSpc>
                <a:spcPts val="8707"/>
              </a:lnSpc>
            </a:pPr>
            <a:r>
              <a:rPr lang="en-US" sz="8536" b="1" spc="-307" dirty="0">
                <a:solidFill>
                  <a:srgbClr val="283396"/>
                </a:solidFill>
                <a:latin typeface="+mj-lt"/>
                <a:ea typeface="Agrandir Grand Bold"/>
                <a:cs typeface="Agrandir Grand Bold"/>
                <a:sym typeface="Agrandir Grand Bold"/>
              </a:rPr>
              <a:t>QUESTIONS?</a:t>
            </a:r>
          </a:p>
        </p:txBody>
      </p:sp>
      <p:sp>
        <p:nvSpPr>
          <p:cNvPr id="33" name="TextBox 33"/>
          <p:cNvSpPr txBox="1"/>
          <p:nvPr/>
        </p:nvSpPr>
        <p:spPr>
          <a:xfrm>
            <a:off x="10161676" y="2798816"/>
            <a:ext cx="6627817" cy="1489382"/>
          </a:xfrm>
          <a:prstGeom prst="rect">
            <a:avLst/>
          </a:prstGeom>
        </p:spPr>
        <p:txBody>
          <a:bodyPr lIns="0" tIns="0" rIns="0" bIns="0" rtlCol="0" anchor="t">
            <a:spAutoFit/>
          </a:bodyPr>
          <a:lstStyle/>
          <a:p>
            <a:pPr marL="0" lvl="0" indent="0">
              <a:lnSpc>
                <a:spcPts val="2937"/>
              </a:lnSpc>
            </a:pPr>
            <a:r>
              <a:rPr lang="en-US" sz="2800" b="1" dirty="0">
                <a:solidFill>
                  <a:srgbClr val="283396"/>
                </a:solidFill>
                <a:ea typeface="Montaser Arabic Light"/>
                <a:cs typeface="Montaser Arabic Light"/>
                <a:sym typeface="Montaser Arabic Light"/>
              </a:rPr>
              <a:t>Thank you for exploring Python Programming Concepts with us! Feel free to ask any questions or reach out for further information about Python programming.</a:t>
            </a:r>
          </a:p>
        </p:txBody>
      </p:sp>
      <p:grpSp>
        <p:nvGrpSpPr>
          <p:cNvPr id="34" name="Group 34"/>
          <p:cNvGrpSpPr/>
          <p:nvPr/>
        </p:nvGrpSpPr>
        <p:grpSpPr>
          <a:xfrm>
            <a:off x="16654269" y="6417598"/>
            <a:ext cx="1210061" cy="1210061"/>
            <a:chOff x="0" y="0"/>
            <a:chExt cx="812800" cy="812800"/>
          </a:xfrm>
        </p:grpSpPr>
        <p:sp>
          <p:nvSpPr>
            <p:cNvPr id="35" name="Freeform 3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36" name="TextBox 36"/>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37" name="Group 37"/>
          <p:cNvGrpSpPr/>
          <p:nvPr/>
        </p:nvGrpSpPr>
        <p:grpSpPr>
          <a:xfrm>
            <a:off x="16916710" y="6699071"/>
            <a:ext cx="685181" cy="647115"/>
            <a:chOff x="0" y="0"/>
            <a:chExt cx="685800" cy="647700"/>
          </a:xfrm>
        </p:grpSpPr>
        <p:sp>
          <p:nvSpPr>
            <p:cNvPr id="38" name="Freeform 38"/>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39" name="TextBox 39"/>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grpSp>
        <p:nvGrpSpPr>
          <p:cNvPr id="40" name="Group 40"/>
          <p:cNvGrpSpPr/>
          <p:nvPr/>
        </p:nvGrpSpPr>
        <p:grpSpPr>
          <a:xfrm>
            <a:off x="573096" y="5489009"/>
            <a:ext cx="1210061" cy="1210061"/>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9B60F"/>
            </a:solidFill>
          </p:spPr>
        </p:sp>
        <p:sp>
          <p:nvSpPr>
            <p:cNvPr id="42" name="TextBox 42"/>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pPr>
              <a:endParaRPr/>
            </a:p>
          </p:txBody>
        </p:sp>
      </p:grpSp>
      <p:grpSp>
        <p:nvGrpSpPr>
          <p:cNvPr id="43" name="Group 43"/>
          <p:cNvGrpSpPr/>
          <p:nvPr/>
        </p:nvGrpSpPr>
        <p:grpSpPr>
          <a:xfrm>
            <a:off x="835536" y="5770482"/>
            <a:ext cx="685181" cy="647115"/>
            <a:chOff x="0" y="0"/>
            <a:chExt cx="685800" cy="647700"/>
          </a:xfrm>
        </p:grpSpPr>
        <p:sp>
          <p:nvSpPr>
            <p:cNvPr id="44" name="Freeform 44"/>
            <p:cNvSpPr/>
            <p:nvPr/>
          </p:nvSpPr>
          <p:spPr>
            <a:xfrm>
              <a:off x="0" y="0"/>
              <a:ext cx="685800" cy="647700"/>
            </a:xfrm>
            <a:custGeom>
              <a:avLst/>
              <a:gdLst/>
              <a:ahLst/>
              <a:cxnLst/>
              <a:rect l="l" t="t" r="r" b="b"/>
              <a:pathLst>
                <a:path w="685800" h="647700">
                  <a:moveTo>
                    <a:pt x="546100" y="50800"/>
                  </a:moveTo>
                  <a:lnTo>
                    <a:pt x="419100" y="279400"/>
                  </a:lnTo>
                  <a:lnTo>
                    <a:pt x="685800" y="279400"/>
                  </a:lnTo>
                  <a:lnTo>
                    <a:pt x="685800" y="368300"/>
                  </a:lnTo>
                  <a:lnTo>
                    <a:pt x="419100" y="368300"/>
                  </a:lnTo>
                  <a:lnTo>
                    <a:pt x="546100" y="596900"/>
                  </a:lnTo>
                  <a:lnTo>
                    <a:pt x="469900" y="647700"/>
                  </a:lnTo>
                  <a:lnTo>
                    <a:pt x="342900" y="406400"/>
                  </a:lnTo>
                  <a:lnTo>
                    <a:pt x="203200" y="647700"/>
                  </a:lnTo>
                  <a:lnTo>
                    <a:pt x="127000" y="596900"/>
                  </a:lnTo>
                  <a:lnTo>
                    <a:pt x="266700" y="368300"/>
                  </a:lnTo>
                  <a:lnTo>
                    <a:pt x="0" y="368300"/>
                  </a:lnTo>
                  <a:lnTo>
                    <a:pt x="0" y="279400"/>
                  </a:lnTo>
                  <a:lnTo>
                    <a:pt x="266700" y="279400"/>
                  </a:lnTo>
                  <a:lnTo>
                    <a:pt x="127000" y="50800"/>
                  </a:lnTo>
                  <a:lnTo>
                    <a:pt x="203200" y="0"/>
                  </a:lnTo>
                  <a:lnTo>
                    <a:pt x="342900" y="241300"/>
                  </a:lnTo>
                  <a:lnTo>
                    <a:pt x="469900" y="0"/>
                  </a:lnTo>
                  <a:lnTo>
                    <a:pt x="546100" y="50800"/>
                  </a:lnTo>
                  <a:close/>
                </a:path>
              </a:pathLst>
            </a:custGeom>
            <a:solidFill>
              <a:srgbClr val="D43838"/>
            </a:solidFill>
          </p:spPr>
        </p:sp>
        <p:sp>
          <p:nvSpPr>
            <p:cNvPr id="45" name="TextBox 45"/>
            <p:cNvSpPr txBox="1"/>
            <p:nvPr/>
          </p:nvSpPr>
          <p:spPr>
            <a:xfrm>
              <a:off x="171450" y="114300"/>
              <a:ext cx="342900" cy="381000"/>
            </a:xfrm>
            <a:prstGeom prst="rect">
              <a:avLst/>
            </a:prstGeom>
          </p:spPr>
          <p:txBody>
            <a:bodyPr lIns="50800" tIns="50800" rIns="50800" bIns="50800" rtlCol="0" anchor="ctr"/>
            <a:lstStyle/>
            <a:p>
              <a:pPr marL="0" lvl="0" indent="0"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438</TotalTime>
  <Words>1037</Words>
  <Application>Microsoft Office PowerPoint</Application>
  <PresentationFormat>Custom</PresentationFormat>
  <Paragraphs>171</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Montaser Arabic Light</vt:lpstr>
      <vt:lpstr>Calibri</vt:lpstr>
      <vt:lpstr>TT Supermolot Neue Expanded</vt:lpstr>
      <vt:lpstr>TT Supermolot Neue Expanded Bold</vt:lpstr>
      <vt:lpstr>Montaser Arabic</vt:lpstr>
      <vt:lpstr>Arial</vt:lpstr>
      <vt:lpstr>Agrandir Grand Bold</vt:lpstr>
      <vt:lpstr>Montaser Arabic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Programming Levels Overview</dc:title>
  <dc:creator>Triveni</dc:creator>
  <cp:lastModifiedBy>Triveni Singh</cp:lastModifiedBy>
  <cp:revision>8</cp:revision>
  <dcterms:created xsi:type="dcterms:W3CDTF">2006-08-16T00:00:00Z</dcterms:created>
  <dcterms:modified xsi:type="dcterms:W3CDTF">2026-05-19T03:47:48Z</dcterms:modified>
  <dc:identifier>DAHJ5bIsqAU</dc:identifier>
</cp:coreProperties>
</file>