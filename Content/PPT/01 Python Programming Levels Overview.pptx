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9" r:id="rId3"/>
    <p:sldId id="257" r:id="rId4"/>
    <p:sldId id="258" r:id="rId5"/>
    <p:sldId id="270" r:id="rId6"/>
    <p:sldId id="267" r:id="rId7"/>
    <p:sldId id="268" r:id="rId8"/>
    <p:sldId id="259" r:id="rId9"/>
    <p:sldId id="260" r:id="rId10"/>
    <p:sldId id="261" r:id="rId11"/>
    <p:sldId id="262" r:id="rId12"/>
    <p:sldId id="263" r:id="rId13"/>
    <p:sldId id="264" r:id="rId14"/>
    <p:sldId id="271" r:id="rId15"/>
    <p:sldId id="272" r:id="rId16"/>
    <p:sldId id="265" r:id="rId17"/>
    <p:sldId id="266" r:id="rId18"/>
  </p:sldIdLst>
  <p:sldSz cx="18288000" cy="10287000"/>
  <p:notesSz cx="6858000" cy="9144000"/>
  <p:embeddedFontLst>
    <p:embeddedFont>
      <p:font typeface="Agrandir Grand Bold" panose="020B0604020202020204" charset="0"/>
      <p:regular r:id="rId19"/>
    </p:embeddedFont>
    <p:embeddedFont>
      <p:font typeface="Montaser Arabic" panose="020B0604020202020204" charset="-78"/>
      <p:regular r:id="rId20"/>
    </p:embeddedFont>
    <p:embeddedFont>
      <p:font typeface="Montaser Arabic Bold" panose="020B0604020202020204" charset="-78"/>
      <p:regular r:id="rId21"/>
    </p:embeddedFont>
    <p:embeddedFont>
      <p:font typeface="Montaser Arabic Light" panose="020B0604020202020204" charset="-78"/>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3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8478095"/>
            <a:ext cx="16230600" cy="943898"/>
            <a:chOff x="0" y="0"/>
            <a:chExt cx="4274726" cy="248599"/>
          </a:xfrm>
        </p:grpSpPr>
        <p:sp>
          <p:nvSpPr>
            <p:cNvPr id="13" name="Freeform 13"/>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4" name="TextBox 14"/>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85850" y="2119722"/>
            <a:ext cx="6419658" cy="5848164"/>
            <a:chOff x="0" y="0"/>
            <a:chExt cx="1752642" cy="1596617"/>
          </a:xfrm>
        </p:grpSpPr>
        <p:sp>
          <p:nvSpPr>
            <p:cNvPr id="16" name="Freeform 16"/>
            <p:cNvSpPr/>
            <p:nvPr/>
          </p:nvSpPr>
          <p:spPr>
            <a:xfrm>
              <a:off x="0" y="0"/>
              <a:ext cx="1752642" cy="1596617"/>
            </a:xfrm>
            <a:custGeom>
              <a:avLst/>
              <a:gdLst/>
              <a:ahLst/>
              <a:cxnLst/>
              <a:rect l="l" t="t" r="r" b="b"/>
              <a:pathLst>
                <a:path w="1752642" h="1596617">
                  <a:moveTo>
                    <a:pt x="61505" y="0"/>
                  </a:moveTo>
                  <a:lnTo>
                    <a:pt x="1691137" y="0"/>
                  </a:lnTo>
                  <a:cubicBezTo>
                    <a:pt x="1725105" y="0"/>
                    <a:pt x="1752642" y="27537"/>
                    <a:pt x="1752642" y="61505"/>
                  </a:cubicBezTo>
                  <a:lnTo>
                    <a:pt x="1752642" y="1535113"/>
                  </a:lnTo>
                  <a:cubicBezTo>
                    <a:pt x="1752642" y="1569081"/>
                    <a:pt x="1725105" y="1596617"/>
                    <a:pt x="1691137" y="1596617"/>
                  </a:cubicBezTo>
                  <a:lnTo>
                    <a:pt x="61505" y="1596617"/>
                  </a:lnTo>
                  <a:cubicBezTo>
                    <a:pt x="27537" y="1596617"/>
                    <a:pt x="0" y="1569081"/>
                    <a:pt x="0" y="1535113"/>
                  </a:cubicBezTo>
                  <a:lnTo>
                    <a:pt x="0" y="61505"/>
                  </a:lnTo>
                  <a:cubicBezTo>
                    <a:pt x="0" y="27537"/>
                    <a:pt x="27537" y="0"/>
                    <a:pt x="61505" y="0"/>
                  </a:cubicBezTo>
                  <a:close/>
                </a:path>
              </a:pathLst>
            </a:custGeom>
            <a:ln w="19050" cap="rnd">
              <a:solidFill>
                <a:srgbClr val="283396"/>
              </a:solidFill>
              <a:prstDash val="solid"/>
              <a:round/>
            </a:ln>
          </p:spPr>
        </p:sp>
        <p:sp>
          <p:nvSpPr>
            <p:cNvPr id="17" name="TextBox 17"/>
            <p:cNvSpPr txBox="1"/>
            <p:nvPr/>
          </p:nvSpPr>
          <p:spPr>
            <a:xfrm>
              <a:off x="0" y="-38100"/>
              <a:ext cx="1752642" cy="1634717"/>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85850" y="6860295"/>
            <a:ext cx="6419658" cy="1107591"/>
            <a:chOff x="0" y="0"/>
            <a:chExt cx="1690774" cy="291711"/>
          </a:xfrm>
        </p:grpSpPr>
        <p:sp>
          <p:nvSpPr>
            <p:cNvPr id="19" name="Freeform 19"/>
            <p:cNvSpPr/>
            <p:nvPr/>
          </p:nvSpPr>
          <p:spPr>
            <a:xfrm>
              <a:off x="0" y="0"/>
              <a:ext cx="1690774" cy="291711"/>
            </a:xfrm>
            <a:custGeom>
              <a:avLst/>
              <a:gdLst/>
              <a:ahLst/>
              <a:cxnLst/>
              <a:rect l="l" t="t" r="r" b="b"/>
              <a:pathLst>
                <a:path w="1690774" h="291711">
                  <a:moveTo>
                    <a:pt x="61505" y="0"/>
                  </a:moveTo>
                  <a:lnTo>
                    <a:pt x="1629270" y="0"/>
                  </a:lnTo>
                  <a:cubicBezTo>
                    <a:pt x="1663238" y="0"/>
                    <a:pt x="1690774" y="27537"/>
                    <a:pt x="1690774" y="61505"/>
                  </a:cubicBezTo>
                  <a:lnTo>
                    <a:pt x="1690774" y="230207"/>
                  </a:lnTo>
                  <a:cubicBezTo>
                    <a:pt x="1690774" y="246519"/>
                    <a:pt x="1684294" y="262163"/>
                    <a:pt x="1672760" y="273697"/>
                  </a:cubicBezTo>
                  <a:cubicBezTo>
                    <a:pt x="1661226" y="285231"/>
                    <a:pt x="1645582" y="291711"/>
                    <a:pt x="1629270" y="291711"/>
                  </a:cubicBezTo>
                  <a:lnTo>
                    <a:pt x="61505" y="291711"/>
                  </a:lnTo>
                  <a:cubicBezTo>
                    <a:pt x="27537" y="291711"/>
                    <a:pt x="0" y="264175"/>
                    <a:pt x="0" y="230207"/>
                  </a:cubicBezTo>
                  <a:lnTo>
                    <a:pt x="0" y="61505"/>
                  </a:lnTo>
                  <a:cubicBezTo>
                    <a:pt x="0" y="27537"/>
                    <a:pt x="27537" y="0"/>
                    <a:pt x="61505"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1690774" cy="329811"/>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1608363" y="2483495"/>
            <a:ext cx="4668231" cy="4609878"/>
          </a:xfrm>
          <a:custGeom>
            <a:avLst/>
            <a:gdLst/>
            <a:ahLst/>
            <a:cxnLst/>
            <a:rect l="l" t="t" r="r" b="b"/>
            <a:pathLst>
              <a:path w="4668231" h="4609878">
                <a:moveTo>
                  <a:pt x="0" y="0"/>
                </a:moveTo>
                <a:lnTo>
                  <a:pt x="4668231" y="0"/>
                </a:lnTo>
                <a:lnTo>
                  <a:pt x="4668231" y="4609878"/>
                </a:lnTo>
                <a:lnTo>
                  <a:pt x="0" y="4609878"/>
                </a:lnTo>
                <a:lnTo>
                  <a:pt x="0" y="0"/>
                </a:lnTo>
                <a:close/>
              </a:path>
            </a:pathLst>
          </a:custGeom>
          <a:blipFill>
            <a:blip r:embed="rId4"/>
            <a:stretch>
              <a:fillRect/>
            </a:stretch>
          </a:blipFill>
        </p:spPr>
      </p:sp>
      <p:sp>
        <p:nvSpPr>
          <p:cNvPr id="22" name="TextBox 22"/>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3" name="TextBox 23"/>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4" name="TextBox 24"/>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25" name="TextBox 25"/>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CONTENT</a:t>
            </a:r>
          </a:p>
        </p:txBody>
      </p:sp>
      <p:sp>
        <p:nvSpPr>
          <p:cNvPr id="26" name="TextBox 26"/>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27" name="TextBox 27"/>
          <p:cNvSpPr txBox="1"/>
          <p:nvPr/>
        </p:nvSpPr>
        <p:spPr>
          <a:xfrm>
            <a:off x="1080344" y="8773170"/>
            <a:ext cx="16127312" cy="379119"/>
          </a:xfrm>
          <a:prstGeom prst="rect">
            <a:avLst/>
          </a:prstGeom>
        </p:spPr>
        <p:txBody>
          <a:bodyPr lIns="0" tIns="0" rIns="0" bIns="0" rtlCol="0" anchor="t">
            <a:spAutoFit/>
          </a:bodyPr>
          <a:lstStyle/>
          <a:p>
            <a:pPr marL="0" lvl="0" indent="0" algn="ctr">
              <a:lnSpc>
                <a:spcPts val="2466"/>
              </a:lnSpc>
            </a:pPr>
            <a:r>
              <a:rPr lang="en-US" sz="2417" b="1" spc="-87">
                <a:solidFill>
                  <a:srgbClr val="EFEEEB"/>
                </a:solidFill>
                <a:latin typeface="Agrandir Grand Bold"/>
                <a:ea typeface="Agrandir Grand Bold"/>
                <a:cs typeface="Agrandir Grand Bold"/>
                <a:sym typeface="Agrandir Grand Bold"/>
              </a:rPr>
              <a:t>PYTHON PROGRAMMING LANGUAGE - YOUR GATEWAY TO MODERN DEVELOPMENT</a:t>
            </a:r>
          </a:p>
        </p:txBody>
      </p:sp>
      <p:sp>
        <p:nvSpPr>
          <p:cNvPr id="28" name="TextBox 28"/>
          <p:cNvSpPr txBox="1"/>
          <p:nvPr/>
        </p:nvSpPr>
        <p:spPr>
          <a:xfrm>
            <a:off x="8631958" y="2281224"/>
            <a:ext cx="8361017" cy="2618862"/>
          </a:xfrm>
          <a:prstGeom prst="rect">
            <a:avLst/>
          </a:prstGeom>
        </p:spPr>
        <p:txBody>
          <a:bodyPr lIns="0" tIns="0" rIns="0" bIns="0" rtlCol="0" anchor="t">
            <a:spAutoFit/>
          </a:bodyPr>
          <a:lstStyle/>
          <a:p>
            <a:pPr marL="0" lvl="0" indent="0" algn="just">
              <a:lnSpc>
                <a:spcPts val="6352"/>
              </a:lnSpc>
            </a:pPr>
            <a:r>
              <a:rPr lang="en-US" sz="6227" b="1" spc="-224">
                <a:solidFill>
                  <a:srgbClr val="283396"/>
                </a:solidFill>
                <a:latin typeface="Agrandir Grand Bold"/>
                <a:ea typeface="Agrandir Grand Bold"/>
                <a:cs typeface="Agrandir Grand Bold"/>
                <a:sym typeface="Agrandir Grand Bold"/>
              </a:rPr>
              <a:t>PYTHON PROGRAMMING LANGUAGE</a:t>
            </a:r>
          </a:p>
        </p:txBody>
      </p:sp>
      <p:grpSp>
        <p:nvGrpSpPr>
          <p:cNvPr id="29" name="Group 29"/>
          <p:cNvGrpSpPr/>
          <p:nvPr/>
        </p:nvGrpSpPr>
        <p:grpSpPr>
          <a:xfrm>
            <a:off x="8620698" y="6970921"/>
            <a:ext cx="2119546" cy="627805"/>
            <a:chOff x="0" y="0"/>
            <a:chExt cx="558234" cy="165348"/>
          </a:xfrm>
        </p:grpSpPr>
        <p:sp>
          <p:nvSpPr>
            <p:cNvPr id="30" name="Freeform 30"/>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31" name="TextBox 31"/>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a:solidFill>
                    <a:srgbClr val="FFFFFF"/>
                  </a:solidFill>
                  <a:latin typeface="Montaser Arabic Bold"/>
                  <a:ea typeface="Montaser Arabic Bold"/>
                  <a:cs typeface="Montaser Arabic Bold"/>
                  <a:sym typeface="Montaser Arabic Bold"/>
                </a:rPr>
                <a:t>GET STARTED</a:t>
              </a:r>
            </a:p>
          </p:txBody>
        </p:sp>
      </p:grpSp>
      <p:grpSp>
        <p:nvGrpSpPr>
          <p:cNvPr id="32" name="Group 32"/>
          <p:cNvGrpSpPr/>
          <p:nvPr/>
        </p:nvGrpSpPr>
        <p:grpSpPr>
          <a:xfrm>
            <a:off x="6653138" y="4776361"/>
            <a:ext cx="1396060" cy="1396060"/>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4" name="TextBox 3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6955918" y="5101099"/>
            <a:ext cx="790500" cy="746583"/>
            <a:chOff x="0" y="0"/>
            <a:chExt cx="685800" cy="647700"/>
          </a:xfrm>
        </p:grpSpPr>
        <p:sp>
          <p:nvSpPr>
            <p:cNvPr id="36" name="Freeform 36"/>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7" name="TextBox 37"/>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D64D3-F37D-5C8B-1830-C429F9614E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6A5B9D-61FB-48C3-799F-578F9DF24991}"/>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51604E60-1FF5-A9D4-D98C-BC9CF8CC87BF}"/>
              </a:ext>
            </a:extLst>
          </p:cNvPr>
          <p:cNvSpPr/>
          <p:nvPr/>
        </p:nvSpPr>
        <p:spPr>
          <a:xfrm>
            <a:off x="-402697" y="0"/>
            <a:ext cx="10387384" cy="9766631"/>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5A7604D3-F8B3-2997-4916-673B8A551C18}"/>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4A0973C1-619A-2CEF-1FA4-5FF6AA516E71}"/>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F17B169E-F79C-63CF-C1AE-9FA39C782D2A}"/>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E6A8FDD-290B-99DC-78BF-8121969E6B09}"/>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0EC76A7B-A84A-4472-89EF-3A49C40F73F9}"/>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729A8501-5C6D-799F-FD79-C653A1C19728}"/>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378D5C19-61D4-F5D5-BD90-3B7A6C6D32E2}"/>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77AF0477-1E28-BD05-B70B-2E808DE304B7}"/>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7384585F-5E37-0BB4-633F-190FF3530D8E}"/>
              </a:ext>
            </a:extLst>
          </p:cNvPr>
          <p:cNvGrpSpPr/>
          <p:nvPr/>
        </p:nvGrpSpPr>
        <p:grpSpPr>
          <a:xfrm>
            <a:off x="12588075" y="1780416"/>
            <a:ext cx="4845383" cy="5655234"/>
            <a:chOff x="0" y="0"/>
            <a:chExt cx="1752642" cy="1864758"/>
          </a:xfrm>
        </p:grpSpPr>
        <p:sp>
          <p:nvSpPr>
            <p:cNvPr id="13" name="Freeform 13">
              <a:extLst>
                <a:ext uri="{FF2B5EF4-FFF2-40B4-BE49-F238E27FC236}">
                  <a16:creationId xmlns:a16="http://schemas.microsoft.com/office/drawing/2014/main" id="{E9980A35-CD01-7220-2FB5-FD81CE7D7F73}"/>
                </a:ext>
              </a:extLst>
            </p:cNvPr>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a:extLst>
                <a:ext uri="{FF2B5EF4-FFF2-40B4-BE49-F238E27FC236}">
                  <a16:creationId xmlns:a16="http://schemas.microsoft.com/office/drawing/2014/main" id="{745A0F0A-34E2-4679-932E-EDCFB06A6BEF}"/>
                </a:ext>
              </a:extLst>
            </p:cNvPr>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1099022C-F3C3-71AE-7198-2E31FA2A3442}"/>
              </a:ext>
            </a:extLst>
          </p:cNvPr>
          <p:cNvGrpSpPr/>
          <p:nvPr/>
        </p:nvGrpSpPr>
        <p:grpSpPr>
          <a:xfrm>
            <a:off x="27583" y="7940652"/>
            <a:ext cx="18232834" cy="1203348"/>
            <a:chOff x="0" y="0"/>
            <a:chExt cx="4977777" cy="328528"/>
          </a:xfrm>
        </p:grpSpPr>
        <p:sp>
          <p:nvSpPr>
            <p:cNvPr id="16" name="Freeform 16">
              <a:extLst>
                <a:ext uri="{FF2B5EF4-FFF2-40B4-BE49-F238E27FC236}">
                  <a16:creationId xmlns:a16="http://schemas.microsoft.com/office/drawing/2014/main" id="{924E5A60-2F87-9ED2-A4A4-11605C7D8A38}"/>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FAA8171B-045D-5407-94DF-D0FD36390E2F}"/>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897D5C09-B541-9CB7-D599-8CAFCED41081}"/>
              </a:ext>
            </a:extLst>
          </p:cNvPr>
          <p:cNvSpPr/>
          <p:nvPr/>
        </p:nvSpPr>
        <p:spPr>
          <a:xfrm>
            <a:off x="12588075" y="1966788"/>
            <a:ext cx="4265998"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a:extLst>
              <a:ext uri="{FF2B5EF4-FFF2-40B4-BE49-F238E27FC236}">
                <a16:creationId xmlns:a16="http://schemas.microsoft.com/office/drawing/2014/main" id="{B1E16390-187E-08B3-D8DA-EAB43D2B1540}"/>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77EB4605-3C35-2F32-DDF8-77BB2C5038DF}"/>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E063CA72-1D00-C23D-45E6-11698BAE42DA}"/>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E0E25C4-B50D-4A6A-2E8B-A25E553030BB}"/>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2FED8788-C029-505E-F4F0-9752060CBC65}"/>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AA1A4895-DE86-DBCE-BEF5-B54190322E0D}"/>
              </a:ext>
            </a:extLst>
          </p:cNvPr>
          <p:cNvSpPr txBox="1"/>
          <p:nvPr/>
        </p:nvSpPr>
        <p:spPr>
          <a:xfrm>
            <a:off x="1178127" y="1691003"/>
            <a:ext cx="10471363" cy="1106137"/>
          </a:xfrm>
          <a:prstGeom prst="rect">
            <a:avLst/>
          </a:prstGeom>
        </p:spPr>
        <p:txBody>
          <a:bodyPr wrap="square" lIns="0" tIns="0" rIns="0" bIns="0" rtlCol="0" anchor="t">
            <a:spAutoFit/>
          </a:bodyPr>
          <a:lstStyle/>
          <a:p>
            <a:pPr marL="0" lvl="0" indent="0" algn="just">
              <a:lnSpc>
                <a:spcPts val="9628"/>
              </a:lnSpc>
            </a:pPr>
            <a:r>
              <a:rPr lang="en-US" sz="5400" b="1" spc="-339" dirty="0">
                <a:solidFill>
                  <a:srgbClr val="283396"/>
                </a:solidFill>
                <a:latin typeface="+mj-lt"/>
                <a:ea typeface="Agrandir Grand Bold"/>
                <a:cs typeface="Agrandir Grand Bold"/>
                <a:sym typeface="Agrandir Grand Bold"/>
              </a:rPr>
              <a:t>Objective of Session</a:t>
            </a:r>
          </a:p>
        </p:txBody>
      </p:sp>
      <p:grpSp>
        <p:nvGrpSpPr>
          <p:cNvPr id="27" name="Group 27">
            <a:extLst>
              <a:ext uri="{FF2B5EF4-FFF2-40B4-BE49-F238E27FC236}">
                <a16:creationId xmlns:a16="http://schemas.microsoft.com/office/drawing/2014/main" id="{7A28F5DA-46AE-94EC-5CA4-F67AB81AB587}"/>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0D520B37-1789-7427-9356-31BCBCFE6C70}"/>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A59BC1A8-E016-48ED-0706-A0940351272E}"/>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1E02ACD1-B39A-7ACD-68EB-91706AF723C6}"/>
              </a:ext>
            </a:extLst>
          </p:cNvPr>
          <p:cNvGrpSpPr/>
          <p:nvPr/>
        </p:nvGrpSpPr>
        <p:grpSpPr>
          <a:xfrm>
            <a:off x="16858126" y="3093354"/>
            <a:ext cx="1513917" cy="1513917"/>
            <a:chOff x="0" y="0"/>
            <a:chExt cx="812800" cy="812800"/>
          </a:xfrm>
        </p:grpSpPr>
        <p:sp>
          <p:nvSpPr>
            <p:cNvPr id="31" name="Freeform 31">
              <a:extLst>
                <a:ext uri="{FF2B5EF4-FFF2-40B4-BE49-F238E27FC236}">
                  <a16:creationId xmlns:a16="http://schemas.microsoft.com/office/drawing/2014/main" id="{BC047159-78EF-3C89-0F0A-809CB7DDE3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29D05151-DDC4-D04B-1097-E739CC5EA46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45CE50BA-AAB1-203D-2B7F-BAA87BE8CAD5}"/>
              </a:ext>
            </a:extLst>
          </p:cNvPr>
          <p:cNvGrpSpPr/>
          <p:nvPr/>
        </p:nvGrpSpPr>
        <p:grpSpPr>
          <a:xfrm>
            <a:off x="17129845" y="3500369"/>
            <a:ext cx="857235" cy="809611"/>
            <a:chOff x="0" y="0"/>
            <a:chExt cx="685800" cy="647700"/>
          </a:xfrm>
        </p:grpSpPr>
        <p:sp>
          <p:nvSpPr>
            <p:cNvPr id="34" name="Freeform 34">
              <a:extLst>
                <a:ext uri="{FF2B5EF4-FFF2-40B4-BE49-F238E27FC236}">
                  <a16:creationId xmlns:a16="http://schemas.microsoft.com/office/drawing/2014/main" id="{13CD4D62-99E4-9EF3-9889-972AA1E6697D}"/>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A37CB27C-A736-45B9-5050-B198BAC0AA05}"/>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C72E162B-E810-8BD2-036F-811F5976092C}"/>
              </a:ext>
            </a:extLst>
          </p:cNvPr>
          <p:cNvSpPr txBox="1"/>
          <p:nvPr/>
        </p:nvSpPr>
        <p:spPr>
          <a:xfrm>
            <a:off x="1085849" y="2787131"/>
            <a:ext cx="10220207" cy="3970318"/>
          </a:xfrm>
          <a:prstGeom prst="rect">
            <a:avLst/>
          </a:prstGeom>
          <a:noFill/>
        </p:spPr>
        <p:txBody>
          <a:bodyPr wrap="square">
            <a:spAutoFit/>
          </a:bodyPr>
          <a:lstStyle/>
          <a:p>
            <a:pPr marL="0" indent="0" algn="just" rtl="0" latinLnBrk="0">
              <a:buNone/>
            </a:pPr>
            <a:r>
              <a:rPr lang="en-US" sz="3600" b="1" dirty="0">
                <a:solidFill>
                  <a:srgbClr val="283396"/>
                </a:solidFill>
                <a:latin typeface="+mj-lt"/>
              </a:rPr>
              <a:t>What is python?</a:t>
            </a:r>
          </a:p>
          <a:p>
            <a:pPr marL="0" indent="0" algn="just" rtl="0" latinLnBrk="0">
              <a:buNone/>
            </a:pPr>
            <a:r>
              <a:rPr lang="en-US" sz="3600" b="1" dirty="0">
                <a:solidFill>
                  <a:srgbClr val="283396"/>
                </a:solidFill>
                <a:latin typeface="+mj-lt"/>
              </a:rPr>
              <a:t>Understanding programming language levels.</a:t>
            </a:r>
          </a:p>
          <a:p>
            <a:pPr marL="0" indent="0" algn="just" rtl="0" latinLnBrk="0">
              <a:buNone/>
            </a:pPr>
            <a:r>
              <a:rPr lang="en-US" sz="3600" b="1" dirty="0">
                <a:solidFill>
                  <a:srgbClr val="283396"/>
                </a:solidFill>
                <a:latin typeface="+mj-lt"/>
              </a:rPr>
              <a:t>The origins of python.</a:t>
            </a:r>
          </a:p>
          <a:p>
            <a:pPr marL="0" indent="0" algn="just" rtl="0" latinLnBrk="0">
              <a:buNone/>
            </a:pPr>
            <a:r>
              <a:rPr lang="en-US" sz="3600" b="1" dirty="0">
                <a:solidFill>
                  <a:srgbClr val="283396"/>
                </a:solidFill>
                <a:latin typeface="+mj-lt"/>
              </a:rPr>
              <a:t>Python version.</a:t>
            </a:r>
          </a:p>
          <a:p>
            <a:pPr marL="0" indent="0" algn="just" rtl="0" latinLnBrk="0">
              <a:buNone/>
            </a:pPr>
            <a:r>
              <a:rPr lang="en-US" sz="3600" b="1" dirty="0">
                <a:solidFill>
                  <a:srgbClr val="283396"/>
                </a:solidFill>
                <a:latin typeface="+mj-lt"/>
              </a:rPr>
              <a:t>Why is python popular?</a:t>
            </a:r>
          </a:p>
          <a:p>
            <a:pPr marL="0" indent="0" algn="l" rtl="0" latinLnBrk="0">
              <a:buNone/>
            </a:pPr>
            <a:r>
              <a:rPr lang="en-US" sz="3600" b="1" dirty="0">
                <a:solidFill>
                  <a:srgbClr val="283396"/>
                </a:solidFill>
                <a:latin typeface="+mj-lt"/>
              </a:rPr>
              <a:t>Popular applications of python.</a:t>
            </a:r>
          </a:p>
          <a:p>
            <a:pPr marL="0" indent="0" algn="l" rtl="0" latinLnBrk="0">
              <a:buNone/>
            </a:pPr>
            <a:r>
              <a:rPr lang="en-US" sz="3600" b="1" dirty="0">
                <a:solidFill>
                  <a:srgbClr val="283396"/>
                </a:solidFill>
                <a:latin typeface="+mj-lt"/>
              </a:rPr>
              <a:t>Summary.</a:t>
            </a:r>
          </a:p>
        </p:txBody>
      </p:sp>
    </p:spTree>
    <p:extLst>
      <p:ext uri="{BB962C8B-B14F-4D97-AF65-F5344CB8AC3E}">
        <p14:creationId xmlns:p14="http://schemas.microsoft.com/office/powerpoint/2010/main" val="14048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5" y="-1"/>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645646" y="8471948"/>
            <a:ext cx="2119546" cy="627805"/>
            <a:chOff x="0" y="0"/>
            <a:chExt cx="558234" cy="165348"/>
          </a:xfrm>
        </p:grpSpPr>
        <p:sp>
          <p:nvSpPr>
            <p:cNvPr id="13" name="Freeform 13"/>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14" name="TextBox 14"/>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a:solidFill>
                    <a:srgbClr val="FFFFFF"/>
                  </a:solidFill>
                  <a:latin typeface="Montaser Arabic Bold"/>
                  <a:ea typeface="Montaser Arabic Bold"/>
                  <a:cs typeface="Montaser Arabic Bold"/>
                  <a:sym typeface="Montaser Arabic Bold"/>
                </a:rPr>
                <a:t>NEXT SLIDE</a:t>
              </a:r>
            </a:p>
          </p:txBody>
        </p:sp>
      </p:grpSp>
      <p:grpSp>
        <p:nvGrpSpPr>
          <p:cNvPr id="15" name="Group 15"/>
          <p:cNvGrpSpPr/>
          <p:nvPr/>
        </p:nvGrpSpPr>
        <p:grpSpPr>
          <a:xfrm>
            <a:off x="1220865" y="2309961"/>
            <a:ext cx="4942221" cy="3696681"/>
            <a:chOff x="0" y="0"/>
            <a:chExt cx="1301655" cy="973611"/>
          </a:xfrm>
        </p:grpSpPr>
        <p:sp>
          <p:nvSpPr>
            <p:cNvPr id="16" name="Freeform 16"/>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17" name="TextBox 17"/>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220865" y="4947630"/>
            <a:ext cx="4942221" cy="1059011"/>
            <a:chOff x="0" y="0"/>
            <a:chExt cx="1301655" cy="278916"/>
          </a:xfrm>
        </p:grpSpPr>
        <p:sp>
          <p:nvSpPr>
            <p:cNvPr id="19" name="Freeform 19"/>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6672889" y="2275408"/>
            <a:ext cx="4942221" cy="3696681"/>
            <a:chOff x="0" y="0"/>
            <a:chExt cx="1301655" cy="973611"/>
          </a:xfrm>
        </p:grpSpPr>
        <p:sp>
          <p:nvSpPr>
            <p:cNvPr id="22" name="Freeform 22"/>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3" name="TextBox 23"/>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6672889" y="4904505"/>
            <a:ext cx="4942221" cy="1059011"/>
            <a:chOff x="0" y="0"/>
            <a:chExt cx="1301655" cy="278916"/>
          </a:xfrm>
        </p:grpSpPr>
        <p:sp>
          <p:nvSpPr>
            <p:cNvPr id="25" name="Freeform 25"/>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6" name="TextBox 26"/>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12124914" y="2240856"/>
            <a:ext cx="4942221" cy="3696681"/>
            <a:chOff x="0" y="0"/>
            <a:chExt cx="1301655" cy="973611"/>
          </a:xfrm>
        </p:grpSpPr>
        <p:sp>
          <p:nvSpPr>
            <p:cNvPr id="28" name="Freeform 28"/>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9" name="TextBox 29"/>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30" name="Group 30"/>
          <p:cNvGrpSpPr/>
          <p:nvPr/>
        </p:nvGrpSpPr>
        <p:grpSpPr>
          <a:xfrm>
            <a:off x="12124914" y="4861379"/>
            <a:ext cx="4942221" cy="1059011"/>
            <a:chOff x="0" y="0"/>
            <a:chExt cx="1301655" cy="278916"/>
          </a:xfrm>
        </p:grpSpPr>
        <p:sp>
          <p:nvSpPr>
            <p:cNvPr id="31" name="Freeform 31"/>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32" name="TextBox 32"/>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sp>
        <p:nvSpPr>
          <p:cNvPr id="33" name="Freeform 33"/>
          <p:cNvSpPr/>
          <p:nvPr/>
        </p:nvSpPr>
        <p:spPr>
          <a:xfrm>
            <a:off x="2383914" y="2800030"/>
            <a:ext cx="2759759" cy="3062145"/>
          </a:xfrm>
          <a:custGeom>
            <a:avLst/>
            <a:gdLst/>
            <a:ahLst/>
            <a:cxnLst/>
            <a:rect l="l" t="t" r="r" b="b"/>
            <a:pathLst>
              <a:path w="2759759" h="3062145">
                <a:moveTo>
                  <a:pt x="0" y="0"/>
                </a:moveTo>
                <a:lnTo>
                  <a:pt x="2759758" y="0"/>
                </a:lnTo>
                <a:lnTo>
                  <a:pt x="2759758" y="3062145"/>
                </a:lnTo>
                <a:lnTo>
                  <a:pt x="0" y="3062145"/>
                </a:lnTo>
                <a:lnTo>
                  <a:pt x="0" y="0"/>
                </a:lnTo>
                <a:close/>
              </a:path>
            </a:pathLst>
          </a:custGeom>
          <a:blipFill>
            <a:blip r:embed="rId4"/>
            <a:stretch>
              <a:fillRect/>
            </a:stretch>
          </a:blipFill>
        </p:spPr>
      </p:sp>
      <p:sp>
        <p:nvSpPr>
          <p:cNvPr id="34" name="Freeform 34"/>
          <p:cNvSpPr/>
          <p:nvPr/>
        </p:nvSpPr>
        <p:spPr>
          <a:xfrm>
            <a:off x="13099087" y="2538116"/>
            <a:ext cx="2934098" cy="3265738"/>
          </a:xfrm>
          <a:custGeom>
            <a:avLst/>
            <a:gdLst/>
            <a:ahLst/>
            <a:cxnLst/>
            <a:rect l="l" t="t" r="r" b="b"/>
            <a:pathLst>
              <a:path w="2934098" h="3265738">
                <a:moveTo>
                  <a:pt x="0" y="0"/>
                </a:moveTo>
                <a:lnTo>
                  <a:pt x="2934097" y="0"/>
                </a:lnTo>
                <a:lnTo>
                  <a:pt x="2934097" y="3265738"/>
                </a:lnTo>
                <a:lnTo>
                  <a:pt x="0" y="3265738"/>
                </a:lnTo>
                <a:lnTo>
                  <a:pt x="0" y="0"/>
                </a:lnTo>
                <a:close/>
              </a:path>
            </a:pathLst>
          </a:custGeom>
          <a:blipFill>
            <a:blip r:embed="rId5"/>
            <a:stretch>
              <a:fillRect/>
            </a:stretch>
          </a:blipFill>
        </p:spPr>
      </p:sp>
      <p:sp>
        <p:nvSpPr>
          <p:cNvPr id="35" name="Freeform 35"/>
          <p:cNvSpPr/>
          <p:nvPr/>
        </p:nvSpPr>
        <p:spPr>
          <a:xfrm>
            <a:off x="7417393" y="2798510"/>
            <a:ext cx="3485861" cy="2793046"/>
          </a:xfrm>
          <a:custGeom>
            <a:avLst/>
            <a:gdLst/>
            <a:ahLst/>
            <a:cxnLst/>
            <a:rect l="l" t="t" r="r" b="b"/>
            <a:pathLst>
              <a:path w="3485861" h="2793046">
                <a:moveTo>
                  <a:pt x="0" y="0"/>
                </a:moveTo>
                <a:lnTo>
                  <a:pt x="3485862" y="0"/>
                </a:lnTo>
                <a:lnTo>
                  <a:pt x="3485862" y="2793046"/>
                </a:lnTo>
                <a:lnTo>
                  <a:pt x="0" y="2793046"/>
                </a:lnTo>
                <a:lnTo>
                  <a:pt x="0" y="0"/>
                </a:lnTo>
                <a:close/>
              </a:path>
            </a:pathLst>
          </a:custGeom>
          <a:blipFill>
            <a:blip r:embed="rId6"/>
            <a:stretch>
              <a:fillRect/>
            </a:stretch>
          </a:blipFill>
        </p:spPr>
      </p:sp>
      <p:sp>
        <p:nvSpPr>
          <p:cNvPr id="36" name="TextBox 36"/>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37" name="TextBox 37"/>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38" name="TextBox 38"/>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9" name="TextBox 39"/>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LEVELS</a:t>
            </a:r>
          </a:p>
        </p:txBody>
      </p:sp>
      <p:sp>
        <p:nvSpPr>
          <p:cNvPr id="40" name="TextBox 40"/>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MORE</a:t>
            </a:r>
          </a:p>
        </p:txBody>
      </p:sp>
      <p:sp>
        <p:nvSpPr>
          <p:cNvPr id="41" name="TextBox 41"/>
          <p:cNvSpPr txBox="1"/>
          <p:nvPr/>
        </p:nvSpPr>
        <p:spPr>
          <a:xfrm>
            <a:off x="1220865" y="6658388"/>
            <a:ext cx="8761335" cy="1685718"/>
          </a:xfrm>
          <a:prstGeom prst="rect">
            <a:avLst/>
          </a:prstGeom>
        </p:spPr>
        <p:txBody>
          <a:bodyPr wrap="square" lIns="0" tIns="0" rIns="0" bIns="0" rtlCol="0" anchor="t">
            <a:spAutoFit/>
          </a:bodyPr>
          <a:lstStyle/>
          <a:p>
            <a:pPr marL="0" lvl="0" indent="0"/>
            <a:r>
              <a:rPr lang="en-US" sz="5477" b="1" dirty="0">
                <a:solidFill>
                  <a:srgbClr val="283396"/>
                </a:solidFill>
                <a:latin typeface="+mj-lt"/>
                <a:ea typeface="Agrandir Grand Bold"/>
                <a:cs typeface="Agrandir Grand Bold"/>
                <a:sym typeface="Agrandir Grand Bold"/>
              </a:rPr>
              <a:t>Understanding Programming Language Levels</a:t>
            </a:r>
          </a:p>
        </p:txBody>
      </p:sp>
      <p:sp>
        <p:nvSpPr>
          <p:cNvPr id="42" name="TextBox 42"/>
          <p:cNvSpPr txBox="1"/>
          <p:nvPr/>
        </p:nvSpPr>
        <p:spPr>
          <a:xfrm>
            <a:off x="10134600" y="6677437"/>
            <a:ext cx="6975273" cy="1489382"/>
          </a:xfrm>
          <a:prstGeom prst="rect">
            <a:avLst/>
          </a:prstGeom>
        </p:spPr>
        <p:txBody>
          <a:bodyPr wrap="square" lIns="0" tIns="0" rIns="0" bIns="0" rtlCol="0" anchor="t">
            <a:spAutoFit/>
          </a:bodyPr>
          <a:lstStyle/>
          <a:p>
            <a:pPr marL="0" lvl="0" indent="0" algn="just">
              <a:lnSpc>
                <a:spcPts val="2937"/>
              </a:lnSpc>
            </a:pPr>
            <a:r>
              <a:rPr lang="en-US" sz="2800" b="1" dirty="0">
                <a:solidFill>
                  <a:srgbClr val="283396"/>
                </a:solidFill>
                <a:ea typeface="Montaser Arabic Light"/>
                <a:cs typeface="Montaser Arabic Light"/>
                <a:sym typeface="Montaser Arabic Light"/>
              </a:rPr>
              <a:t>Programming languages are categorized into three levels based on their abstraction from hardware. Understanding these levels helps explain why Python is designed the way it is.</a:t>
            </a:r>
          </a:p>
        </p:txBody>
      </p:sp>
      <p:grpSp>
        <p:nvGrpSpPr>
          <p:cNvPr id="43" name="Group 43"/>
          <p:cNvGrpSpPr/>
          <p:nvPr/>
        </p:nvGrpSpPr>
        <p:grpSpPr>
          <a:xfrm>
            <a:off x="16406430" y="2860743"/>
            <a:ext cx="1210061" cy="1210061"/>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5" name="TextBox 4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6" name="Group 46"/>
          <p:cNvGrpSpPr/>
          <p:nvPr/>
        </p:nvGrpSpPr>
        <p:grpSpPr>
          <a:xfrm>
            <a:off x="16668870" y="3142216"/>
            <a:ext cx="685181" cy="647115"/>
            <a:chOff x="0" y="0"/>
            <a:chExt cx="685800" cy="647700"/>
          </a:xfrm>
        </p:grpSpPr>
        <p:sp>
          <p:nvSpPr>
            <p:cNvPr id="47" name="Freeform 47"/>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8" name="TextBox 48"/>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9" name="Group 49"/>
          <p:cNvGrpSpPr/>
          <p:nvPr/>
        </p:nvGrpSpPr>
        <p:grpSpPr>
          <a:xfrm>
            <a:off x="745026" y="2537186"/>
            <a:ext cx="1210061" cy="1210061"/>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51" name="TextBox 5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2" name="Group 52"/>
          <p:cNvGrpSpPr/>
          <p:nvPr/>
        </p:nvGrpSpPr>
        <p:grpSpPr>
          <a:xfrm>
            <a:off x="1007466" y="2818659"/>
            <a:ext cx="685181" cy="647115"/>
            <a:chOff x="0" y="0"/>
            <a:chExt cx="685800" cy="647700"/>
          </a:xfrm>
        </p:grpSpPr>
        <p:sp>
          <p:nvSpPr>
            <p:cNvPr id="53" name="Freeform 53"/>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54" name="TextBox 54"/>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0269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604739" y="2313678"/>
            <a:ext cx="6419658" cy="6830322"/>
            <a:chOff x="0" y="0"/>
            <a:chExt cx="1752642" cy="1864758"/>
          </a:xfrm>
        </p:grpSpPr>
        <p:sp>
          <p:nvSpPr>
            <p:cNvPr id="13" name="Freeform 13"/>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27583" y="7940652"/>
            <a:ext cx="18232834" cy="1203348"/>
            <a:chOff x="0" y="0"/>
            <a:chExt cx="4977777" cy="328528"/>
          </a:xfrm>
        </p:grpSpPr>
        <p:sp>
          <p:nvSpPr>
            <p:cNvPr id="16" name="Freeform 16"/>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p:cNvSpPr/>
          <p:nvPr/>
        </p:nvSpPr>
        <p:spPr>
          <a:xfrm>
            <a:off x="10432557" y="3131182"/>
            <a:ext cx="5570133"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p:cNvSpPr txBox="1"/>
          <p:nvPr/>
        </p:nvSpPr>
        <p:spPr>
          <a:xfrm>
            <a:off x="1178127" y="2247003"/>
            <a:ext cx="8791329" cy="1108637"/>
          </a:xfrm>
          <a:prstGeom prst="rect">
            <a:avLst/>
          </a:prstGeom>
        </p:spPr>
        <p:txBody>
          <a:bodyPr wrap="square" lIns="0" tIns="0" rIns="0" bIns="0" rtlCol="0" anchor="t">
            <a:spAutoFit/>
          </a:bodyPr>
          <a:lstStyle/>
          <a:p>
            <a:pPr algn="just">
              <a:lnSpc>
                <a:spcPts val="9628"/>
              </a:lnSpc>
            </a:pPr>
            <a:r>
              <a:rPr lang="en-US" sz="5400" b="1" spc="-339" dirty="0">
                <a:solidFill>
                  <a:srgbClr val="283396"/>
                </a:solidFill>
                <a:latin typeface="+mj-lt"/>
                <a:ea typeface="Agrandir Grand Bold"/>
                <a:cs typeface="Agrandir Grand Bold"/>
                <a:sym typeface="Agrandir Grand Bold"/>
              </a:rPr>
              <a:t>What is </a:t>
            </a:r>
            <a:r>
              <a:rPr lang="en-US" sz="5400" b="1" spc="-206" dirty="0">
                <a:solidFill>
                  <a:srgbClr val="283396"/>
                </a:solidFill>
                <a:latin typeface="+mj-lt"/>
                <a:ea typeface="Agrandir Grand Bold"/>
                <a:cs typeface="Agrandir Grand Bold"/>
                <a:sym typeface="Agrandir Grand Bold"/>
              </a:rPr>
              <a:t>Python?</a:t>
            </a:r>
            <a:endParaRPr lang="en-US" sz="9439" b="1" spc="-339" dirty="0">
              <a:solidFill>
                <a:srgbClr val="283396"/>
              </a:solidFill>
              <a:latin typeface="Agrandir Grand Bold"/>
              <a:ea typeface="Agrandir Grand Bold"/>
              <a:cs typeface="Agrandir Grand Bold"/>
              <a:sym typeface="Agrandir Grand Bold"/>
            </a:endParaRPr>
          </a:p>
        </p:txBody>
      </p:sp>
      <p:sp>
        <p:nvSpPr>
          <p:cNvPr id="25" name="TextBox 25"/>
          <p:cNvSpPr txBox="1"/>
          <p:nvPr/>
        </p:nvSpPr>
        <p:spPr>
          <a:xfrm>
            <a:off x="1263603" y="3677809"/>
            <a:ext cx="8255087" cy="2585323"/>
          </a:xfrm>
          <a:prstGeom prst="rect">
            <a:avLst/>
          </a:prstGeom>
        </p:spPr>
        <p:txBody>
          <a:bodyPr wrap="square" lIns="0" tIns="0" rIns="0" bIns="0" rtlCol="0" anchor="t">
            <a:spAutoFit/>
          </a:bodyPr>
          <a:lstStyle/>
          <a:p>
            <a:pPr marL="0" lvl="0" indent="0"/>
            <a:r>
              <a:rPr lang="en-US" sz="2800" b="1" dirty="0">
                <a:solidFill>
                  <a:srgbClr val="283396"/>
                </a:solidFill>
                <a:ea typeface="Montaser Arabic Light"/>
                <a:cs typeface="Montaser Arabic Light"/>
                <a:sym typeface="Montaser Arabic Light"/>
              </a:rPr>
              <a:t>Python is a high-level, general-purpose programming language known for its simplicity and readability. Its clean syntax makes it easy to learn and write, allowing developers to focus on solving problems rather than complex code. Python is versatile and used for web development, data analysis, AI, and more.</a:t>
            </a:r>
          </a:p>
        </p:txBody>
      </p:sp>
      <p:grpSp>
        <p:nvGrpSpPr>
          <p:cNvPr id="27" name="Group 27"/>
          <p:cNvGrpSpPr/>
          <p:nvPr/>
        </p:nvGrpSpPr>
        <p:grpSpPr>
          <a:xfrm>
            <a:off x="1131988" y="6872292"/>
            <a:ext cx="2119546" cy="627805"/>
            <a:chOff x="0" y="0"/>
            <a:chExt cx="558234" cy="165348"/>
          </a:xfrm>
        </p:grpSpPr>
        <p:sp>
          <p:nvSpPr>
            <p:cNvPr id="28" name="Freeform 28"/>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p:cNvGrpSpPr/>
          <p:nvPr/>
        </p:nvGrpSpPr>
        <p:grpSpPr>
          <a:xfrm>
            <a:off x="16115510" y="3182866"/>
            <a:ext cx="1513917" cy="151391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p:cNvGrpSpPr/>
          <p:nvPr/>
        </p:nvGrpSpPr>
        <p:grpSpPr>
          <a:xfrm>
            <a:off x="16443851" y="3535019"/>
            <a:ext cx="857235" cy="809611"/>
            <a:chOff x="0" y="0"/>
            <a:chExt cx="685800" cy="647700"/>
          </a:xfrm>
        </p:grpSpPr>
        <p:sp>
          <p:nvSpPr>
            <p:cNvPr id="34" name="Freeform 3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3AA04-8157-A996-082D-5F450E3746A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56B3781-2A80-4444-E66E-67F748A8EE04}"/>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9D9F0A6F-7AE7-3652-0DE9-B511073403AA}"/>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5A4A2698-5E19-8E5F-537D-518895A7D82D}"/>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0F840371-A2BD-20AC-2716-899F274DD192}"/>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4EE234A5-383F-60A2-08DF-161C4BDE0498}"/>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9D3BDD60-E76A-781A-69C1-1C8C4F52B12B}"/>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2265FA91-431C-D23C-705B-E543ADB4DD5D}"/>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2A8C886B-AB28-A8AA-7549-1F8A30A14AED}"/>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D7E88A3D-2549-789D-6C47-6041F378C53E}"/>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991D0BE6-5DB4-AB29-FB97-8953CDA735EB}"/>
              </a:ext>
            </a:extLst>
          </p:cNvPr>
          <p:cNvGrpSpPr/>
          <p:nvPr/>
        </p:nvGrpSpPr>
        <p:grpSpPr>
          <a:xfrm>
            <a:off x="-12700" y="8501012"/>
            <a:ext cx="18232834" cy="1203348"/>
            <a:chOff x="0" y="0"/>
            <a:chExt cx="4977777" cy="328528"/>
          </a:xfrm>
        </p:grpSpPr>
        <p:sp>
          <p:nvSpPr>
            <p:cNvPr id="16" name="Freeform 16">
              <a:extLst>
                <a:ext uri="{FF2B5EF4-FFF2-40B4-BE49-F238E27FC236}">
                  <a16:creationId xmlns:a16="http://schemas.microsoft.com/office/drawing/2014/main" id="{27791451-AB31-2B6D-83A8-1BC0074C6695}"/>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EF4896A8-1B10-3031-557C-1288F3D8BE17}"/>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A1B8FB1-B9C5-C001-0B95-B70E192D244F}"/>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457B8C40-4759-C881-8687-882B57E52A65}"/>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077A60FB-F11E-8EF1-A1F1-A8869C628233}"/>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D3C7CB3C-9E15-577D-BDF6-454E1B3ADA58}"/>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9A4BFC38-6D6A-1852-4A38-321C9B097521}"/>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BE2C6C84-1086-C420-72EF-0966455AC814}"/>
              </a:ext>
            </a:extLst>
          </p:cNvPr>
          <p:cNvSpPr txBox="1"/>
          <p:nvPr/>
        </p:nvSpPr>
        <p:spPr>
          <a:xfrm>
            <a:off x="1070596" y="1156493"/>
            <a:ext cx="8698813" cy="1072281"/>
          </a:xfrm>
          <a:prstGeom prst="rect">
            <a:avLst/>
          </a:prstGeom>
        </p:spPr>
        <p:txBody>
          <a:bodyPr wrap="square" lIns="0" tIns="0" rIns="0" bIns="0" rtlCol="0" anchor="t">
            <a:spAutoFit/>
          </a:bodyPr>
          <a:lstStyle/>
          <a:p>
            <a:pPr marL="0" lvl="0" indent="0">
              <a:lnSpc>
                <a:spcPts val="9628"/>
              </a:lnSpc>
            </a:pPr>
            <a:r>
              <a:rPr lang="en-US" sz="4400" b="1" dirty="0">
                <a:solidFill>
                  <a:srgbClr val="283396"/>
                </a:solidFill>
                <a:latin typeface="+mj-lt"/>
                <a:ea typeface="Agrandir Grand Bold"/>
                <a:cs typeface="Agrandir Grand Bold"/>
                <a:sym typeface="Agrandir Grand Bold"/>
              </a:rPr>
              <a:t>Level of Languages </a:t>
            </a:r>
          </a:p>
        </p:txBody>
      </p:sp>
      <p:sp>
        <p:nvSpPr>
          <p:cNvPr id="25" name="TextBox 25">
            <a:extLst>
              <a:ext uri="{FF2B5EF4-FFF2-40B4-BE49-F238E27FC236}">
                <a16:creationId xmlns:a16="http://schemas.microsoft.com/office/drawing/2014/main" id="{AF3CA0F1-BAF8-366B-4AEB-2DFF634067DC}"/>
              </a:ext>
            </a:extLst>
          </p:cNvPr>
          <p:cNvSpPr txBox="1"/>
          <p:nvPr/>
        </p:nvSpPr>
        <p:spPr>
          <a:xfrm>
            <a:off x="911778" y="2324259"/>
            <a:ext cx="16230600" cy="4555093"/>
          </a:xfrm>
          <a:prstGeom prst="rect">
            <a:avLst/>
          </a:prstGeom>
        </p:spPr>
        <p:txBody>
          <a:bodyPr wrap="square" lIns="0" tIns="0" rIns="0" bIns="0" rtlCol="0" anchor="t">
            <a:spAutoFit/>
          </a:bodyPr>
          <a:lstStyle/>
          <a:p>
            <a:r>
              <a:rPr lang="en-US" sz="3200" b="1" dirty="0">
                <a:solidFill>
                  <a:srgbClr val="283396"/>
                </a:solidFill>
                <a:latin typeface="+mj-lt"/>
              </a:rPr>
              <a:t>1. High-Level Language (HLL)</a:t>
            </a:r>
          </a:p>
          <a:p>
            <a:r>
              <a:rPr lang="en-US" sz="2400" b="1" dirty="0">
                <a:solidFill>
                  <a:srgbClr val="283396"/>
                </a:solidFill>
              </a:rPr>
              <a:t>High-level languages are designed to be easily read, written, and maintained by humans.</a:t>
            </a:r>
          </a:p>
          <a:p>
            <a:r>
              <a:rPr lang="en-US" sz="2400" b="1" dirty="0">
                <a:solidFill>
                  <a:srgbClr val="283396"/>
                </a:solidFill>
              </a:rPr>
              <a:t>They use natural language elements (mostly English) and abstract away the complex details of the computer's hardware, such as memory management and CPU registers.</a:t>
            </a:r>
          </a:p>
          <a:p>
            <a:r>
              <a:rPr lang="en-US" sz="3200" b="1" dirty="0">
                <a:solidFill>
                  <a:srgbClr val="283396"/>
                </a:solidFill>
                <a:latin typeface="+mj-lt"/>
              </a:rPr>
              <a:t>Key Characteristics:</a:t>
            </a:r>
          </a:p>
          <a:p>
            <a:pPr lvl="1"/>
            <a:r>
              <a:rPr lang="en-US" sz="2800" b="1" dirty="0">
                <a:solidFill>
                  <a:srgbClr val="283396"/>
                </a:solidFill>
              </a:rPr>
              <a:t>Highly readable and programmer-friendly.</a:t>
            </a:r>
          </a:p>
          <a:p>
            <a:pPr lvl="1"/>
            <a:r>
              <a:rPr lang="en-US" sz="2800" b="1" dirty="0">
                <a:solidFill>
                  <a:srgbClr val="283396"/>
                </a:solidFill>
              </a:rPr>
              <a:t>Platform-independent:</a:t>
            </a:r>
            <a:r>
              <a:rPr lang="en-US" sz="2400" b="1" dirty="0">
                <a:solidFill>
                  <a:srgbClr val="283396"/>
                </a:solidFill>
              </a:rPr>
              <a:t> Code written on one machine can run on another with little to no modification.</a:t>
            </a:r>
          </a:p>
          <a:p>
            <a:pPr lvl="1"/>
            <a:r>
              <a:rPr lang="en-US" sz="2400" b="1" dirty="0">
                <a:solidFill>
                  <a:srgbClr val="283396"/>
                </a:solidFill>
              </a:rPr>
              <a:t>Requires a compiler or an interpreter to translate the code into machine-readable format.</a:t>
            </a:r>
          </a:p>
          <a:p>
            <a:pPr lvl="1"/>
            <a:r>
              <a:rPr lang="en-US" sz="2400" b="1" dirty="0">
                <a:solidFill>
                  <a:srgbClr val="283396"/>
                </a:solidFill>
              </a:rPr>
              <a:t>Slower execution speed compared to lower-level languages because of the layers of abstraction.</a:t>
            </a:r>
          </a:p>
          <a:p>
            <a:r>
              <a:rPr lang="en-US" sz="2800" b="1" dirty="0">
                <a:solidFill>
                  <a:srgbClr val="283396"/>
                </a:solidFill>
              </a:rPr>
              <a:t>Examples: </a:t>
            </a:r>
            <a:r>
              <a:rPr lang="en-US" sz="2400" b="1" dirty="0">
                <a:solidFill>
                  <a:srgbClr val="283396"/>
                </a:solidFill>
              </a:rPr>
              <a:t>Python, Java, JavaScript, C#, Ruby.</a:t>
            </a:r>
          </a:p>
          <a:p>
            <a:r>
              <a:rPr lang="en-US" sz="2800" b="1" dirty="0">
                <a:solidFill>
                  <a:srgbClr val="283396"/>
                </a:solidFill>
              </a:rPr>
              <a:t>Best Used For: </a:t>
            </a:r>
            <a:r>
              <a:rPr lang="en-US" sz="2400" b="1" dirty="0">
                <a:solidFill>
                  <a:srgbClr val="283396"/>
                </a:solidFill>
              </a:rPr>
              <a:t>Web development, data science, mobile apps, enterprise software, and AI.</a:t>
            </a:r>
          </a:p>
        </p:txBody>
      </p:sp>
      <p:grpSp>
        <p:nvGrpSpPr>
          <p:cNvPr id="27" name="Group 27">
            <a:extLst>
              <a:ext uri="{FF2B5EF4-FFF2-40B4-BE49-F238E27FC236}">
                <a16:creationId xmlns:a16="http://schemas.microsoft.com/office/drawing/2014/main" id="{CB8173FC-FA1C-96D2-E1B0-E61A28D9CA2A}"/>
              </a:ext>
            </a:extLst>
          </p:cNvPr>
          <p:cNvGrpSpPr/>
          <p:nvPr/>
        </p:nvGrpSpPr>
        <p:grpSpPr>
          <a:xfrm>
            <a:off x="490379" y="7655447"/>
            <a:ext cx="2119546" cy="627805"/>
            <a:chOff x="0" y="0"/>
            <a:chExt cx="558234" cy="165348"/>
          </a:xfrm>
        </p:grpSpPr>
        <p:sp>
          <p:nvSpPr>
            <p:cNvPr id="28" name="Freeform 28">
              <a:extLst>
                <a:ext uri="{FF2B5EF4-FFF2-40B4-BE49-F238E27FC236}">
                  <a16:creationId xmlns:a16="http://schemas.microsoft.com/office/drawing/2014/main" id="{03085E2B-4165-5A03-E8FD-ABC0527D24B7}"/>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F3E94371-C7F3-B6A0-A19A-AAD4219254DA}"/>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A013344-6D39-20F6-057F-E2C4220296CE}"/>
              </a:ext>
            </a:extLst>
          </p:cNvPr>
          <p:cNvGrpSpPr/>
          <p:nvPr/>
        </p:nvGrpSpPr>
        <p:grpSpPr>
          <a:xfrm>
            <a:off x="16800088" y="3629583"/>
            <a:ext cx="1513917" cy="1513917"/>
            <a:chOff x="0" y="0"/>
            <a:chExt cx="812800" cy="812800"/>
          </a:xfrm>
        </p:grpSpPr>
        <p:sp>
          <p:nvSpPr>
            <p:cNvPr id="31" name="Freeform 31">
              <a:extLst>
                <a:ext uri="{FF2B5EF4-FFF2-40B4-BE49-F238E27FC236}">
                  <a16:creationId xmlns:a16="http://schemas.microsoft.com/office/drawing/2014/main" id="{8F545956-9564-ACBB-2AF5-27AD9D64EA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C154568B-6910-52BC-EE94-ABCE551D6F5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E266917C-28FA-2ACB-BBC0-E0B9A65BE059}"/>
              </a:ext>
            </a:extLst>
          </p:cNvPr>
          <p:cNvGrpSpPr/>
          <p:nvPr/>
        </p:nvGrpSpPr>
        <p:grpSpPr>
          <a:xfrm>
            <a:off x="17342738" y="3873330"/>
            <a:ext cx="857235" cy="809611"/>
            <a:chOff x="0" y="0"/>
            <a:chExt cx="685800" cy="647700"/>
          </a:xfrm>
        </p:grpSpPr>
        <p:sp>
          <p:nvSpPr>
            <p:cNvPr id="34" name="Freeform 34">
              <a:extLst>
                <a:ext uri="{FF2B5EF4-FFF2-40B4-BE49-F238E27FC236}">
                  <a16:creationId xmlns:a16="http://schemas.microsoft.com/office/drawing/2014/main" id="{47884F29-B3E9-E470-55ED-1128A01C65C8}"/>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DA6C8BBC-72CE-2510-0E4D-BE3E60330C04}"/>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extLst>
      <p:ext uri="{BB962C8B-B14F-4D97-AF65-F5344CB8AC3E}">
        <p14:creationId xmlns:p14="http://schemas.microsoft.com/office/powerpoint/2010/main" val="16173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BF8A-D4BE-9BC0-104D-5426197C6C9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24BC619-3BB1-D07A-E639-43EFA953A821}"/>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F251A2B-9A95-03D4-F658-3803BBD21976}"/>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7F8E28CA-65B4-6EE5-5992-4734C6C39DD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EF6B0CE9-3F74-F3AF-65DD-C71E335052E1}"/>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00BE6F0C-DAFD-497B-0F70-84703AF53133}"/>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3EA185B5-0C36-890B-5A7E-9601E667F78A}"/>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6022D42D-FE5D-32E9-26A1-62D8AC2354D8}"/>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B759D505-BF88-487F-8D51-69B4253C4201}"/>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7C7D39B0-0322-B495-CC0A-4D76194DB11A}"/>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32B49F27-4E08-3A4E-BDF1-617955A1B465}"/>
              </a:ext>
            </a:extLst>
          </p:cNvPr>
          <p:cNvGrpSpPr/>
          <p:nvPr/>
        </p:nvGrpSpPr>
        <p:grpSpPr>
          <a:xfrm>
            <a:off x="27583" y="8792213"/>
            <a:ext cx="18232834" cy="1203348"/>
            <a:chOff x="0" y="0"/>
            <a:chExt cx="4977777" cy="328528"/>
          </a:xfrm>
        </p:grpSpPr>
        <p:sp>
          <p:nvSpPr>
            <p:cNvPr id="16" name="Freeform 16">
              <a:extLst>
                <a:ext uri="{FF2B5EF4-FFF2-40B4-BE49-F238E27FC236}">
                  <a16:creationId xmlns:a16="http://schemas.microsoft.com/office/drawing/2014/main" id="{79C7F140-2A43-1F58-B519-216FD87EB905}"/>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DE8D920-86D4-B740-C31B-A54F6073F3A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D161F601-8980-DE97-3670-77F49CD62DFC}"/>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dirty="0">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dirty="0">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F26AF0C3-754D-675C-A17D-77760A9CCBD7}"/>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96F21830-46FC-8E88-FCB0-985FFC8B9C60}"/>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39AA35D2-514C-D826-E390-1974F4890737}"/>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B1C161E3-BDDF-659C-2EC7-53AE7E7E221A}"/>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grpSp>
        <p:nvGrpSpPr>
          <p:cNvPr id="27" name="Group 27">
            <a:extLst>
              <a:ext uri="{FF2B5EF4-FFF2-40B4-BE49-F238E27FC236}">
                <a16:creationId xmlns:a16="http://schemas.microsoft.com/office/drawing/2014/main" id="{D685E133-3A6F-6510-E944-BB643AF38624}"/>
              </a:ext>
            </a:extLst>
          </p:cNvPr>
          <p:cNvGrpSpPr/>
          <p:nvPr/>
        </p:nvGrpSpPr>
        <p:grpSpPr>
          <a:xfrm>
            <a:off x="118354" y="8035659"/>
            <a:ext cx="2119546" cy="627805"/>
            <a:chOff x="0" y="0"/>
            <a:chExt cx="558234" cy="165348"/>
          </a:xfrm>
        </p:grpSpPr>
        <p:sp>
          <p:nvSpPr>
            <p:cNvPr id="28" name="Freeform 28">
              <a:extLst>
                <a:ext uri="{FF2B5EF4-FFF2-40B4-BE49-F238E27FC236}">
                  <a16:creationId xmlns:a16="http://schemas.microsoft.com/office/drawing/2014/main" id="{35602230-F6A0-D9A7-FE0C-A0E950B5DAB6}"/>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871D15CD-8B7E-94A8-6C77-90D86982E71D}"/>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C6F4D708-51F4-71CA-7F00-003CE035E45B}"/>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AD95D410-669D-9C1F-329B-5FA4068FC9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20FD992F-E3D0-410B-8553-DA08A2AD8F3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EE77DA53-3925-1902-0F72-0951A26FC56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9E7D4712-83FD-F4D2-EE7F-9351B7419179}"/>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3FF32A8A-806C-5DBA-EADD-106F23456F29}"/>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B1265DB7-7E3F-975A-B9F2-4125340EEA17}"/>
              </a:ext>
            </a:extLst>
          </p:cNvPr>
          <p:cNvSpPr txBox="1"/>
          <p:nvPr/>
        </p:nvSpPr>
        <p:spPr>
          <a:xfrm>
            <a:off x="1028700" y="1634227"/>
            <a:ext cx="15273223" cy="6432530"/>
          </a:xfrm>
          <a:prstGeom prst="rect">
            <a:avLst/>
          </a:prstGeom>
          <a:noFill/>
        </p:spPr>
        <p:txBody>
          <a:bodyPr wrap="square">
            <a:spAutoFit/>
          </a:bodyPr>
          <a:lstStyle/>
          <a:p>
            <a:pPr>
              <a:buNone/>
            </a:pPr>
            <a:r>
              <a:rPr lang="en-US" sz="3200" b="1" dirty="0">
                <a:solidFill>
                  <a:srgbClr val="283396"/>
                </a:solidFill>
                <a:latin typeface="+mj-lt"/>
                <a:cs typeface="Montaser Arabic Bold"/>
              </a:rPr>
              <a:t>2. Low-Level Language (LLL)</a:t>
            </a:r>
          </a:p>
          <a:p>
            <a:pPr>
              <a:buNone/>
            </a:pPr>
            <a:r>
              <a:rPr lang="en-US" sz="2400" b="1" dirty="0">
                <a:solidFill>
                  <a:srgbClr val="283396"/>
                </a:solidFill>
                <a:cs typeface="Montaser Arabic Bold"/>
              </a:rPr>
              <a:t>Low-level languages are closely tied to the computer's physical hardware and architecture. They provide little to no abstraction from the computer's instructional set.</a:t>
            </a:r>
          </a:p>
          <a:p>
            <a:pPr>
              <a:buNone/>
            </a:pPr>
            <a:r>
              <a:rPr lang="en-US" sz="2400" b="1" dirty="0">
                <a:solidFill>
                  <a:srgbClr val="283396"/>
                </a:solidFill>
                <a:cs typeface="Montaser Arabic Bold"/>
              </a:rPr>
              <a:t>Low-level languages are further split into two types:</a:t>
            </a:r>
          </a:p>
          <a:p>
            <a:pPr>
              <a:buFont typeface="+mj-lt"/>
              <a:buAutoNum type="arabicPeriod"/>
            </a:pPr>
            <a:r>
              <a:rPr lang="en-US" sz="2800" b="1" dirty="0">
                <a:solidFill>
                  <a:srgbClr val="283396"/>
                </a:solidFill>
                <a:cs typeface="Montaser Arabic Bold"/>
              </a:rPr>
              <a:t>Machine Language (Binary): </a:t>
            </a:r>
            <a:r>
              <a:rPr lang="en-US" sz="2400" b="1" dirty="0">
                <a:solidFill>
                  <a:srgbClr val="283396"/>
                </a:solidFill>
                <a:cs typeface="Montaser Arabic Bold"/>
              </a:rPr>
              <a:t>The absolute lowest level, consisting entirely of 0s and 1s. This is the only language a CPU understands natively. It is nearly impossible for humans to write or debug efficiently.</a:t>
            </a:r>
          </a:p>
          <a:p>
            <a:pPr>
              <a:buFont typeface="+mj-lt"/>
              <a:buAutoNum type="arabicPeriod"/>
            </a:pPr>
            <a:r>
              <a:rPr lang="en-US" sz="2800" b="1" dirty="0">
                <a:solidFill>
                  <a:srgbClr val="283396"/>
                </a:solidFill>
                <a:cs typeface="Montaser Arabic Bold"/>
              </a:rPr>
              <a:t>Assembly Language</a:t>
            </a:r>
            <a:r>
              <a:rPr lang="en-US" sz="2400" b="1" dirty="0">
                <a:solidFill>
                  <a:srgbClr val="283396"/>
                </a:solidFill>
                <a:cs typeface="Montaser Arabic Bold"/>
              </a:rPr>
              <a:t>: A step above machine code. It replaces binary strings with short text commands called mnemonics (like MOV, ADD, PUSH). It requires an assembler to convert it directly into machine code.</a:t>
            </a:r>
          </a:p>
          <a:p>
            <a:pPr>
              <a:buFont typeface="Arial" panose="020B0604020202020204" pitchFamily="34" charset="0"/>
              <a:buChar char="•"/>
            </a:pPr>
            <a:r>
              <a:rPr lang="en-US" sz="2400" b="1" dirty="0">
                <a:solidFill>
                  <a:srgbClr val="283396"/>
                </a:solidFill>
                <a:cs typeface="Montaser Arabic Bold"/>
              </a:rPr>
              <a:t>Key Characteristics:</a:t>
            </a:r>
          </a:p>
          <a:p>
            <a:pPr marL="742950" lvl="1" indent="-285750">
              <a:buFont typeface="Arial" panose="020B0604020202020204" pitchFamily="34" charset="0"/>
              <a:buChar char="•"/>
            </a:pPr>
            <a:r>
              <a:rPr lang="en-US" sz="2800" b="1" dirty="0">
                <a:solidFill>
                  <a:srgbClr val="283396"/>
                </a:solidFill>
                <a:cs typeface="Montaser Arabic Bold"/>
              </a:rPr>
              <a:t>Platform-dependent: </a:t>
            </a:r>
            <a:r>
              <a:rPr lang="en-US" sz="2400" b="1" dirty="0">
                <a:solidFill>
                  <a:srgbClr val="283396"/>
                </a:solidFill>
                <a:cs typeface="Montaser Arabic Bold"/>
              </a:rPr>
              <a:t>Code written for one specific processor architecture (like x86) will not run on another (like ARM).</a:t>
            </a:r>
          </a:p>
          <a:p>
            <a:pPr marL="742950" lvl="1" indent="-285750">
              <a:buFont typeface="Arial" panose="020B0604020202020204" pitchFamily="34" charset="0"/>
              <a:buChar char="•"/>
            </a:pPr>
            <a:r>
              <a:rPr lang="en-US" sz="2400" b="1" dirty="0">
                <a:solidFill>
                  <a:srgbClr val="283396"/>
                </a:solidFill>
                <a:cs typeface="Montaser Arabic Bold"/>
              </a:rPr>
              <a:t>Extremely fast and memory-efficient.</a:t>
            </a:r>
          </a:p>
          <a:p>
            <a:pPr marL="742950" lvl="1" indent="-285750">
              <a:buFont typeface="Arial" panose="020B0604020202020204" pitchFamily="34" charset="0"/>
              <a:buChar char="•"/>
            </a:pPr>
            <a:r>
              <a:rPr lang="en-US" sz="2400" b="1" dirty="0">
                <a:solidFill>
                  <a:srgbClr val="283396"/>
                </a:solidFill>
                <a:cs typeface="Montaser Arabic Bold"/>
              </a:rPr>
              <a:t>Gives the programmer direct control over hardware, memory addresses, and CPU registers.</a:t>
            </a:r>
          </a:p>
          <a:p>
            <a:pPr>
              <a:buFont typeface="Arial" panose="020B0604020202020204" pitchFamily="34" charset="0"/>
              <a:buChar char="•"/>
            </a:pPr>
            <a:r>
              <a:rPr lang="en-US" sz="2800" b="1" dirty="0">
                <a:solidFill>
                  <a:srgbClr val="283396"/>
                </a:solidFill>
                <a:cs typeface="Montaser Arabic Bold"/>
              </a:rPr>
              <a:t>Examples: </a:t>
            </a:r>
            <a:r>
              <a:rPr lang="en-US" sz="2400" b="1" dirty="0">
                <a:solidFill>
                  <a:srgbClr val="283396"/>
                </a:solidFill>
                <a:cs typeface="Montaser Arabic Bold"/>
              </a:rPr>
              <a:t>Machine Code, x86 Assembly, ARM Assembly.</a:t>
            </a:r>
          </a:p>
          <a:p>
            <a:pPr>
              <a:buFont typeface="Arial" panose="020B0604020202020204" pitchFamily="34" charset="0"/>
              <a:buChar char="•"/>
            </a:pPr>
            <a:r>
              <a:rPr lang="en-US" sz="2400" b="1" dirty="0">
                <a:solidFill>
                  <a:srgbClr val="283396"/>
                </a:solidFill>
                <a:cs typeface="Montaser Arabic Bold"/>
              </a:rPr>
              <a:t>Best Used For: Writing operating system kernels, device drivers, firmware, and real-time simulation </a:t>
            </a:r>
            <a:r>
              <a:rPr lang="en-US" sz="2800" b="1" dirty="0">
                <a:solidFill>
                  <a:srgbClr val="283396"/>
                </a:solidFill>
                <a:cs typeface="Montaser Arabic Bold"/>
              </a:rPr>
              <a:t>systems where </a:t>
            </a:r>
            <a:r>
              <a:rPr lang="en-US" sz="2400" b="1" dirty="0">
                <a:solidFill>
                  <a:srgbClr val="283396"/>
                </a:solidFill>
                <a:cs typeface="Montaser Arabic Bold"/>
              </a:rPr>
              <a:t>execution speed is critical.</a:t>
            </a:r>
          </a:p>
        </p:txBody>
      </p:sp>
    </p:spTree>
    <p:extLst>
      <p:ext uri="{BB962C8B-B14F-4D97-AF65-F5344CB8AC3E}">
        <p14:creationId xmlns:p14="http://schemas.microsoft.com/office/powerpoint/2010/main" val="206996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382496" y="-27617"/>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80566" y="8769457"/>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8698813" cy="1072281"/>
          </a:xfrm>
          <a:prstGeom prst="rect">
            <a:avLst/>
          </a:prstGeom>
        </p:spPr>
        <p:txBody>
          <a:bodyPr wrap="square" lIns="0" tIns="0" rIns="0" bIns="0" rtlCol="0" anchor="t">
            <a:spAutoFit/>
          </a:bodyPr>
          <a:lstStyle/>
          <a:p>
            <a:pPr marL="0" lvl="0" indent="0">
              <a:lnSpc>
                <a:spcPts val="9628"/>
              </a:lnSpc>
            </a:pPr>
            <a:r>
              <a:rPr lang="en-US" sz="4400" b="1" dirty="0">
                <a:solidFill>
                  <a:srgbClr val="283396"/>
                </a:solidFill>
                <a:latin typeface="+mj-lt"/>
                <a:ea typeface="Agrandir Grand Bold"/>
                <a:cs typeface="Agrandir Grand Bold"/>
                <a:sym typeface="Agrandir Grand Bold"/>
              </a:rPr>
              <a:t>Level of Languages </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18354" y="8071875"/>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50392" y="2414202"/>
            <a:ext cx="15179151" cy="5447645"/>
          </a:xfrm>
          <a:prstGeom prst="rect">
            <a:avLst/>
          </a:prstGeom>
          <a:noFill/>
        </p:spPr>
        <p:txBody>
          <a:bodyPr wrap="square">
            <a:spAutoFit/>
          </a:bodyPr>
          <a:lstStyle/>
          <a:p>
            <a:pPr>
              <a:buNone/>
            </a:pPr>
            <a:r>
              <a:rPr lang="en-US" sz="3200" b="1" dirty="0">
                <a:solidFill>
                  <a:srgbClr val="283396"/>
                </a:solidFill>
                <a:latin typeface="+mj-lt"/>
              </a:rPr>
              <a:t>3</a:t>
            </a:r>
            <a:r>
              <a:rPr lang="en-US" sz="3600" b="1" dirty="0">
                <a:solidFill>
                  <a:srgbClr val="283396"/>
                </a:solidFill>
                <a:latin typeface="+mj-lt"/>
              </a:rPr>
              <a:t>. Mid-Level Language (Intermediate)</a:t>
            </a:r>
          </a:p>
          <a:p>
            <a:pPr>
              <a:buNone/>
            </a:pPr>
            <a:r>
              <a:rPr lang="en-US" sz="2800" b="1" dirty="0">
                <a:solidFill>
                  <a:srgbClr val="283396"/>
                </a:solidFill>
                <a:latin typeface="+mj-lt"/>
              </a:rPr>
              <a:t>"Mid-level" is not a strictly standardized formal definition, but it is a widely accepted term for languages that bridge the gap between high-level and low-level programming. They offer the syntax, readability, and structure of a high-level language, but retain the ability to directly manipulate hardware and memory like a low-level language.</a:t>
            </a:r>
          </a:p>
          <a:p>
            <a:pPr>
              <a:buFont typeface="Arial" panose="020B0604020202020204" pitchFamily="34" charset="0"/>
              <a:buChar char="•"/>
            </a:pPr>
            <a:r>
              <a:rPr lang="en-US" sz="3200" b="1" dirty="0">
                <a:solidFill>
                  <a:srgbClr val="283396"/>
                </a:solidFill>
                <a:latin typeface="+mj-lt"/>
              </a:rPr>
              <a:t>Key Characteristics:</a:t>
            </a:r>
          </a:p>
          <a:p>
            <a:pPr marL="742950" lvl="1" indent="-285750">
              <a:buFont typeface="Arial" panose="020B0604020202020204" pitchFamily="34" charset="0"/>
              <a:buChar char="•"/>
            </a:pPr>
            <a:r>
              <a:rPr lang="en-US" sz="2800" b="1" dirty="0">
                <a:solidFill>
                  <a:srgbClr val="283396"/>
                </a:solidFill>
                <a:latin typeface="+mj-lt"/>
              </a:rPr>
              <a:t>Supports high-level features like functions, modules, and complex data types.</a:t>
            </a:r>
          </a:p>
          <a:p>
            <a:pPr marL="742950" lvl="1" indent="-285750">
              <a:buFont typeface="Arial" panose="020B0604020202020204" pitchFamily="34" charset="0"/>
              <a:buChar char="•"/>
            </a:pPr>
            <a:r>
              <a:rPr lang="en-US" sz="2800" b="1" dirty="0">
                <a:solidFill>
                  <a:srgbClr val="283396"/>
                </a:solidFill>
                <a:latin typeface="+mj-lt"/>
              </a:rPr>
              <a:t>Supports low-level features like pointers, which allow direct access to memory addresses.</a:t>
            </a:r>
          </a:p>
          <a:p>
            <a:pPr marL="742950" lvl="1" indent="-285750">
              <a:buFont typeface="Arial" panose="020B0604020202020204" pitchFamily="34" charset="0"/>
              <a:buChar char="•"/>
            </a:pPr>
            <a:r>
              <a:rPr lang="en-US" sz="2800" b="1" dirty="0">
                <a:solidFill>
                  <a:srgbClr val="283396"/>
                </a:solidFill>
                <a:latin typeface="+mj-lt"/>
              </a:rPr>
              <a:t>Strikes a balance between execution speed and development speed.</a:t>
            </a:r>
          </a:p>
          <a:p>
            <a:pPr>
              <a:buFont typeface="Arial" panose="020B0604020202020204" pitchFamily="34" charset="0"/>
              <a:buChar char="•"/>
            </a:pPr>
            <a:r>
              <a:rPr lang="en-US" sz="2800" b="1" dirty="0">
                <a:solidFill>
                  <a:srgbClr val="283396"/>
                </a:solidFill>
                <a:latin typeface="+mj-lt"/>
              </a:rPr>
              <a:t>Examples: C and C++ are the definitive examples of mid-level languages.</a:t>
            </a:r>
          </a:p>
          <a:p>
            <a:pPr>
              <a:buFont typeface="Arial" panose="020B0604020202020204" pitchFamily="34" charset="0"/>
              <a:buChar char="•"/>
            </a:pPr>
            <a:r>
              <a:rPr lang="en-US" sz="2800" b="1" dirty="0">
                <a:solidFill>
                  <a:srgbClr val="283396"/>
                </a:solidFill>
                <a:latin typeface="+mj-lt"/>
              </a:rPr>
              <a:t>Best Used For: Developing operating systems (like Linux/Windows), game engines, embedded systems, and high-performance applications.</a:t>
            </a:r>
          </a:p>
        </p:txBody>
      </p:sp>
    </p:spTree>
    <p:extLst>
      <p:ext uri="{BB962C8B-B14F-4D97-AF65-F5344CB8AC3E}">
        <p14:creationId xmlns:p14="http://schemas.microsoft.com/office/powerpoint/2010/main" val="1404483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4736622" y="8123342"/>
            <a:ext cx="2119546" cy="627805"/>
            <a:chOff x="0" y="0"/>
            <a:chExt cx="558234" cy="165348"/>
          </a:xfrm>
        </p:grpSpPr>
        <p:sp>
          <p:nvSpPr>
            <p:cNvPr id="13" name="Freeform 13"/>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14" name="TextBox 14"/>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dirty="0">
                  <a:solidFill>
                    <a:srgbClr val="FFFFFF"/>
                  </a:solidFill>
                  <a:latin typeface="Montaser Arabic Bold"/>
                  <a:ea typeface="Montaser Arabic Bold"/>
                  <a:cs typeface="Montaser Arabic Bold"/>
                  <a:sym typeface="Montaser Arabic Bold"/>
                </a:rPr>
                <a:t>NEXT SLIDE</a:t>
              </a:r>
            </a:p>
          </p:txBody>
        </p:sp>
      </p:grpSp>
      <p:grpSp>
        <p:nvGrpSpPr>
          <p:cNvPr id="15" name="Group 15"/>
          <p:cNvGrpSpPr/>
          <p:nvPr/>
        </p:nvGrpSpPr>
        <p:grpSpPr>
          <a:xfrm>
            <a:off x="10868260" y="2228619"/>
            <a:ext cx="5921233" cy="5321719"/>
            <a:chOff x="0" y="0"/>
            <a:chExt cx="1559502" cy="1401605"/>
          </a:xfrm>
        </p:grpSpPr>
        <p:sp>
          <p:nvSpPr>
            <p:cNvPr id="16" name="Freeform 16"/>
            <p:cNvSpPr/>
            <p:nvPr/>
          </p:nvSpPr>
          <p:spPr>
            <a:xfrm>
              <a:off x="0" y="0"/>
              <a:ext cx="1559502" cy="1401605"/>
            </a:xfrm>
            <a:custGeom>
              <a:avLst/>
              <a:gdLst/>
              <a:ahLst/>
              <a:cxnLst/>
              <a:rect l="l" t="t" r="r" b="b"/>
              <a:pathLst>
                <a:path w="1559502" h="1401605">
                  <a:moveTo>
                    <a:pt x="66682" y="0"/>
                  </a:moveTo>
                  <a:lnTo>
                    <a:pt x="1492820" y="0"/>
                  </a:lnTo>
                  <a:cubicBezTo>
                    <a:pt x="1510505" y="0"/>
                    <a:pt x="1527466" y="7025"/>
                    <a:pt x="1539971" y="19531"/>
                  </a:cubicBezTo>
                  <a:cubicBezTo>
                    <a:pt x="1552476" y="32036"/>
                    <a:pt x="1559502" y="48997"/>
                    <a:pt x="1559502" y="66682"/>
                  </a:cubicBezTo>
                  <a:lnTo>
                    <a:pt x="1559502" y="1334923"/>
                  </a:lnTo>
                  <a:cubicBezTo>
                    <a:pt x="1559502" y="1371751"/>
                    <a:pt x="1529647" y="1401605"/>
                    <a:pt x="1492820" y="1401605"/>
                  </a:cubicBezTo>
                  <a:lnTo>
                    <a:pt x="66682" y="1401605"/>
                  </a:lnTo>
                  <a:cubicBezTo>
                    <a:pt x="48997" y="1401605"/>
                    <a:pt x="32036" y="1394580"/>
                    <a:pt x="19531" y="1382074"/>
                  </a:cubicBezTo>
                  <a:cubicBezTo>
                    <a:pt x="7025" y="1369569"/>
                    <a:pt x="0" y="1352608"/>
                    <a:pt x="0" y="1334923"/>
                  </a:cubicBezTo>
                  <a:lnTo>
                    <a:pt x="0" y="66682"/>
                  </a:lnTo>
                  <a:cubicBezTo>
                    <a:pt x="0" y="48997"/>
                    <a:pt x="7025" y="32036"/>
                    <a:pt x="19531" y="19531"/>
                  </a:cubicBezTo>
                  <a:cubicBezTo>
                    <a:pt x="32036" y="7025"/>
                    <a:pt x="48997" y="0"/>
                    <a:pt x="66682" y="0"/>
                  </a:cubicBezTo>
                  <a:close/>
                </a:path>
              </a:pathLst>
            </a:custGeom>
            <a:ln w="19050" cap="rnd">
              <a:solidFill>
                <a:srgbClr val="283396"/>
              </a:solidFill>
              <a:prstDash val="solid"/>
              <a:round/>
            </a:ln>
          </p:spPr>
        </p:sp>
        <p:sp>
          <p:nvSpPr>
            <p:cNvPr id="17" name="TextBox 17"/>
            <p:cNvSpPr txBox="1"/>
            <p:nvPr/>
          </p:nvSpPr>
          <p:spPr>
            <a:xfrm>
              <a:off x="0" y="-38100"/>
              <a:ext cx="1559502" cy="1439705"/>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868260" y="6483279"/>
            <a:ext cx="5891088" cy="1067060"/>
            <a:chOff x="0" y="0"/>
            <a:chExt cx="2416150" cy="281036"/>
          </a:xfrm>
        </p:grpSpPr>
        <p:sp>
          <p:nvSpPr>
            <p:cNvPr id="19" name="Freeform 19"/>
            <p:cNvSpPr/>
            <p:nvPr/>
          </p:nvSpPr>
          <p:spPr>
            <a:xfrm>
              <a:off x="0" y="0"/>
              <a:ext cx="2416150" cy="281036"/>
            </a:xfrm>
            <a:custGeom>
              <a:avLst/>
              <a:gdLst/>
              <a:ahLst/>
              <a:cxnLst/>
              <a:rect l="l" t="t" r="r" b="b"/>
              <a:pathLst>
                <a:path w="2416150" h="281036">
                  <a:moveTo>
                    <a:pt x="43040" y="0"/>
                  </a:moveTo>
                  <a:lnTo>
                    <a:pt x="2373111" y="0"/>
                  </a:lnTo>
                  <a:cubicBezTo>
                    <a:pt x="2384525" y="0"/>
                    <a:pt x="2395473" y="4535"/>
                    <a:pt x="2403544" y="12606"/>
                  </a:cubicBezTo>
                  <a:cubicBezTo>
                    <a:pt x="2411616" y="20678"/>
                    <a:pt x="2416150" y="31625"/>
                    <a:pt x="2416150" y="43040"/>
                  </a:cubicBezTo>
                  <a:lnTo>
                    <a:pt x="2416150" y="237997"/>
                  </a:lnTo>
                  <a:cubicBezTo>
                    <a:pt x="2416150" y="249412"/>
                    <a:pt x="2411616" y="260359"/>
                    <a:pt x="2403544" y="268430"/>
                  </a:cubicBezTo>
                  <a:cubicBezTo>
                    <a:pt x="2395473" y="276502"/>
                    <a:pt x="2384525" y="281036"/>
                    <a:pt x="2373111" y="281036"/>
                  </a:cubicBezTo>
                  <a:lnTo>
                    <a:pt x="43040" y="281036"/>
                  </a:lnTo>
                  <a:cubicBezTo>
                    <a:pt x="31625" y="281036"/>
                    <a:pt x="20678" y="276502"/>
                    <a:pt x="12606" y="268430"/>
                  </a:cubicBezTo>
                  <a:cubicBezTo>
                    <a:pt x="4535" y="260359"/>
                    <a:pt x="0" y="249412"/>
                    <a:pt x="0" y="237997"/>
                  </a:cubicBezTo>
                  <a:lnTo>
                    <a:pt x="0" y="43040"/>
                  </a:lnTo>
                  <a:cubicBezTo>
                    <a:pt x="0" y="31625"/>
                    <a:pt x="4535" y="20678"/>
                    <a:pt x="12606" y="12606"/>
                  </a:cubicBezTo>
                  <a:cubicBezTo>
                    <a:pt x="20678" y="4535"/>
                    <a:pt x="31625" y="0"/>
                    <a:pt x="43040"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2416150" cy="319136"/>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11246637" y="1413443"/>
            <a:ext cx="5352655" cy="5024805"/>
          </a:xfrm>
          <a:custGeom>
            <a:avLst/>
            <a:gdLst/>
            <a:ahLst/>
            <a:cxnLst/>
            <a:rect l="l" t="t" r="r" b="b"/>
            <a:pathLst>
              <a:path w="5352655" h="5024805">
                <a:moveTo>
                  <a:pt x="0" y="0"/>
                </a:moveTo>
                <a:lnTo>
                  <a:pt x="5352655" y="0"/>
                </a:lnTo>
                <a:lnTo>
                  <a:pt x="5352655" y="5024804"/>
                </a:lnTo>
                <a:lnTo>
                  <a:pt x="0" y="5024804"/>
                </a:lnTo>
                <a:lnTo>
                  <a:pt x="0" y="0"/>
                </a:lnTo>
                <a:close/>
              </a:path>
            </a:pathLst>
          </a:custGeom>
          <a:blipFill>
            <a:blip r:embed="rId4"/>
            <a:stretch>
              <a:fillRect/>
            </a:stretch>
          </a:blipFill>
        </p:spPr>
      </p:sp>
      <p:grpSp>
        <p:nvGrpSpPr>
          <p:cNvPr id="22" name="Group 22"/>
          <p:cNvGrpSpPr/>
          <p:nvPr/>
        </p:nvGrpSpPr>
        <p:grpSpPr>
          <a:xfrm>
            <a:off x="1178127" y="2228619"/>
            <a:ext cx="8867706" cy="2803735"/>
            <a:chOff x="0" y="0"/>
            <a:chExt cx="2335527" cy="738432"/>
          </a:xfrm>
        </p:grpSpPr>
        <p:sp>
          <p:nvSpPr>
            <p:cNvPr id="23" name="Freeform 23"/>
            <p:cNvSpPr/>
            <p:nvPr/>
          </p:nvSpPr>
          <p:spPr>
            <a:xfrm>
              <a:off x="0" y="0"/>
              <a:ext cx="2335527" cy="738432"/>
            </a:xfrm>
            <a:custGeom>
              <a:avLst/>
              <a:gdLst/>
              <a:ahLst/>
              <a:cxnLst/>
              <a:rect l="l" t="t" r="r" b="b"/>
              <a:pathLst>
                <a:path w="2335527" h="738432">
                  <a:moveTo>
                    <a:pt x="44525" y="0"/>
                  </a:moveTo>
                  <a:lnTo>
                    <a:pt x="2291002" y="0"/>
                  </a:lnTo>
                  <a:cubicBezTo>
                    <a:pt x="2315593" y="0"/>
                    <a:pt x="2335527" y="19935"/>
                    <a:pt x="2335527" y="44525"/>
                  </a:cubicBezTo>
                  <a:lnTo>
                    <a:pt x="2335527" y="693907"/>
                  </a:lnTo>
                  <a:cubicBezTo>
                    <a:pt x="2335527" y="705716"/>
                    <a:pt x="2330836" y="717041"/>
                    <a:pt x="2322486" y="725391"/>
                  </a:cubicBezTo>
                  <a:cubicBezTo>
                    <a:pt x="2314136" y="733741"/>
                    <a:pt x="2302811" y="738432"/>
                    <a:pt x="2291002" y="738432"/>
                  </a:cubicBezTo>
                  <a:lnTo>
                    <a:pt x="44525" y="738432"/>
                  </a:lnTo>
                  <a:cubicBezTo>
                    <a:pt x="32717" y="738432"/>
                    <a:pt x="21391" y="733741"/>
                    <a:pt x="13041" y="725391"/>
                  </a:cubicBezTo>
                  <a:cubicBezTo>
                    <a:pt x="4691" y="717041"/>
                    <a:pt x="0" y="705716"/>
                    <a:pt x="0" y="693907"/>
                  </a:cubicBezTo>
                  <a:lnTo>
                    <a:pt x="0" y="44525"/>
                  </a:lnTo>
                  <a:cubicBezTo>
                    <a:pt x="0" y="32717"/>
                    <a:pt x="4691" y="21391"/>
                    <a:pt x="13041" y="13041"/>
                  </a:cubicBezTo>
                  <a:cubicBezTo>
                    <a:pt x="21391" y="4691"/>
                    <a:pt x="32717" y="0"/>
                    <a:pt x="44525" y="0"/>
                  </a:cubicBezTo>
                  <a:close/>
                </a:path>
              </a:pathLst>
            </a:custGeom>
            <a:ln w="19050" cap="rnd">
              <a:solidFill>
                <a:srgbClr val="283396"/>
              </a:solidFill>
              <a:prstDash val="solid"/>
              <a:round/>
            </a:ln>
          </p:spPr>
        </p:sp>
        <p:sp>
          <p:nvSpPr>
            <p:cNvPr id="24" name="TextBox 24"/>
            <p:cNvSpPr txBox="1"/>
            <p:nvPr/>
          </p:nvSpPr>
          <p:spPr>
            <a:xfrm>
              <a:off x="0" y="-38100"/>
              <a:ext cx="2335527" cy="776532"/>
            </a:xfrm>
            <a:prstGeom prst="rect">
              <a:avLst/>
            </a:prstGeom>
          </p:spPr>
          <p:txBody>
            <a:bodyPr lIns="50800" tIns="50800" rIns="50800" bIns="50800" rtlCol="0" anchor="ctr"/>
            <a:lstStyle/>
            <a:p>
              <a:pPr marL="0" lvl="0" indent="0" algn="ctr">
                <a:lnSpc>
                  <a:spcPts val="2659"/>
                </a:lnSpc>
              </a:pPr>
              <a:endParaRPr/>
            </a:p>
          </p:txBody>
        </p:sp>
      </p:grpSp>
      <p:sp>
        <p:nvSpPr>
          <p:cNvPr id="25" name="TextBox 25"/>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6" name="TextBox 26"/>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7" name="TextBox 27"/>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28" name="TextBox 28"/>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CONTENT</a:t>
            </a:r>
          </a:p>
        </p:txBody>
      </p:sp>
      <p:sp>
        <p:nvSpPr>
          <p:cNvPr id="29" name="TextBox 29"/>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0" name="TextBox 30"/>
          <p:cNvSpPr txBox="1"/>
          <p:nvPr/>
        </p:nvSpPr>
        <p:spPr>
          <a:xfrm>
            <a:off x="1131988" y="5646455"/>
            <a:ext cx="10145612" cy="987450"/>
          </a:xfrm>
          <a:prstGeom prst="rect">
            <a:avLst/>
          </a:prstGeom>
        </p:spPr>
        <p:txBody>
          <a:bodyPr wrap="square" lIns="0" tIns="0" rIns="0" bIns="0" rtlCol="0" anchor="t">
            <a:spAutoFit/>
          </a:bodyPr>
          <a:lstStyle/>
          <a:p>
            <a:pPr marL="0" lvl="0" indent="0" algn="just">
              <a:lnSpc>
                <a:spcPts val="7726"/>
              </a:lnSpc>
            </a:pPr>
            <a:r>
              <a:rPr lang="en-US" sz="7200" b="1" dirty="0">
                <a:solidFill>
                  <a:srgbClr val="283396"/>
                </a:solidFill>
                <a:latin typeface="+mj-lt"/>
                <a:ea typeface="Agrandir Grand Bold"/>
                <a:cs typeface="Agrandir Grand Bold"/>
                <a:sym typeface="Agrandir Grand Bold"/>
              </a:rPr>
              <a:t>The origins of Python</a:t>
            </a:r>
          </a:p>
        </p:txBody>
      </p:sp>
      <p:sp>
        <p:nvSpPr>
          <p:cNvPr id="31" name="TextBox 31"/>
          <p:cNvSpPr txBox="1"/>
          <p:nvPr/>
        </p:nvSpPr>
        <p:spPr>
          <a:xfrm>
            <a:off x="1085926" y="6846513"/>
            <a:ext cx="8423073" cy="2954655"/>
          </a:xfrm>
          <a:prstGeom prst="rect">
            <a:avLst/>
          </a:prstGeom>
        </p:spPr>
        <p:txBody>
          <a:bodyPr wrap="square" lIns="0" tIns="0" rIns="0" bIns="0" rtlCol="0" anchor="t">
            <a:spAutoFit/>
          </a:bodyPr>
          <a:lstStyle/>
          <a:p>
            <a:pPr marL="0" lvl="0" indent="0" algn="just"/>
            <a:r>
              <a:rPr lang="en-US" sz="3200" b="1" dirty="0">
                <a:solidFill>
                  <a:srgbClr val="283396"/>
                </a:solidFill>
                <a:latin typeface="+mj-lt"/>
                <a:ea typeface="Montaser Arabic Light"/>
                <a:cs typeface="Montaser Arabic Light"/>
                <a:sym typeface="Montaser Arabic Light"/>
              </a:rPr>
              <a:t>Python was developed by Guido van Rossum in the early 1990s in the Netherlands. The name "Python" was inspired by the British comedy series "Monty Python's Flying Circus" — not the snake. Van Rossum wanted a short, unique name that was fun and memorable.</a:t>
            </a:r>
          </a:p>
        </p:txBody>
      </p:sp>
      <p:sp>
        <p:nvSpPr>
          <p:cNvPr id="35" name="Freeform 35"/>
          <p:cNvSpPr/>
          <p:nvPr/>
        </p:nvSpPr>
        <p:spPr>
          <a:xfrm>
            <a:off x="1841010" y="2210112"/>
            <a:ext cx="6117483" cy="2765829"/>
          </a:xfrm>
          <a:custGeom>
            <a:avLst/>
            <a:gdLst/>
            <a:ahLst/>
            <a:cxnLst/>
            <a:rect l="l" t="t" r="r" b="b"/>
            <a:pathLst>
              <a:path w="6747891" h="6790331">
                <a:moveTo>
                  <a:pt x="0" y="0"/>
                </a:moveTo>
                <a:lnTo>
                  <a:pt x="6747891" y="0"/>
                </a:lnTo>
                <a:lnTo>
                  <a:pt x="6747891" y="6790331"/>
                </a:lnTo>
                <a:lnTo>
                  <a:pt x="0" y="6790331"/>
                </a:lnTo>
                <a:lnTo>
                  <a:pt x="0" y="0"/>
                </a:lnTo>
                <a:close/>
              </a:path>
            </a:pathLst>
          </a:custGeom>
          <a:blipFill>
            <a:blip r:embed="rId5"/>
            <a:stretch>
              <a:fillRect/>
            </a:stretch>
          </a:blipFill>
        </p:spPr>
      </p:sp>
      <p:grpSp>
        <p:nvGrpSpPr>
          <p:cNvPr id="36" name="Group 36"/>
          <p:cNvGrpSpPr/>
          <p:nvPr/>
        </p:nvGrpSpPr>
        <p:grpSpPr>
          <a:xfrm>
            <a:off x="16049239" y="2002842"/>
            <a:ext cx="1210061" cy="121006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8" name="TextBox 3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9" name="Group 39"/>
          <p:cNvGrpSpPr/>
          <p:nvPr/>
        </p:nvGrpSpPr>
        <p:grpSpPr>
          <a:xfrm>
            <a:off x="16311679" y="2284314"/>
            <a:ext cx="685181" cy="647115"/>
            <a:chOff x="0" y="0"/>
            <a:chExt cx="685800" cy="647700"/>
          </a:xfrm>
        </p:grpSpPr>
        <p:sp>
          <p:nvSpPr>
            <p:cNvPr id="40" name="Freeform 40"/>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1" name="TextBox 41"/>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2" name="Group 42"/>
          <p:cNvGrpSpPr/>
          <p:nvPr/>
        </p:nvGrpSpPr>
        <p:grpSpPr>
          <a:xfrm>
            <a:off x="745026" y="2002842"/>
            <a:ext cx="1210061" cy="1210061"/>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4" name="TextBox 4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1007466" y="2284314"/>
            <a:ext cx="685181" cy="647115"/>
            <a:chOff x="0" y="0"/>
            <a:chExt cx="685800" cy="647700"/>
          </a:xfrm>
        </p:grpSpPr>
        <p:sp>
          <p:nvSpPr>
            <p:cNvPr id="46" name="Freeform 46"/>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7" name="TextBox 47"/>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341199" y="-55031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4737851"/>
            <a:ext cx="8115300" cy="4520449"/>
            <a:chOff x="0" y="0"/>
            <a:chExt cx="2137363" cy="1190571"/>
          </a:xfrm>
        </p:grpSpPr>
        <p:sp>
          <p:nvSpPr>
            <p:cNvPr id="13" name="Freeform 13"/>
            <p:cNvSpPr/>
            <p:nvPr/>
          </p:nvSpPr>
          <p:spPr>
            <a:xfrm>
              <a:off x="0" y="0"/>
              <a:ext cx="2137363" cy="1190571"/>
            </a:xfrm>
            <a:custGeom>
              <a:avLst/>
              <a:gdLst/>
              <a:ahLst/>
              <a:cxnLst/>
              <a:rect l="l" t="t" r="r" b="b"/>
              <a:pathLst>
                <a:path w="2137363" h="1190571">
                  <a:moveTo>
                    <a:pt x="48654" y="0"/>
                  </a:moveTo>
                  <a:lnTo>
                    <a:pt x="2088710" y="0"/>
                  </a:lnTo>
                  <a:cubicBezTo>
                    <a:pt x="2115580" y="0"/>
                    <a:pt x="2137363" y="21783"/>
                    <a:pt x="2137363" y="48654"/>
                  </a:cubicBezTo>
                  <a:lnTo>
                    <a:pt x="2137363" y="1141918"/>
                  </a:lnTo>
                  <a:cubicBezTo>
                    <a:pt x="2137363" y="1168788"/>
                    <a:pt x="2115580" y="1190571"/>
                    <a:pt x="2088710" y="1190571"/>
                  </a:cubicBezTo>
                  <a:lnTo>
                    <a:pt x="48654" y="1190571"/>
                  </a:lnTo>
                  <a:cubicBezTo>
                    <a:pt x="21783" y="1190571"/>
                    <a:pt x="0" y="1168788"/>
                    <a:pt x="0" y="1141918"/>
                  </a:cubicBezTo>
                  <a:lnTo>
                    <a:pt x="0" y="48654"/>
                  </a:lnTo>
                  <a:cubicBezTo>
                    <a:pt x="0" y="21783"/>
                    <a:pt x="21783" y="0"/>
                    <a:pt x="48654" y="0"/>
                  </a:cubicBezTo>
                  <a:close/>
                </a:path>
              </a:pathLst>
            </a:custGeom>
            <a:ln w="19050" cap="rnd">
              <a:solidFill>
                <a:srgbClr val="283396"/>
              </a:solidFill>
              <a:prstDash val="solid"/>
              <a:round/>
            </a:ln>
          </p:spPr>
        </p:sp>
        <p:sp>
          <p:nvSpPr>
            <p:cNvPr id="14" name="TextBox 14"/>
            <p:cNvSpPr txBox="1"/>
            <p:nvPr/>
          </p:nvSpPr>
          <p:spPr>
            <a:xfrm>
              <a:off x="0" y="-38100"/>
              <a:ext cx="2137363" cy="1228671"/>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8116442"/>
            <a:ext cx="8115300" cy="1285446"/>
            <a:chOff x="0" y="0"/>
            <a:chExt cx="2888645" cy="276401"/>
          </a:xfrm>
        </p:grpSpPr>
        <p:sp>
          <p:nvSpPr>
            <p:cNvPr id="16" name="Freeform 16"/>
            <p:cNvSpPr/>
            <p:nvPr/>
          </p:nvSpPr>
          <p:spPr>
            <a:xfrm>
              <a:off x="0" y="0"/>
              <a:ext cx="2888645" cy="276401"/>
            </a:xfrm>
            <a:custGeom>
              <a:avLst/>
              <a:gdLst/>
              <a:ahLst/>
              <a:cxnLst/>
              <a:rect l="l" t="t" r="r" b="b"/>
              <a:pathLst>
                <a:path w="2888645" h="276401">
                  <a:moveTo>
                    <a:pt x="36000" y="0"/>
                  </a:moveTo>
                  <a:lnTo>
                    <a:pt x="2852645" y="0"/>
                  </a:lnTo>
                  <a:cubicBezTo>
                    <a:pt x="2872527" y="0"/>
                    <a:pt x="2888645" y="16118"/>
                    <a:pt x="2888645" y="36000"/>
                  </a:cubicBezTo>
                  <a:lnTo>
                    <a:pt x="2888645" y="240401"/>
                  </a:lnTo>
                  <a:cubicBezTo>
                    <a:pt x="2888645" y="260283"/>
                    <a:pt x="2872527" y="276401"/>
                    <a:pt x="2852645" y="276401"/>
                  </a:cubicBezTo>
                  <a:lnTo>
                    <a:pt x="36000" y="276401"/>
                  </a:lnTo>
                  <a:cubicBezTo>
                    <a:pt x="16118" y="276401"/>
                    <a:pt x="0" y="260283"/>
                    <a:pt x="0" y="240401"/>
                  </a:cubicBezTo>
                  <a:lnTo>
                    <a:pt x="0" y="36000"/>
                  </a:lnTo>
                  <a:cubicBezTo>
                    <a:pt x="0" y="16118"/>
                    <a:pt x="16118" y="0"/>
                    <a:pt x="36000"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2888645" cy="31450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043972" y="6316143"/>
            <a:ext cx="7215328" cy="2942157"/>
            <a:chOff x="0" y="0"/>
            <a:chExt cx="1900333" cy="774889"/>
          </a:xfrm>
        </p:grpSpPr>
        <p:sp>
          <p:nvSpPr>
            <p:cNvPr id="19" name="Freeform 19"/>
            <p:cNvSpPr/>
            <p:nvPr/>
          </p:nvSpPr>
          <p:spPr>
            <a:xfrm>
              <a:off x="0" y="0"/>
              <a:ext cx="1900333" cy="774889"/>
            </a:xfrm>
            <a:custGeom>
              <a:avLst/>
              <a:gdLst/>
              <a:ahLst/>
              <a:cxnLst/>
              <a:rect l="l" t="t" r="r" b="b"/>
              <a:pathLst>
                <a:path w="1900333" h="774889">
                  <a:moveTo>
                    <a:pt x="54722" y="0"/>
                  </a:moveTo>
                  <a:lnTo>
                    <a:pt x="1845611" y="0"/>
                  </a:lnTo>
                  <a:cubicBezTo>
                    <a:pt x="1875833" y="0"/>
                    <a:pt x="1900333" y="24500"/>
                    <a:pt x="1900333" y="54722"/>
                  </a:cubicBezTo>
                  <a:lnTo>
                    <a:pt x="1900333" y="720167"/>
                  </a:lnTo>
                  <a:cubicBezTo>
                    <a:pt x="1900333" y="750389"/>
                    <a:pt x="1875833" y="774889"/>
                    <a:pt x="1845611" y="774889"/>
                  </a:cubicBezTo>
                  <a:lnTo>
                    <a:pt x="54722" y="774889"/>
                  </a:lnTo>
                  <a:cubicBezTo>
                    <a:pt x="24500" y="774889"/>
                    <a:pt x="0" y="750389"/>
                    <a:pt x="0" y="720167"/>
                  </a:cubicBezTo>
                  <a:lnTo>
                    <a:pt x="0" y="54722"/>
                  </a:lnTo>
                  <a:cubicBezTo>
                    <a:pt x="0" y="24500"/>
                    <a:pt x="24500" y="0"/>
                    <a:pt x="54722" y="0"/>
                  </a:cubicBezTo>
                  <a:close/>
                </a:path>
              </a:pathLst>
            </a:custGeom>
            <a:ln w="19050" cap="rnd">
              <a:solidFill>
                <a:srgbClr val="283396"/>
              </a:solidFill>
              <a:prstDash val="solid"/>
              <a:round/>
            </a:ln>
          </p:spPr>
        </p:sp>
        <p:sp>
          <p:nvSpPr>
            <p:cNvPr id="20" name="TextBox 20"/>
            <p:cNvSpPr txBox="1"/>
            <p:nvPr/>
          </p:nvSpPr>
          <p:spPr>
            <a:xfrm>
              <a:off x="0" y="-38100"/>
              <a:ext cx="1900333" cy="812989"/>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0021981" y="8138830"/>
            <a:ext cx="7255991" cy="1263058"/>
            <a:chOff x="0" y="0"/>
            <a:chExt cx="2550780" cy="276401"/>
          </a:xfrm>
        </p:grpSpPr>
        <p:sp>
          <p:nvSpPr>
            <p:cNvPr id="22" name="Freeform 22"/>
            <p:cNvSpPr/>
            <p:nvPr/>
          </p:nvSpPr>
          <p:spPr>
            <a:xfrm>
              <a:off x="0" y="0"/>
              <a:ext cx="2550780" cy="276401"/>
            </a:xfrm>
            <a:custGeom>
              <a:avLst/>
              <a:gdLst/>
              <a:ahLst/>
              <a:cxnLst/>
              <a:rect l="l" t="t" r="r" b="b"/>
              <a:pathLst>
                <a:path w="2550780" h="276401">
                  <a:moveTo>
                    <a:pt x="40768" y="0"/>
                  </a:moveTo>
                  <a:lnTo>
                    <a:pt x="2510012" y="0"/>
                  </a:lnTo>
                  <a:cubicBezTo>
                    <a:pt x="2532527" y="0"/>
                    <a:pt x="2550780" y="18252"/>
                    <a:pt x="2550780" y="40768"/>
                  </a:cubicBezTo>
                  <a:lnTo>
                    <a:pt x="2550780" y="235633"/>
                  </a:lnTo>
                  <a:cubicBezTo>
                    <a:pt x="2550780" y="258148"/>
                    <a:pt x="2532527" y="276401"/>
                    <a:pt x="2510012" y="276401"/>
                  </a:cubicBezTo>
                  <a:lnTo>
                    <a:pt x="40768" y="276401"/>
                  </a:lnTo>
                  <a:cubicBezTo>
                    <a:pt x="18252" y="276401"/>
                    <a:pt x="0" y="258148"/>
                    <a:pt x="0" y="235633"/>
                  </a:cubicBezTo>
                  <a:lnTo>
                    <a:pt x="0" y="40768"/>
                  </a:lnTo>
                  <a:cubicBezTo>
                    <a:pt x="0" y="18252"/>
                    <a:pt x="18252" y="0"/>
                    <a:pt x="40768" y="0"/>
                  </a:cubicBezTo>
                  <a:close/>
                </a:path>
              </a:pathLst>
            </a:custGeom>
            <a:solidFill>
              <a:srgbClr val="283396"/>
            </a:solidFill>
            <a:ln w="19050" cap="rnd">
              <a:solidFill>
                <a:srgbClr val="283396"/>
              </a:solidFill>
              <a:prstDash val="solid"/>
              <a:round/>
            </a:ln>
          </p:spPr>
        </p:sp>
        <p:sp>
          <p:nvSpPr>
            <p:cNvPr id="23" name="TextBox 23"/>
            <p:cNvSpPr txBox="1"/>
            <p:nvPr/>
          </p:nvSpPr>
          <p:spPr>
            <a:xfrm>
              <a:off x="0" y="-38100"/>
              <a:ext cx="2550780" cy="314501"/>
            </a:xfrm>
            <a:prstGeom prst="rect">
              <a:avLst/>
            </a:prstGeom>
          </p:spPr>
          <p:txBody>
            <a:bodyPr lIns="50800" tIns="50800" rIns="50800" bIns="50800" rtlCol="0" anchor="ctr"/>
            <a:lstStyle/>
            <a:p>
              <a:pPr marL="0" lvl="0" indent="0" algn="ctr">
                <a:lnSpc>
                  <a:spcPts val="2659"/>
                </a:lnSpc>
              </a:pPr>
              <a:endParaRPr/>
            </a:p>
          </p:txBody>
        </p:sp>
      </p:grpSp>
      <p:sp>
        <p:nvSpPr>
          <p:cNvPr id="24" name="Freeform 24"/>
          <p:cNvSpPr/>
          <p:nvPr/>
        </p:nvSpPr>
        <p:spPr>
          <a:xfrm>
            <a:off x="2033646" y="3424447"/>
            <a:ext cx="6128737" cy="5707386"/>
          </a:xfrm>
          <a:custGeom>
            <a:avLst/>
            <a:gdLst/>
            <a:ahLst/>
            <a:cxnLst/>
            <a:rect l="l" t="t" r="r" b="b"/>
            <a:pathLst>
              <a:path w="6128737" h="5707386">
                <a:moveTo>
                  <a:pt x="0" y="0"/>
                </a:moveTo>
                <a:lnTo>
                  <a:pt x="6128737" y="0"/>
                </a:lnTo>
                <a:lnTo>
                  <a:pt x="6128737" y="5707386"/>
                </a:lnTo>
                <a:lnTo>
                  <a:pt x="0" y="5707386"/>
                </a:lnTo>
                <a:lnTo>
                  <a:pt x="0" y="0"/>
                </a:lnTo>
                <a:close/>
              </a:path>
            </a:pathLst>
          </a:custGeom>
          <a:blipFill>
            <a:blip r:embed="rId4"/>
            <a:stretch>
              <a:fillRect/>
            </a:stretch>
          </a:blipFill>
        </p:spPr>
      </p:sp>
      <p:sp>
        <p:nvSpPr>
          <p:cNvPr id="25" name="Freeform 25"/>
          <p:cNvSpPr/>
          <p:nvPr/>
        </p:nvSpPr>
        <p:spPr>
          <a:xfrm>
            <a:off x="12913731" y="4416931"/>
            <a:ext cx="4238364" cy="4217172"/>
          </a:xfrm>
          <a:custGeom>
            <a:avLst/>
            <a:gdLst/>
            <a:ahLst/>
            <a:cxnLst/>
            <a:rect l="l" t="t" r="r" b="b"/>
            <a:pathLst>
              <a:path w="4238364" h="4217172">
                <a:moveTo>
                  <a:pt x="0" y="0"/>
                </a:moveTo>
                <a:lnTo>
                  <a:pt x="4238364" y="0"/>
                </a:lnTo>
                <a:lnTo>
                  <a:pt x="4238364" y="4217172"/>
                </a:lnTo>
                <a:lnTo>
                  <a:pt x="0" y="4217172"/>
                </a:lnTo>
                <a:lnTo>
                  <a:pt x="0" y="0"/>
                </a:lnTo>
                <a:close/>
              </a:path>
            </a:pathLst>
          </a:custGeom>
          <a:blipFill>
            <a:blip r:embed="rId5"/>
            <a:stretch>
              <a:fillRect/>
            </a:stretch>
          </a:blipFill>
        </p:spPr>
      </p:sp>
      <p:sp>
        <p:nvSpPr>
          <p:cNvPr id="26" name="Freeform 26"/>
          <p:cNvSpPr/>
          <p:nvPr/>
        </p:nvSpPr>
        <p:spPr>
          <a:xfrm>
            <a:off x="10254079" y="5849632"/>
            <a:ext cx="3054256" cy="4191089"/>
          </a:xfrm>
          <a:custGeom>
            <a:avLst/>
            <a:gdLst/>
            <a:ahLst/>
            <a:cxnLst/>
            <a:rect l="l" t="t" r="r" b="b"/>
            <a:pathLst>
              <a:path w="3054256" h="4191089">
                <a:moveTo>
                  <a:pt x="0" y="0"/>
                </a:moveTo>
                <a:lnTo>
                  <a:pt x="3054256" y="0"/>
                </a:lnTo>
                <a:lnTo>
                  <a:pt x="3054256" y="4191088"/>
                </a:lnTo>
                <a:lnTo>
                  <a:pt x="0" y="4191088"/>
                </a:lnTo>
                <a:lnTo>
                  <a:pt x="0" y="0"/>
                </a:lnTo>
                <a:close/>
              </a:path>
            </a:pathLst>
          </a:custGeom>
          <a:blipFill>
            <a:blip r:embed="rId6"/>
            <a:stretch>
              <a:fillRect/>
            </a:stretch>
          </a:blipFill>
        </p:spPr>
      </p:sp>
      <p:sp>
        <p:nvSpPr>
          <p:cNvPr id="27" name="TextBox 27"/>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8" name="TextBox 28"/>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9" name="TextBox 29"/>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0" name="TextBox 30"/>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TIMELINE</a:t>
            </a:r>
          </a:p>
        </p:txBody>
      </p:sp>
      <p:sp>
        <p:nvSpPr>
          <p:cNvPr id="31" name="TextBox 31"/>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2" name="TextBox 32"/>
          <p:cNvSpPr txBox="1"/>
          <p:nvPr/>
        </p:nvSpPr>
        <p:spPr>
          <a:xfrm>
            <a:off x="1131988" y="2132450"/>
            <a:ext cx="16127312" cy="983474"/>
          </a:xfrm>
          <a:prstGeom prst="rect">
            <a:avLst/>
          </a:prstGeom>
        </p:spPr>
        <p:txBody>
          <a:bodyPr lIns="0" tIns="0" rIns="0" bIns="0" rtlCol="0" anchor="t">
            <a:spAutoFit/>
          </a:bodyPr>
          <a:lstStyle/>
          <a:p>
            <a:pPr marL="0" lvl="0" indent="0" algn="just">
              <a:lnSpc>
                <a:spcPts val="7608"/>
              </a:lnSpc>
            </a:pPr>
            <a:r>
              <a:rPr lang="en-US" sz="7459" b="1" spc="-268" dirty="0">
                <a:solidFill>
                  <a:srgbClr val="283396"/>
                </a:solidFill>
                <a:latin typeface="+mj-lt"/>
                <a:ea typeface="Agrandir Grand Bold"/>
                <a:cs typeface="Agrandir Grand Bold"/>
                <a:sym typeface="Agrandir Grand Bold"/>
              </a:rPr>
              <a:t>Python Version 1</a:t>
            </a:r>
          </a:p>
        </p:txBody>
      </p:sp>
      <p:sp>
        <p:nvSpPr>
          <p:cNvPr id="33" name="TextBox 33"/>
          <p:cNvSpPr txBox="1"/>
          <p:nvPr/>
        </p:nvSpPr>
        <p:spPr>
          <a:xfrm>
            <a:off x="9525094" y="1885438"/>
            <a:ext cx="6980424" cy="2154436"/>
          </a:xfrm>
          <a:prstGeom prst="rect">
            <a:avLst/>
          </a:prstGeom>
        </p:spPr>
        <p:txBody>
          <a:bodyPr lIns="0" tIns="0" rIns="0" bIns="0" rtlCol="0" anchor="t">
            <a:spAutoFit/>
          </a:bodyPr>
          <a:lstStyle/>
          <a:p>
            <a:pPr marL="0" lvl="0" indent="0" algn="just"/>
            <a:r>
              <a:rPr lang="en-US" sz="2800" b="1" dirty="0">
                <a:solidFill>
                  <a:srgbClr val="283396"/>
                </a:solidFill>
                <a:latin typeface="+mj-lt"/>
                <a:ea typeface="Montaser Arabic Light"/>
                <a:cs typeface="Montaser Arabic Light"/>
                <a:sym typeface="Montaser Arabic Light"/>
              </a:rPr>
              <a:t>Released in 1994, Python Version 1 marked the official birth of the language. It introduced core features including exception handling, functions, and the core data types that would define Python's elegant simplicity.</a:t>
            </a:r>
          </a:p>
        </p:txBody>
      </p:sp>
      <p:grpSp>
        <p:nvGrpSpPr>
          <p:cNvPr id="34" name="Group 34"/>
          <p:cNvGrpSpPr/>
          <p:nvPr/>
        </p:nvGrpSpPr>
        <p:grpSpPr>
          <a:xfrm>
            <a:off x="8428476" y="5272962"/>
            <a:ext cx="1210061" cy="12100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8690916" y="5554435"/>
            <a:ext cx="685181" cy="647115"/>
            <a:chOff x="0" y="0"/>
            <a:chExt cx="685800" cy="647700"/>
          </a:xfrm>
        </p:grpSpPr>
        <p:sp>
          <p:nvSpPr>
            <p:cNvPr id="38" name="Freeform 38"/>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9" name="TextBox 39"/>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0" name="Group 40"/>
          <p:cNvGrpSpPr/>
          <p:nvPr/>
        </p:nvGrpSpPr>
        <p:grpSpPr>
          <a:xfrm>
            <a:off x="573096" y="6598647"/>
            <a:ext cx="1210061" cy="12100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3" name="Group 43"/>
          <p:cNvGrpSpPr/>
          <p:nvPr/>
        </p:nvGrpSpPr>
        <p:grpSpPr>
          <a:xfrm>
            <a:off x="835536" y="6880120"/>
            <a:ext cx="685181" cy="647115"/>
            <a:chOff x="0" y="0"/>
            <a:chExt cx="685800" cy="647700"/>
          </a:xfrm>
        </p:grpSpPr>
        <p:sp>
          <p:nvSpPr>
            <p:cNvPr id="44" name="Freeform 4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5" name="TextBox 4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4737851"/>
            <a:ext cx="8115300" cy="4520449"/>
            <a:chOff x="0" y="0"/>
            <a:chExt cx="2137363" cy="1190571"/>
          </a:xfrm>
        </p:grpSpPr>
        <p:sp>
          <p:nvSpPr>
            <p:cNvPr id="13" name="Freeform 13"/>
            <p:cNvSpPr/>
            <p:nvPr/>
          </p:nvSpPr>
          <p:spPr>
            <a:xfrm>
              <a:off x="0" y="0"/>
              <a:ext cx="2137363" cy="1190571"/>
            </a:xfrm>
            <a:custGeom>
              <a:avLst/>
              <a:gdLst/>
              <a:ahLst/>
              <a:cxnLst/>
              <a:rect l="l" t="t" r="r" b="b"/>
              <a:pathLst>
                <a:path w="2137363" h="1190571">
                  <a:moveTo>
                    <a:pt x="48654" y="0"/>
                  </a:moveTo>
                  <a:lnTo>
                    <a:pt x="2088710" y="0"/>
                  </a:lnTo>
                  <a:cubicBezTo>
                    <a:pt x="2115580" y="0"/>
                    <a:pt x="2137363" y="21783"/>
                    <a:pt x="2137363" y="48654"/>
                  </a:cubicBezTo>
                  <a:lnTo>
                    <a:pt x="2137363" y="1141918"/>
                  </a:lnTo>
                  <a:cubicBezTo>
                    <a:pt x="2137363" y="1168788"/>
                    <a:pt x="2115580" y="1190571"/>
                    <a:pt x="2088710" y="1190571"/>
                  </a:cubicBezTo>
                  <a:lnTo>
                    <a:pt x="48654" y="1190571"/>
                  </a:lnTo>
                  <a:cubicBezTo>
                    <a:pt x="21783" y="1190571"/>
                    <a:pt x="0" y="1168788"/>
                    <a:pt x="0" y="1141918"/>
                  </a:cubicBezTo>
                  <a:lnTo>
                    <a:pt x="0" y="48654"/>
                  </a:lnTo>
                  <a:cubicBezTo>
                    <a:pt x="0" y="21783"/>
                    <a:pt x="21783" y="0"/>
                    <a:pt x="48654" y="0"/>
                  </a:cubicBezTo>
                  <a:close/>
                </a:path>
              </a:pathLst>
            </a:custGeom>
            <a:ln w="19050" cap="rnd">
              <a:solidFill>
                <a:srgbClr val="283396"/>
              </a:solidFill>
              <a:prstDash val="solid"/>
              <a:round/>
            </a:ln>
          </p:spPr>
        </p:sp>
        <p:sp>
          <p:nvSpPr>
            <p:cNvPr id="14" name="TextBox 14"/>
            <p:cNvSpPr txBox="1"/>
            <p:nvPr/>
          </p:nvSpPr>
          <p:spPr>
            <a:xfrm>
              <a:off x="0" y="-38100"/>
              <a:ext cx="2137363" cy="1228671"/>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699" y="8375037"/>
            <a:ext cx="8165241" cy="1049460"/>
            <a:chOff x="0" y="0"/>
            <a:chExt cx="2888645" cy="276401"/>
          </a:xfrm>
        </p:grpSpPr>
        <p:sp>
          <p:nvSpPr>
            <p:cNvPr id="16" name="Freeform 16"/>
            <p:cNvSpPr/>
            <p:nvPr/>
          </p:nvSpPr>
          <p:spPr>
            <a:xfrm>
              <a:off x="0" y="0"/>
              <a:ext cx="2888645" cy="276401"/>
            </a:xfrm>
            <a:custGeom>
              <a:avLst/>
              <a:gdLst/>
              <a:ahLst/>
              <a:cxnLst/>
              <a:rect l="l" t="t" r="r" b="b"/>
              <a:pathLst>
                <a:path w="2888645" h="276401">
                  <a:moveTo>
                    <a:pt x="36000" y="0"/>
                  </a:moveTo>
                  <a:lnTo>
                    <a:pt x="2852645" y="0"/>
                  </a:lnTo>
                  <a:cubicBezTo>
                    <a:pt x="2872527" y="0"/>
                    <a:pt x="2888645" y="16118"/>
                    <a:pt x="2888645" y="36000"/>
                  </a:cubicBezTo>
                  <a:lnTo>
                    <a:pt x="2888645" y="240401"/>
                  </a:lnTo>
                  <a:cubicBezTo>
                    <a:pt x="2888645" y="260283"/>
                    <a:pt x="2872527" y="276401"/>
                    <a:pt x="2852645" y="276401"/>
                  </a:cubicBezTo>
                  <a:lnTo>
                    <a:pt x="36000" y="276401"/>
                  </a:lnTo>
                  <a:cubicBezTo>
                    <a:pt x="16118" y="276401"/>
                    <a:pt x="0" y="260283"/>
                    <a:pt x="0" y="240401"/>
                  </a:cubicBezTo>
                  <a:lnTo>
                    <a:pt x="0" y="36000"/>
                  </a:lnTo>
                  <a:cubicBezTo>
                    <a:pt x="0" y="16118"/>
                    <a:pt x="16118" y="0"/>
                    <a:pt x="36000"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2888645" cy="31450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043972" y="4745404"/>
            <a:ext cx="7215328" cy="4512897"/>
            <a:chOff x="0" y="0"/>
            <a:chExt cx="1900333" cy="774889"/>
          </a:xfrm>
        </p:grpSpPr>
        <p:sp>
          <p:nvSpPr>
            <p:cNvPr id="19" name="Freeform 19"/>
            <p:cNvSpPr/>
            <p:nvPr/>
          </p:nvSpPr>
          <p:spPr>
            <a:xfrm>
              <a:off x="0" y="0"/>
              <a:ext cx="1900333" cy="774889"/>
            </a:xfrm>
            <a:custGeom>
              <a:avLst/>
              <a:gdLst/>
              <a:ahLst/>
              <a:cxnLst/>
              <a:rect l="l" t="t" r="r" b="b"/>
              <a:pathLst>
                <a:path w="1900333" h="774889">
                  <a:moveTo>
                    <a:pt x="54722" y="0"/>
                  </a:moveTo>
                  <a:lnTo>
                    <a:pt x="1845611" y="0"/>
                  </a:lnTo>
                  <a:cubicBezTo>
                    <a:pt x="1875833" y="0"/>
                    <a:pt x="1900333" y="24500"/>
                    <a:pt x="1900333" y="54722"/>
                  </a:cubicBezTo>
                  <a:lnTo>
                    <a:pt x="1900333" y="720167"/>
                  </a:lnTo>
                  <a:cubicBezTo>
                    <a:pt x="1900333" y="750389"/>
                    <a:pt x="1875833" y="774889"/>
                    <a:pt x="1845611" y="774889"/>
                  </a:cubicBezTo>
                  <a:lnTo>
                    <a:pt x="54722" y="774889"/>
                  </a:lnTo>
                  <a:cubicBezTo>
                    <a:pt x="24500" y="774889"/>
                    <a:pt x="0" y="750389"/>
                    <a:pt x="0" y="720167"/>
                  </a:cubicBezTo>
                  <a:lnTo>
                    <a:pt x="0" y="54722"/>
                  </a:lnTo>
                  <a:cubicBezTo>
                    <a:pt x="0" y="24500"/>
                    <a:pt x="24500" y="0"/>
                    <a:pt x="54722" y="0"/>
                  </a:cubicBezTo>
                  <a:close/>
                </a:path>
              </a:pathLst>
            </a:custGeom>
            <a:ln w="19050" cap="rnd">
              <a:solidFill>
                <a:srgbClr val="283396"/>
              </a:solidFill>
              <a:prstDash val="solid"/>
              <a:round/>
            </a:ln>
          </p:spPr>
        </p:sp>
        <p:sp>
          <p:nvSpPr>
            <p:cNvPr id="20" name="TextBox 20"/>
            <p:cNvSpPr txBox="1"/>
            <p:nvPr/>
          </p:nvSpPr>
          <p:spPr>
            <a:xfrm>
              <a:off x="0" y="-38100"/>
              <a:ext cx="1900333" cy="812989"/>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9911015" y="8406606"/>
            <a:ext cx="7227580" cy="1049460"/>
            <a:chOff x="0" y="0"/>
            <a:chExt cx="2550780" cy="276401"/>
          </a:xfrm>
        </p:grpSpPr>
        <p:sp>
          <p:nvSpPr>
            <p:cNvPr id="22" name="Freeform 22"/>
            <p:cNvSpPr/>
            <p:nvPr/>
          </p:nvSpPr>
          <p:spPr>
            <a:xfrm>
              <a:off x="0" y="0"/>
              <a:ext cx="2550780" cy="276401"/>
            </a:xfrm>
            <a:custGeom>
              <a:avLst/>
              <a:gdLst/>
              <a:ahLst/>
              <a:cxnLst/>
              <a:rect l="l" t="t" r="r" b="b"/>
              <a:pathLst>
                <a:path w="2550780" h="276401">
                  <a:moveTo>
                    <a:pt x="40768" y="0"/>
                  </a:moveTo>
                  <a:lnTo>
                    <a:pt x="2510012" y="0"/>
                  </a:lnTo>
                  <a:cubicBezTo>
                    <a:pt x="2532527" y="0"/>
                    <a:pt x="2550780" y="18252"/>
                    <a:pt x="2550780" y="40768"/>
                  </a:cubicBezTo>
                  <a:lnTo>
                    <a:pt x="2550780" y="235633"/>
                  </a:lnTo>
                  <a:cubicBezTo>
                    <a:pt x="2550780" y="258148"/>
                    <a:pt x="2532527" y="276401"/>
                    <a:pt x="2510012" y="276401"/>
                  </a:cubicBezTo>
                  <a:lnTo>
                    <a:pt x="40768" y="276401"/>
                  </a:lnTo>
                  <a:cubicBezTo>
                    <a:pt x="18252" y="276401"/>
                    <a:pt x="0" y="258148"/>
                    <a:pt x="0" y="235633"/>
                  </a:cubicBezTo>
                  <a:lnTo>
                    <a:pt x="0" y="40768"/>
                  </a:lnTo>
                  <a:cubicBezTo>
                    <a:pt x="0" y="18252"/>
                    <a:pt x="18252" y="0"/>
                    <a:pt x="40768" y="0"/>
                  </a:cubicBezTo>
                  <a:close/>
                </a:path>
              </a:pathLst>
            </a:custGeom>
            <a:solidFill>
              <a:srgbClr val="283396"/>
            </a:solidFill>
            <a:ln w="19050" cap="rnd">
              <a:solidFill>
                <a:srgbClr val="283396"/>
              </a:solidFill>
              <a:prstDash val="solid"/>
              <a:round/>
            </a:ln>
          </p:spPr>
        </p:sp>
        <p:sp>
          <p:nvSpPr>
            <p:cNvPr id="23" name="TextBox 23"/>
            <p:cNvSpPr txBox="1"/>
            <p:nvPr/>
          </p:nvSpPr>
          <p:spPr>
            <a:xfrm>
              <a:off x="0" y="-38100"/>
              <a:ext cx="2550780" cy="314501"/>
            </a:xfrm>
            <a:prstGeom prst="rect">
              <a:avLst/>
            </a:prstGeom>
          </p:spPr>
          <p:txBody>
            <a:bodyPr lIns="50800" tIns="50800" rIns="50800" bIns="50800" rtlCol="0" anchor="ctr"/>
            <a:lstStyle/>
            <a:p>
              <a:pPr marL="0" lvl="0" indent="0" algn="ctr">
                <a:lnSpc>
                  <a:spcPts val="2659"/>
                </a:lnSpc>
              </a:pPr>
              <a:endParaRPr/>
            </a:p>
          </p:txBody>
        </p:sp>
      </p:grpSp>
      <p:sp>
        <p:nvSpPr>
          <p:cNvPr id="24" name="Freeform 24"/>
          <p:cNvSpPr/>
          <p:nvPr/>
        </p:nvSpPr>
        <p:spPr>
          <a:xfrm>
            <a:off x="2152610" y="4639224"/>
            <a:ext cx="5748907" cy="4088910"/>
          </a:xfrm>
          <a:custGeom>
            <a:avLst/>
            <a:gdLst/>
            <a:ahLst/>
            <a:cxnLst/>
            <a:rect l="l" t="t" r="r" b="b"/>
            <a:pathLst>
              <a:path w="5748907" h="4088910">
                <a:moveTo>
                  <a:pt x="0" y="0"/>
                </a:moveTo>
                <a:lnTo>
                  <a:pt x="5748908" y="0"/>
                </a:lnTo>
                <a:lnTo>
                  <a:pt x="5748908" y="4088910"/>
                </a:lnTo>
                <a:lnTo>
                  <a:pt x="0" y="4088910"/>
                </a:lnTo>
                <a:lnTo>
                  <a:pt x="0" y="0"/>
                </a:lnTo>
                <a:close/>
              </a:path>
            </a:pathLst>
          </a:custGeom>
          <a:blipFill>
            <a:blip r:embed="rId4"/>
            <a:stretch>
              <a:fillRect/>
            </a:stretch>
          </a:blipFill>
        </p:spPr>
      </p:sp>
      <p:sp>
        <p:nvSpPr>
          <p:cNvPr id="25" name="Freeform 25"/>
          <p:cNvSpPr/>
          <p:nvPr/>
        </p:nvSpPr>
        <p:spPr>
          <a:xfrm>
            <a:off x="13556021" y="5624539"/>
            <a:ext cx="4321676" cy="3857096"/>
          </a:xfrm>
          <a:custGeom>
            <a:avLst/>
            <a:gdLst/>
            <a:ahLst/>
            <a:cxnLst/>
            <a:rect l="l" t="t" r="r" b="b"/>
            <a:pathLst>
              <a:path w="4321676" h="3857096">
                <a:moveTo>
                  <a:pt x="0" y="0"/>
                </a:moveTo>
                <a:lnTo>
                  <a:pt x="4321677" y="0"/>
                </a:lnTo>
                <a:lnTo>
                  <a:pt x="4321677" y="3857096"/>
                </a:lnTo>
                <a:lnTo>
                  <a:pt x="0" y="3857096"/>
                </a:lnTo>
                <a:lnTo>
                  <a:pt x="0" y="0"/>
                </a:lnTo>
                <a:close/>
              </a:path>
            </a:pathLst>
          </a:custGeom>
          <a:blipFill>
            <a:blip r:embed="rId5"/>
            <a:stretch>
              <a:fillRect/>
            </a:stretch>
          </a:blipFill>
        </p:spPr>
      </p:sp>
      <p:sp>
        <p:nvSpPr>
          <p:cNvPr id="26" name="Freeform 26"/>
          <p:cNvSpPr/>
          <p:nvPr/>
        </p:nvSpPr>
        <p:spPr>
          <a:xfrm>
            <a:off x="10042090" y="5616317"/>
            <a:ext cx="2816685" cy="3191712"/>
          </a:xfrm>
          <a:custGeom>
            <a:avLst/>
            <a:gdLst/>
            <a:ahLst/>
            <a:cxnLst/>
            <a:rect l="l" t="t" r="r" b="b"/>
            <a:pathLst>
              <a:path w="2816685" h="3191712">
                <a:moveTo>
                  <a:pt x="0" y="0"/>
                </a:moveTo>
                <a:lnTo>
                  <a:pt x="2816685" y="0"/>
                </a:lnTo>
                <a:lnTo>
                  <a:pt x="2816685" y="3191711"/>
                </a:lnTo>
                <a:lnTo>
                  <a:pt x="0" y="3191711"/>
                </a:lnTo>
                <a:lnTo>
                  <a:pt x="0" y="0"/>
                </a:lnTo>
                <a:close/>
              </a:path>
            </a:pathLst>
          </a:custGeom>
          <a:blipFill>
            <a:blip r:embed="rId6"/>
            <a:stretch>
              <a:fillRect/>
            </a:stretch>
          </a:blipFill>
        </p:spPr>
      </p:sp>
      <p:sp>
        <p:nvSpPr>
          <p:cNvPr id="27" name="TextBox 27"/>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8" name="TextBox 28"/>
          <p:cNvSpPr txBox="1"/>
          <p:nvPr/>
        </p:nvSpPr>
        <p:spPr>
          <a:xfrm>
            <a:off x="5337971" y="765300"/>
            <a:ext cx="1755559" cy="314482"/>
          </a:xfrm>
          <a:prstGeom prst="rect">
            <a:avLst/>
          </a:prstGeom>
        </p:spPr>
        <p:txBody>
          <a:bodyPr lIns="0" tIns="0" rIns="0" bIns="0" rtlCol="0" anchor="t">
            <a:spAutoFit/>
          </a:bodyPr>
          <a:lstStyle/>
          <a:p>
            <a:pPr marL="0" lvl="0" indent="0" algn="ctr">
              <a:lnSpc>
                <a:spcPts val="2616"/>
              </a:lnSpc>
              <a:spcBef>
                <a:spcPct val="0"/>
              </a:spcBef>
            </a:pPr>
            <a:r>
              <a:rPr lang="en-US" sz="1868">
                <a:solidFill>
                  <a:srgbClr val="283396"/>
                </a:solidFill>
                <a:latin typeface="Montaser Arabic"/>
                <a:ea typeface="Montaser Arabic"/>
                <a:cs typeface="Montaser Arabic"/>
                <a:sym typeface="Montaser Arabic"/>
              </a:rPr>
              <a:t>HOME</a:t>
            </a:r>
          </a:p>
        </p:txBody>
      </p:sp>
      <p:sp>
        <p:nvSpPr>
          <p:cNvPr id="29" name="TextBox 29"/>
          <p:cNvSpPr txBox="1"/>
          <p:nvPr/>
        </p:nvSpPr>
        <p:spPr>
          <a:xfrm>
            <a:off x="7463217" y="765300"/>
            <a:ext cx="2013772" cy="314482"/>
          </a:xfrm>
          <a:prstGeom prst="rect">
            <a:avLst/>
          </a:prstGeom>
        </p:spPr>
        <p:txBody>
          <a:bodyPr lIns="0" tIns="0" rIns="0" bIns="0" rtlCol="0" anchor="t">
            <a:spAutoFit/>
          </a:bodyPr>
          <a:lstStyle/>
          <a:p>
            <a:pPr marL="0" lvl="0" indent="0" algn="ctr">
              <a:lnSpc>
                <a:spcPts val="2616"/>
              </a:lnSpc>
              <a:spcBef>
                <a:spcPct val="0"/>
              </a:spcBef>
            </a:pPr>
            <a:r>
              <a:rPr lang="en-US" sz="1868">
                <a:solidFill>
                  <a:srgbClr val="283396"/>
                </a:solidFill>
                <a:latin typeface="Montaser Arabic"/>
                <a:ea typeface="Montaser Arabic"/>
                <a:cs typeface="Montaser Arabic"/>
                <a:sym typeface="Montaser Arabic"/>
              </a:rPr>
              <a:t>ABOUT</a:t>
            </a:r>
          </a:p>
        </p:txBody>
      </p:sp>
      <p:sp>
        <p:nvSpPr>
          <p:cNvPr id="30" name="TextBox 30"/>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TIMELINE</a:t>
            </a:r>
          </a:p>
        </p:txBody>
      </p:sp>
      <p:sp>
        <p:nvSpPr>
          <p:cNvPr id="31" name="TextBox 31"/>
          <p:cNvSpPr txBox="1"/>
          <p:nvPr/>
        </p:nvSpPr>
        <p:spPr>
          <a:xfrm>
            <a:off x="12101593" y="765300"/>
            <a:ext cx="2349448" cy="314482"/>
          </a:xfrm>
          <a:prstGeom prst="rect">
            <a:avLst/>
          </a:prstGeom>
        </p:spPr>
        <p:txBody>
          <a:bodyPr lIns="0" tIns="0" rIns="0" bIns="0" rtlCol="0" anchor="t">
            <a:spAutoFit/>
          </a:bodyPr>
          <a:lstStyle/>
          <a:p>
            <a:pPr marL="0" lvl="0" indent="0" algn="ctr">
              <a:lnSpc>
                <a:spcPts val="2616"/>
              </a:lnSpc>
              <a:spcBef>
                <a:spcPct val="0"/>
              </a:spcBef>
            </a:pPr>
            <a:r>
              <a:rPr lang="en-US" sz="1868">
                <a:solidFill>
                  <a:srgbClr val="283396"/>
                </a:solidFill>
                <a:latin typeface="Montaser Arabic"/>
                <a:ea typeface="Montaser Arabic"/>
                <a:cs typeface="Montaser Arabic"/>
                <a:sym typeface="Montaser Arabic"/>
              </a:rPr>
              <a:t>MORE</a:t>
            </a:r>
          </a:p>
        </p:txBody>
      </p:sp>
      <p:sp>
        <p:nvSpPr>
          <p:cNvPr id="32" name="TextBox 32"/>
          <p:cNvSpPr txBox="1"/>
          <p:nvPr/>
        </p:nvSpPr>
        <p:spPr>
          <a:xfrm>
            <a:off x="1131988" y="2132450"/>
            <a:ext cx="6331229" cy="1958100"/>
          </a:xfrm>
          <a:prstGeom prst="rect">
            <a:avLst/>
          </a:prstGeom>
        </p:spPr>
        <p:txBody>
          <a:bodyPr wrap="square" lIns="0" tIns="0" rIns="0" bIns="0" rtlCol="0" anchor="t">
            <a:spAutoFit/>
          </a:bodyPr>
          <a:lstStyle/>
          <a:p>
            <a:pPr marL="0" lvl="0" indent="0" algn="just">
              <a:lnSpc>
                <a:spcPts val="7608"/>
              </a:lnSpc>
            </a:pPr>
            <a:r>
              <a:rPr lang="en-US" sz="7459" b="1" spc="-268" dirty="0">
                <a:solidFill>
                  <a:srgbClr val="283396"/>
                </a:solidFill>
                <a:latin typeface="+mj-lt"/>
                <a:ea typeface="Agrandir Grand Bold"/>
                <a:cs typeface="Agrandir Grand Bold"/>
                <a:sym typeface="Agrandir Grand Bold"/>
              </a:rPr>
              <a:t>Python Version 2 (2000)</a:t>
            </a:r>
          </a:p>
        </p:txBody>
      </p:sp>
      <p:sp>
        <p:nvSpPr>
          <p:cNvPr id="33" name="TextBox 33"/>
          <p:cNvSpPr txBox="1"/>
          <p:nvPr/>
        </p:nvSpPr>
        <p:spPr>
          <a:xfrm>
            <a:off x="9777045" y="1729194"/>
            <a:ext cx="6980424" cy="3016210"/>
          </a:xfrm>
          <a:prstGeom prst="rect">
            <a:avLst/>
          </a:prstGeom>
        </p:spPr>
        <p:txBody>
          <a:bodyPr lIns="0" tIns="0" rIns="0" bIns="0" rtlCol="0" anchor="t">
            <a:spAutoFit/>
          </a:bodyPr>
          <a:lstStyle/>
          <a:p>
            <a:pPr marL="0" lvl="0" indent="0" algn="just"/>
            <a:r>
              <a:rPr lang="en-US" sz="2800" b="1" dirty="0">
                <a:solidFill>
                  <a:srgbClr val="283396"/>
                </a:solidFill>
                <a:latin typeface="+mj-lt"/>
                <a:ea typeface="Montaser Arabic Light"/>
                <a:cs typeface="Montaser Arabic Light"/>
                <a:sym typeface="Montaser Arabic Light"/>
              </a:rPr>
              <a:t>Python 2 was released in 2000, introducing significant new features including list comprehensions, garbage collection, and Unicode support. It became widely adopted across industries and remained the standard for many years before being deprecated in 2020.</a:t>
            </a:r>
          </a:p>
        </p:txBody>
      </p:sp>
      <p:grpSp>
        <p:nvGrpSpPr>
          <p:cNvPr id="34" name="Group 34"/>
          <p:cNvGrpSpPr/>
          <p:nvPr/>
        </p:nvGrpSpPr>
        <p:grpSpPr>
          <a:xfrm>
            <a:off x="8428476" y="5272962"/>
            <a:ext cx="1210061" cy="12100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8690916" y="5554435"/>
            <a:ext cx="685181" cy="647115"/>
            <a:chOff x="0" y="0"/>
            <a:chExt cx="685800" cy="647700"/>
          </a:xfrm>
        </p:grpSpPr>
        <p:sp>
          <p:nvSpPr>
            <p:cNvPr id="38" name="Freeform 38"/>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9" name="TextBox 39"/>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0" name="Group 40"/>
          <p:cNvGrpSpPr/>
          <p:nvPr/>
        </p:nvGrpSpPr>
        <p:grpSpPr>
          <a:xfrm>
            <a:off x="573096" y="6598647"/>
            <a:ext cx="1210061" cy="12100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3" name="Group 43"/>
          <p:cNvGrpSpPr/>
          <p:nvPr/>
        </p:nvGrpSpPr>
        <p:grpSpPr>
          <a:xfrm>
            <a:off x="835536" y="6880120"/>
            <a:ext cx="685181" cy="647115"/>
            <a:chOff x="0" y="0"/>
            <a:chExt cx="685800" cy="647700"/>
          </a:xfrm>
        </p:grpSpPr>
        <p:sp>
          <p:nvSpPr>
            <p:cNvPr id="44" name="Freeform 4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5" name="TextBox 4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4737851"/>
            <a:ext cx="8115300" cy="4520449"/>
            <a:chOff x="0" y="0"/>
            <a:chExt cx="2137363" cy="1190571"/>
          </a:xfrm>
        </p:grpSpPr>
        <p:sp>
          <p:nvSpPr>
            <p:cNvPr id="13" name="Freeform 13"/>
            <p:cNvSpPr/>
            <p:nvPr/>
          </p:nvSpPr>
          <p:spPr>
            <a:xfrm>
              <a:off x="0" y="0"/>
              <a:ext cx="2137363" cy="1190571"/>
            </a:xfrm>
            <a:custGeom>
              <a:avLst/>
              <a:gdLst/>
              <a:ahLst/>
              <a:cxnLst/>
              <a:rect l="l" t="t" r="r" b="b"/>
              <a:pathLst>
                <a:path w="2137363" h="1190571">
                  <a:moveTo>
                    <a:pt x="48654" y="0"/>
                  </a:moveTo>
                  <a:lnTo>
                    <a:pt x="2088710" y="0"/>
                  </a:lnTo>
                  <a:cubicBezTo>
                    <a:pt x="2115580" y="0"/>
                    <a:pt x="2137363" y="21783"/>
                    <a:pt x="2137363" y="48654"/>
                  </a:cubicBezTo>
                  <a:lnTo>
                    <a:pt x="2137363" y="1141918"/>
                  </a:lnTo>
                  <a:cubicBezTo>
                    <a:pt x="2137363" y="1168788"/>
                    <a:pt x="2115580" y="1190571"/>
                    <a:pt x="2088710" y="1190571"/>
                  </a:cubicBezTo>
                  <a:lnTo>
                    <a:pt x="48654" y="1190571"/>
                  </a:lnTo>
                  <a:cubicBezTo>
                    <a:pt x="21783" y="1190571"/>
                    <a:pt x="0" y="1168788"/>
                    <a:pt x="0" y="1141918"/>
                  </a:cubicBezTo>
                  <a:lnTo>
                    <a:pt x="0" y="48654"/>
                  </a:lnTo>
                  <a:cubicBezTo>
                    <a:pt x="0" y="21783"/>
                    <a:pt x="21783" y="0"/>
                    <a:pt x="48654" y="0"/>
                  </a:cubicBezTo>
                  <a:close/>
                </a:path>
              </a:pathLst>
            </a:custGeom>
            <a:ln w="19050" cap="rnd">
              <a:solidFill>
                <a:srgbClr val="283396"/>
              </a:solidFill>
              <a:prstDash val="solid"/>
              <a:round/>
            </a:ln>
          </p:spPr>
        </p:sp>
        <p:sp>
          <p:nvSpPr>
            <p:cNvPr id="14" name="TextBox 14"/>
            <p:cNvSpPr txBox="1"/>
            <p:nvPr/>
          </p:nvSpPr>
          <p:spPr>
            <a:xfrm>
              <a:off x="0" y="-38100"/>
              <a:ext cx="2137363" cy="1228671"/>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835536" y="8211618"/>
            <a:ext cx="8308464" cy="1049460"/>
            <a:chOff x="0" y="0"/>
            <a:chExt cx="2888645" cy="276401"/>
          </a:xfrm>
        </p:grpSpPr>
        <p:sp>
          <p:nvSpPr>
            <p:cNvPr id="16" name="Freeform 16"/>
            <p:cNvSpPr/>
            <p:nvPr/>
          </p:nvSpPr>
          <p:spPr>
            <a:xfrm>
              <a:off x="0" y="0"/>
              <a:ext cx="2888645" cy="276401"/>
            </a:xfrm>
            <a:custGeom>
              <a:avLst/>
              <a:gdLst/>
              <a:ahLst/>
              <a:cxnLst/>
              <a:rect l="l" t="t" r="r" b="b"/>
              <a:pathLst>
                <a:path w="2888645" h="276401">
                  <a:moveTo>
                    <a:pt x="36000" y="0"/>
                  </a:moveTo>
                  <a:lnTo>
                    <a:pt x="2852645" y="0"/>
                  </a:lnTo>
                  <a:cubicBezTo>
                    <a:pt x="2872527" y="0"/>
                    <a:pt x="2888645" y="16118"/>
                    <a:pt x="2888645" y="36000"/>
                  </a:cubicBezTo>
                  <a:lnTo>
                    <a:pt x="2888645" y="240401"/>
                  </a:lnTo>
                  <a:cubicBezTo>
                    <a:pt x="2888645" y="260283"/>
                    <a:pt x="2872527" y="276401"/>
                    <a:pt x="2852645" y="276401"/>
                  </a:cubicBezTo>
                  <a:lnTo>
                    <a:pt x="36000" y="276401"/>
                  </a:lnTo>
                  <a:cubicBezTo>
                    <a:pt x="16118" y="276401"/>
                    <a:pt x="0" y="260283"/>
                    <a:pt x="0" y="240401"/>
                  </a:cubicBezTo>
                  <a:lnTo>
                    <a:pt x="0" y="36000"/>
                  </a:lnTo>
                  <a:cubicBezTo>
                    <a:pt x="0" y="16118"/>
                    <a:pt x="16118" y="0"/>
                    <a:pt x="36000"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2888645" cy="31450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043972" y="4813569"/>
            <a:ext cx="7215328" cy="4444731"/>
            <a:chOff x="0" y="0"/>
            <a:chExt cx="1900333" cy="774889"/>
          </a:xfrm>
        </p:grpSpPr>
        <p:sp>
          <p:nvSpPr>
            <p:cNvPr id="19" name="Freeform 19"/>
            <p:cNvSpPr/>
            <p:nvPr/>
          </p:nvSpPr>
          <p:spPr>
            <a:xfrm>
              <a:off x="0" y="0"/>
              <a:ext cx="1900333" cy="774889"/>
            </a:xfrm>
            <a:custGeom>
              <a:avLst/>
              <a:gdLst/>
              <a:ahLst/>
              <a:cxnLst/>
              <a:rect l="l" t="t" r="r" b="b"/>
              <a:pathLst>
                <a:path w="1900333" h="774889">
                  <a:moveTo>
                    <a:pt x="54722" y="0"/>
                  </a:moveTo>
                  <a:lnTo>
                    <a:pt x="1845611" y="0"/>
                  </a:lnTo>
                  <a:cubicBezTo>
                    <a:pt x="1875833" y="0"/>
                    <a:pt x="1900333" y="24500"/>
                    <a:pt x="1900333" y="54722"/>
                  </a:cubicBezTo>
                  <a:lnTo>
                    <a:pt x="1900333" y="720167"/>
                  </a:lnTo>
                  <a:cubicBezTo>
                    <a:pt x="1900333" y="750389"/>
                    <a:pt x="1875833" y="774889"/>
                    <a:pt x="1845611" y="774889"/>
                  </a:cubicBezTo>
                  <a:lnTo>
                    <a:pt x="54722" y="774889"/>
                  </a:lnTo>
                  <a:cubicBezTo>
                    <a:pt x="24500" y="774889"/>
                    <a:pt x="0" y="750389"/>
                    <a:pt x="0" y="720167"/>
                  </a:cubicBezTo>
                  <a:lnTo>
                    <a:pt x="0" y="54722"/>
                  </a:lnTo>
                  <a:cubicBezTo>
                    <a:pt x="0" y="24500"/>
                    <a:pt x="24500" y="0"/>
                    <a:pt x="54722" y="0"/>
                  </a:cubicBezTo>
                  <a:close/>
                </a:path>
              </a:pathLst>
            </a:custGeom>
            <a:ln w="19050" cap="rnd">
              <a:solidFill>
                <a:srgbClr val="283396"/>
              </a:solidFill>
              <a:prstDash val="solid"/>
              <a:round/>
            </a:ln>
          </p:spPr>
        </p:sp>
        <p:sp>
          <p:nvSpPr>
            <p:cNvPr id="20" name="TextBox 20"/>
            <p:cNvSpPr txBox="1"/>
            <p:nvPr/>
          </p:nvSpPr>
          <p:spPr>
            <a:xfrm>
              <a:off x="0" y="-38100"/>
              <a:ext cx="1900333" cy="812989"/>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9856201" y="8134319"/>
            <a:ext cx="9737875" cy="1194121"/>
            <a:chOff x="-13928" y="-38100"/>
            <a:chExt cx="2564708" cy="314501"/>
          </a:xfrm>
        </p:grpSpPr>
        <p:sp>
          <p:nvSpPr>
            <p:cNvPr id="22" name="Freeform 22"/>
            <p:cNvSpPr/>
            <p:nvPr/>
          </p:nvSpPr>
          <p:spPr>
            <a:xfrm>
              <a:off x="-13928" y="-7476"/>
              <a:ext cx="1948210" cy="276401"/>
            </a:xfrm>
            <a:custGeom>
              <a:avLst/>
              <a:gdLst/>
              <a:ahLst/>
              <a:cxnLst/>
              <a:rect l="l" t="t" r="r" b="b"/>
              <a:pathLst>
                <a:path w="2550780" h="276401">
                  <a:moveTo>
                    <a:pt x="40768" y="0"/>
                  </a:moveTo>
                  <a:lnTo>
                    <a:pt x="2510012" y="0"/>
                  </a:lnTo>
                  <a:cubicBezTo>
                    <a:pt x="2532527" y="0"/>
                    <a:pt x="2550780" y="18252"/>
                    <a:pt x="2550780" y="40768"/>
                  </a:cubicBezTo>
                  <a:lnTo>
                    <a:pt x="2550780" y="235633"/>
                  </a:lnTo>
                  <a:cubicBezTo>
                    <a:pt x="2550780" y="258148"/>
                    <a:pt x="2532527" y="276401"/>
                    <a:pt x="2510012" y="276401"/>
                  </a:cubicBezTo>
                  <a:lnTo>
                    <a:pt x="40768" y="276401"/>
                  </a:lnTo>
                  <a:cubicBezTo>
                    <a:pt x="18252" y="276401"/>
                    <a:pt x="0" y="258148"/>
                    <a:pt x="0" y="235633"/>
                  </a:cubicBezTo>
                  <a:lnTo>
                    <a:pt x="0" y="40768"/>
                  </a:lnTo>
                  <a:cubicBezTo>
                    <a:pt x="0" y="18252"/>
                    <a:pt x="18252" y="0"/>
                    <a:pt x="40768" y="0"/>
                  </a:cubicBezTo>
                  <a:close/>
                </a:path>
              </a:pathLst>
            </a:custGeom>
            <a:solidFill>
              <a:srgbClr val="283396"/>
            </a:solidFill>
            <a:ln w="19050" cap="rnd">
              <a:solidFill>
                <a:srgbClr val="283396"/>
              </a:solidFill>
              <a:prstDash val="solid"/>
              <a:round/>
            </a:ln>
          </p:spPr>
        </p:sp>
        <p:sp>
          <p:nvSpPr>
            <p:cNvPr id="23" name="TextBox 23"/>
            <p:cNvSpPr txBox="1"/>
            <p:nvPr/>
          </p:nvSpPr>
          <p:spPr>
            <a:xfrm>
              <a:off x="0" y="-38100"/>
              <a:ext cx="2550780" cy="314501"/>
            </a:xfrm>
            <a:prstGeom prst="rect">
              <a:avLst/>
            </a:prstGeom>
          </p:spPr>
          <p:txBody>
            <a:bodyPr lIns="50800" tIns="50800" rIns="50800" bIns="50800" rtlCol="0" anchor="ctr"/>
            <a:lstStyle/>
            <a:p>
              <a:pPr marL="0" lvl="0" indent="0" algn="ctr">
                <a:lnSpc>
                  <a:spcPts val="2659"/>
                </a:lnSpc>
              </a:pPr>
              <a:endParaRPr/>
            </a:p>
          </p:txBody>
        </p:sp>
      </p:grpSp>
      <p:sp>
        <p:nvSpPr>
          <p:cNvPr id="24" name="Freeform 24"/>
          <p:cNvSpPr/>
          <p:nvPr/>
        </p:nvSpPr>
        <p:spPr>
          <a:xfrm>
            <a:off x="2219046" y="4307336"/>
            <a:ext cx="5800041" cy="4328280"/>
          </a:xfrm>
          <a:custGeom>
            <a:avLst/>
            <a:gdLst/>
            <a:ahLst/>
            <a:cxnLst/>
            <a:rect l="l" t="t" r="r" b="b"/>
            <a:pathLst>
              <a:path w="5800041" h="4328280">
                <a:moveTo>
                  <a:pt x="0" y="0"/>
                </a:moveTo>
                <a:lnTo>
                  <a:pt x="5800040" y="0"/>
                </a:lnTo>
                <a:lnTo>
                  <a:pt x="5800040" y="4328280"/>
                </a:lnTo>
                <a:lnTo>
                  <a:pt x="0" y="4328280"/>
                </a:lnTo>
                <a:lnTo>
                  <a:pt x="0" y="0"/>
                </a:lnTo>
                <a:close/>
              </a:path>
            </a:pathLst>
          </a:custGeom>
          <a:blipFill>
            <a:blip r:embed="rId4"/>
            <a:stretch>
              <a:fillRect/>
            </a:stretch>
          </a:blipFill>
        </p:spPr>
      </p:sp>
      <p:sp>
        <p:nvSpPr>
          <p:cNvPr id="25" name="Freeform 25"/>
          <p:cNvSpPr/>
          <p:nvPr/>
        </p:nvSpPr>
        <p:spPr>
          <a:xfrm>
            <a:off x="13315264" y="5067306"/>
            <a:ext cx="4605209" cy="4331274"/>
          </a:xfrm>
          <a:custGeom>
            <a:avLst/>
            <a:gdLst/>
            <a:ahLst/>
            <a:cxnLst/>
            <a:rect l="l" t="t" r="r" b="b"/>
            <a:pathLst>
              <a:path w="4605209" h="3891401">
                <a:moveTo>
                  <a:pt x="0" y="0"/>
                </a:moveTo>
                <a:lnTo>
                  <a:pt x="4605209" y="0"/>
                </a:lnTo>
                <a:lnTo>
                  <a:pt x="4605209" y="3891402"/>
                </a:lnTo>
                <a:lnTo>
                  <a:pt x="0" y="3891402"/>
                </a:lnTo>
                <a:lnTo>
                  <a:pt x="0" y="0"/>
                </a:lnTo>
                <a:close/>
              </a:path>
            </a:pathLst>
          </a:custGeom>
          <a:blipFill>
            <a:blip r:embed="rId5"/>
            <a:stretch>
              <a:fillRect/>
            </a:stretch>
          </a:blipFill>
        </p:spPr>
      </p:sp>
      <p:sp>
        <p:nvSpPr>
          <p:cNvPr id="26" name="Freeform 26"/>
          <p:cNvSpPr/>
          <p:nvPr/>
        </p:nvSpPr>
        <p:spPr>
          <a:xfrm>
            <a:off x="9550665" y="4813569"/>
            <a:ext cx="3949807" cy="4030365"/>
          </a:xfrm>
          <a:custGeom>
            <a:avLst/>
            <a:gdLst/>
            <a:ahLst/>
            <a:cxnLst/>
            <a:rect l="l" t="t" r="r" b="b"/>
            <a:pathLst>
              <a:path w="3949807" h="2833986">
                <a:moveTo>
                  <a:pt x="0" y="0"/>
                </a:moveTo>
                <a:lnTo>
                  <a:pt x="3949807" y="0"/>
                </a:lnTo>
                <a:lnTo>
                  <a:pt x="3949807" y="2833986"/>
                </a:lnTo>
                <a:lnTo>
                  <a:pt x="0" y="2833986"/>
                </a:lnTo>
                <a:lnTo>
                  <a:pt x="0" y="0"/>
                </a:lnTo>
                <a:close/>
              </a:path>
            </a:pathLst>
          </a:custGeom>
          <a:blipFill>
            <a:blip r:embed="rId6"/>
            <a:stretch>
              <a:fillRect/>
            </a:stretch>
          </a:blipFill>
        </p:spPr>
      </p:sp>
      <p:sp>
        <p:nvSpPr>
          <p:cNvPr id="27" name="TextBox 27"/>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8" name="TextBox 28"/>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9" name="TextBox 29"/>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0" name="TextBox 30"/>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TIMELINE</a:t>
            </a:r>
          </a:p>
        </p:txBody>
      </p:sp>
      <p:sp>
        <p:nvSpPr>
          <p:cNvPr id="31" name="TextBox 31"/>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7/11</a:t>
            </a:r>
          </a:p>
        </p:txBody>
      </p:sp>
      <p:sp>
        <p:nvSpPr>
          <p:cNvPr id="32" name="TextBox 32"/>
          <p:cNvSpPr txBox="1"/>
          <p:nvPr/>
        </p:nvSpPr>
        <p:spPr>
          <a:xfrm>
            <a:off x="1105034" y="1674913"/>
            <a:ext cx="8115300" cy="1958100"/>
          </a:xfrm>
          <a:prstGeom prst="rect">
            <a:avLst/>
          </a:prstGeom>
        </p:spPr>
        <p:txBody>
          <a:bodyPr wrap="square" lIns="0" tIns="0" rIns="0" bIns="0" rtlCol="0" anchor="t">
            <a:spAutoFit/>
          </a:bodyPr>
          <a:lstStyle/>
          <a:p>
            <a:pPr marL="0" lvl="0" indent="0">
              <a:lnSpc>
                <a:spcPts val="7608"/>
              </a:lnSpc>
            </a:pPr>
            <a:r>
              <a:rPr lang="en-US" sz="7459" b="1" spc="-268" dirty="0">
                <a:solidFill>
                  <a:srgbClr val="283396"/>
                </a:solidFill>
                <a:latin typeface="+mj-lt"/>
                <a:ea typeface="Agrandir Grand Bold"/>
                <a:cs typeface="Agrandir Grand Bold"/>
                <a:sym typeface="Agrandir Grand Bold"/>
              </a:rPr>
              <a:t>Python Version 3 (2008)</a:t>
            </a:r>
          </a:p>
        </p:txBody>
      </p:sp>
      <p:sp>
        <p:nvSpPr>
          <p:cNvPr id="33" name="TextBox 33"/>
          <p:cNvSpPr txBox="1"/>
          <p:nvPr/>
        </p:nvSpPr>
        <p:spPr>
          <a:xfrm>
            <a:off x="9834297" y="1637539"/>
            <a:ext cx="6980424" cy="2585323"/>
          </a:xfrm>
          <a:prstGeom prst="rect">
            <a:avLst/>
          </a:prstGeom>
        </p:spPr>
        <p:txBody>
          <a:bodyPr lIns="0" tIns="0" rIns="0" bIns="0" rtlCol="0" anchor="t">
            <a:spAutoFit/>
          </a:bodyPr>
          <a:lstStyle/>
          <a:p>
            <a:pPr marL="0" lvl="0" indent="0" algn="just"/>
            <a:r>
              <a:rPr lang="en-US" sz="2800" b="1" dirty="0">
                <a:solidFill>
                  <a:srgbClr val="283396"/>
                </a:solidFill>
                <a:latin typeface="+mj-lt"/>
                <a:ea typeface="Montaser Arabic Light"/>
                <a:cs typeface="Montaser Arabic Light"/>
                <a:sym typeface="Montaser Arabic Light"/>
              </a:rPr>
              <a:t>Python 3 was released in 2008 as a major milestone. It introduced significant changes that made it not backward compatible with Python 2. Today, Python 3 is the modern standard with ongoing support and active development</a:t>
            </a:r>
            <a:r>
              <a:rPr lang="en-US" sz="2098" dirty="0">
                <a:solidFill>
                  <a:srgbClr val="283396"/>
                </a:solidFill>
                <a:latin typeface="Montaser Arabic Light"/>
                <a:ea typeface="Montaser Arabic Light"/>
                <a:cs typeface="Montaser Arabic Light"/>
                <a:sym typeface="Montaser Arabic Light"/>
              </a:rPr>
              <a:t>.</a:t>
            </a:r>
          </a:p>
        </p:txBody>
      </p:sp>
      <p:grpSp>
        <p:nvGrpSpPr>
          <p:cNvPr id="34" name="Group 34"/>
          <p:cNvGrpSpPr/>
          <p:nvPr/>
        </p:nvGrpSpPr>
        <p:grpSpPr>
          <a:xfrm>
            <a:off x="8428476" y="5272962"/>
            <a:ext cx="1210061" cy="12100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8690916" y="5554435"/>
            <a:ext cx="685181" cy="647115"/>
            <a:chOff x="0" y="0"/>
            <a:chExt cx="685800" cy="647700"/>
          </a:xfrm>
        </p:grpSpPr>
        <p:sp>
          <p:nvSpPr>
            <p:cNvPr id="38" name="Freeform 38"/>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9" name="TextBox 39"/>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0" name="Group 40"/>
          <p:cNvGrpSpPr/>
          <p:nvPr/>
        </p:nvGrpSpPr>
        <p:grpSpPr>
          <a:xfrm>
            <a:off x="573096" y="6598647"/>
            <a:ext cx="1210061" cy="12100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3" name="Group 43"/>
          <p:cNvGrpSpPr/>
          <p:nvPr/>
        </p:nvGrpSpPr>
        <p:grpSpPr>
          <a:xfrm>
            <a:off x="835536" y="6880120"/>
            <a:ext cx="685181" cy="647115"/>
            <a:chOff x="0" y="0"/>
            <a:chExt cx="685800" cy="647700"/>
          </a:xfrm>
        </p:grpSpPr>
        <p:sp>
          <p:nvSpPr>
            <p:cNvPr id="44" name="Freeform 4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5" name="TextBox 4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58200"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83673" y="9269967"/>
            <a:ext cx="2119546" cy="627805"/>
            <a:chOff x="0" y="0"/>
            <a:chExt cx="558234" cy="165348"/>
          </a:xfrm>
        </p:grpSpPr>
        <p:sp>
          <p:nvSpPr>
            <p:cNvPr id="13" name="Freeform 13"/>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14" name="TextBox 14"/>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a:solidFill>
                    <a:srgbClr val="FFFFFF"/>
                  </a:solidFill>
                  <a:latin typeface="Montaser Arabic Bold"/>
                  <a:ea typeface="Montaser Arabic Bold"/>
                  <a:cs typeface="Montaser Arabic Bold"/>
                  <a:sym typeface="Montaser Arabic Bold"/>
                </a:rPr>
                <a:t>NEXT SLIDE</a:t>
              </a:r>
            </a:p>
          </p:txBody>
        </p:sp>
      </p:grpSp>
      <p:grpSp>
        <p:nvGrpSpPr>
          <p:cNvPr id="15" name="Group 15"/>
          <p:cNvGrpSpPr/>
          <p:nvPr/>
        </p:nvGrpSpPr>
        <p:grpSpPr>
          <a:xfrm>
            <a:off x="1220865" y="2309961"/>
            <a:ext cx="4942221" cy="3696681"/>
            <a:chOff x="0" y="0"/>
            <a:chExt cx="1301655" cy="973611"/>
          </a:xfrm>
        </p:grpSpPr>
        <p:sp>
          <p:nvSpPr>
            <p:cNvPr id="16" name="Freeform 16"/>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17" name="TextBox 17"/>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220865" y="4947630"/>
            <a:ext cx="4942221" cy="1059011"/>
            <a:chOff x="0" y="0"/>
            <a:chExt cx="1301655" cy="278916"/>
          </a:xfrm>
        </p:grpSpPr>
        <p:sp>
          <p:nvSpPr>
            <p:cNvPr id="19" name="Freeform 19"/>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6672889" y="2275408"/>
            <a:ext cx="4942221" cy="3696681"/>
            <a:chOff x="0" y="0"/>
            <a:chExt cx="1301655" cy="973611"/>
          </a:xfrm>
        </p:grpSpPr>
        <p:sp>
          <p:nvSpPr>
            <p:cNvPr id="22" name="Freeform 22"/>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3" name="TextBox 23"/>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6672889" y="4904505"/>
            <a:ext cx="4942221" cy="1059011"/>
            <a:chOff x="0" y="0"/>
            <a:chExt cx="1301655" cy="278916"/>
          </a:xfrm>
        </p:grpSpPr>
        <p:sp>
          <p:nvSpPr>
            <p:cNvPr id="25" name="Freeform 25"/>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6" name="TextBox 26"/>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12124914" y="2240856"/>
            <a:ext cx="4942221" cy="3696681"/>
            <a:chOff x="0" y="0"/>
            <a:chExt cx="1301655" cy="973611"/>
          </a:xfrm>
        </p:grpSpPr>
        <p:sp>
          <p:nvSpPr>
            <p:cNvPr id="28" name="Freeform 28"/>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9" name="TextBox 29"/>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30" name="Group 30"/>
          <p:cNvGrpSpPr/>
          <p:nvPr/>
        </p:nvGrpSpPr>
        <p:grpSpPr>
          <a:xfrm>
            <a:off x="12124914" y="4861379"/>
            <a:ext cx="4942221" cy="1059011"/>
            <a:chOff x="0" y="0"/>
            <a:chExt cx="1301655" cy="278916"/>
          </a:xfrm>
        </p:grpSpPr>
        <p:sp>
          <p:nvSpPr>
            <p:cNvPr id="31" name="Freeform 31"/>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32" name="TextBox 32"/>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sp>
        <p:nvSpPr>
          <p:cNvPr id="33" name="Freeform 33"/>
          <p:cNvSpPr/>
          <p:nvPr/>
        </p:nvSpPr>
        <p:spPr>
          <a:xfrm>
            <a:off x="2546101" y="2749267"/>
            <a:ext cx="2455342" cy="3188756"/>
          </a:xfrm>
          <a:custGeom>
            <a:avLst/>
            <a:gdLst/>
            <a:ahLst/>
            <a:cxnLst/>
            <a:rect l="l" t="t" r="r" b="b"/>
            <a:pathLst>
              <a:path w="2455342" h="3188756">
                <a:moveTo>
                  <a:pt x="0" y="0"/>
                </a:moveTo>
                <a:lnTo>
                  <a:pt x="2455342" y="0"/>
                </a:lnTo>
                <a:lnTo>
                  <a:pt x="2455342" y="3188756"/>
                </a:lnTo>
                <a:lnTo>
                  <a:pt x="0" y="3188756"/>
                </a:lnTo>
                <a:lnTo>
                  <a:pt x="0" y="0"/>
                </a:lnTo>
                <a:close/>
              </a:path>
            </a:pathLst>
          </a:custGeom>
          <a:blipFill>
            <a:blip r:embed="rId4"/>
            <a:stretch>
              <a:fillRect/>
            </a:stretch>
          </a:blipFill>
        </p:spPr>
      </p:sp>
      <p:sp>
        <p:nvSpPr>
          <p:cNvPr id="34" name="Freeform 34"/>
          <p:cNvSpPr/>
          <p:nvPr/>
        </p:nvSpPr>
        <p:spPr>
          <a:xfrm>
            <a:off x="13021160" y="2598732"/>
            <a:ext cx="3293206" cy="3252041"/>
          </a:xfrm>
          <a:custGeom>
            <a:avLst/>
            <a:gdLst/>
            <a:ahLst/>
            <a:cxnLst/>
            <a:rect l="l" t="t" r="r" b="b"/>
            <a:pathLst>
              <a:path w="3293206" h="3252041">
                <a:moveTo>
                  <a:pt x="0" y="0"/>
                </a:moveTo>
                <a:lnTo>
                  <a:pt x="3293206" y="0"/>
                </a:lnTo>
                <a:lnTo>
                  <a:pt x="3293206" y="3252041"/>
                </a:lnTo>
                <a:lnTo>
                  <a:pt x="0" y="3252041"/>
                </a:lnTo>
                <a:lnTo>
                  <a:pt x="0" y="0"/>
                </a:lnTo>
                <a:close/>
              </a:path>
            </a:pathLst>
          </a:custGeom>
          <a:blipFill>
            <a:blip r:embed="rId5"/>
            <a:stretch>
              <a:fillRect/>
            </a:stretch>
          </a:blipFill>
        </p:spPr>
      </p:sp>
      <p:sp>
        <p:nvSpPr>
          <p:cNvPr id="35" name="Freeform 35"/>
          <p:cNvSpPr/>
          <p:nvPr/>
        </p:nvSpPr>
        <p:spPr>
          <a:xfrm>
            <a:off x="7110761" y="2707504"/>
            <a:ext cx="4161925" cy="2772883"/>
          </a:xfrm>
          <a:custGeom>
            <a:avLst/>
            <a:gdLst/>
            <a:ahLst/>
            <a:cxnLst/>
            <a:rect l="l" t="t" r="r" b="b"/>
            <a:pathLst>
              <a:path w="4161925" h="2772883">
                <a:moveTo>
                  <a:pt x="0" y="0"/>
                </a:moveTo>
                <a:lnTo>
                  <a:pt x="4161925" y="0"/>
                </a:lnTo>
                <a:lnTo>
                  <a:pt x="4161925" y="2772882"/>
                </a:lnTo>
                <a:lnTo>
                  <a:pt x="0" y="2772882"/>
                </a:lnTo>
                <a:lnTo>
                  <a:pt x="0" y="0"/>
                </a:lnTo>
                <a:close/>
              </a:path>
            </a:pathLst>
          </a:custGeom>
          <a:blipFill>
            <a:blip r:embed="rId6"/>
            <a:stretch>
              <a:fillRect/>
            </a:stretch>
          </a:blipFill>
        </p:spPr>
      </p:sp>
      <p:sp>
        <p:nvSpPr>
          <p:cNvPr id="36" name="TextBox 36"/>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37" name="TextBox 37"/>
          <p:cNvSpPr txBox="1"/>
          <p:nvPr/>
        </p:nvSpPr>
        <p:spPr>
          <a:xfrm>
            <a:off x="5337971" y="774825"/>
            <a:ext cx="1755559"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HOME</a:t>
            </a:r>
          </a:p>
        </p:txBody>
      </p:sp>
      <p:sp>
        <p:nvSpPr>
          <p:cNvPr id="38" name="TextBox 38"/>
          <p:cNvSpPr txBox="1"/>
          <p:nvPr/>
        </p:nvSpPr>
        <p:spPr>
          <a:xfrm>
            <a:off x="7463217" y="774825"/>
            <a:ext cx="2013772"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ABOUT</a:t>
            </a:r>
          </a:p>
        </p:txBody>
      </p:sp>
      <p:sp>
        <p:nvSpPr>
          <p:cNvPr id="39" name="TextBox 39"/>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CONTENT</a:t>
            </a:r>
          </a:p>
        </p:txBody>
      </p:sp>
      <p:sp>
        <p:nvSpPr>
          <p:cNvPr id="40" name="TextBox 40"/>
          <p:cNvSpPr txBox="1"/>
          <p:nvPr/>
        </p:nvSpPr>
        <p:spPr>
          <a:xfrm>
            <a:off x="12101593" y="774825"/>
            <a:ext cx="2349448"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OTHERS</a:t>
            </a:r>
          </a:p>
        </p:txBody>
      </p:sp>
      <p:sp>
        <p:nvSpPr>
          <p:cNvPr id="41" name="TextBox 41"/>
          <p:cNvSpPr txBox="1"/>
          <p:nvPr/>
        </p:nvSpPr>
        <p:spPr>
          <a:xfrm>
            <a:off x="1220865" y="6639338"/>
            <a:ext cx="8361017" cy="826508"/>
          </a:xfrm>
          <a:prstGeom prst="rect">
            <a:avLst/>
          </a:prstGeom>
        </p:spPr>
        <p:txBody>
          <a:bodyPr lIns="0" tIns="0" rIns="0" bIns="0" rtlCol="0" anchor="t">
            <a:spAutoFit/>
          </a:bodyPr>
          <a:lstStyle/>
          <a:p>
            <a:pPr marL="0" lvl="0" indent="0">
              <a:lnSpc>
                <a:spcPts val="6356"/>
              </a:lnSpc>
            </a:pPr>
            <a:r>
              <a:rPr lang="en-US" sz="6231" b="1" dirty="0">
                <a:solidFill>
                  <a:srgbClr val="283396"/>
                </a:solidFill>
                <a:latin typeface="+mj-lt"/>
                <a:ea typeface="Agrandir Grand Bold"/>
                <a:cs typeface="Agrandir Grand Bold"/>
                <a:sym typeface="Agrandir Grand Bold"/>
              </a:rPr>
              <a:t>Why is Python Popular?</a:t>
            </a:r>
          </a:p>
        </p:txBody>
      </p:sp>
      <p:sp>
        <p:nvSpPr>
          <p:cNvPr id="42" name="TextBox 42"/>
          <p:cNvSpPr txBox="1"/>
          <p:nvPr/>
        </p:nvSpPr>
        <p:spPr>
          <a:xfrm>
            <a:off x="9677400" y="6312559"/>
            <a:ext cx="7333982" cy="2154436"/>
          </a:xfrm>
          <a:prstGeom prst="rect">
            <a:avLst/>
          </a:prstGeom>
        </p:spPr>
        <p:txBody>
          <a:bodyPr wrap="square" lIns="0" tIns="0" rIns="0" bIns="0" rtlCol="0" anchor="t">
            <a:spAutoFit/>
          </a:bodyPr>
          <a:lstStyle/>
          <a:p>
            <a:pPr marL="0" lvl="0" indent="0" algn="just"/>
            <a:r>
              <a:rPr lang="en-US" sz="2800" b="1" dirty="0">
                <a:solidFill>
                  <a:srgbClr val="283396"/>
                </a:solidFill>
                <a:latin typeface="+mj-lt"/>
                <a:ea typeface="Montaser Arabic Light"/>
                <a:cs typeface="Montaser Arabic Light"/>
                <a:sym typeface="Montaser Arabic Light"/>
              </a:rPr>
              <a:t>Python's popularity stems from its simple, readable syntax that beginners love. Its vast standard library and active community provide endless resources. Plus, it's versatile across web, AI, data science, and more.</a:t>
            </a:r>
          </a:p>
        </p:txBody>
      </p:sp>
      <p:grpSp>
        <p:nvGrpSpPr>
          <p:cNvPr id="43" name="Group 43"/>
          <p:cNvGrpSpPr/>
          <p:nvPr/>
        </p:nvGrpSpPr>
        <p:grpSpPr>
          <a:xfrm>
            <a:off x="16406430" y="2860743"/>
            <a:ext cx="1210061" cy="1210061"/>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5" name="TextBox 4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6" name="Group 46"/>
          <p:cNvGrpSpPr/>
          <p:nvPr/>
        </p:nvGrpSpPr>
        <p:grpSpPr>
          <a:xfrm>
            <a:off x="16668870" y="3142216"/>
            <a:ext cx="685181" cy="647115"/>
            <a:chOff x="0" y="0"/>
            <a:chExt cx="685800" cy="647700"/>
          </a:xfrm>
        </p:grpSpPr>
        <p:sp>
          <p:nvSpPr>
            <p:cNvPr id="47" name="Freeform 47"/>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8" name="TextBox 48"/>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9" name="Group 49"/>
          <p:cNvGrpSpPr/>
          <p:nvPr/>
        </p:nvGrpSpPr>
        <p:grpSpPr>
          <a:xfrm>
            <a:off x="745026" y="2537186"/>
            <a:ext cx="1210061" cy="1210061"/>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51" name="TextBox 5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2" name="Group 52"/>
          <p:cNvGrpSpPr/>
          <p:nvPr/>
        </p:nvGrpSpPr>
        <p:grpSpPr>
          <a:xfrm>
            <a:off x="1007466" y="2818659"/>
            <a:ext cx="685181" cy="647115"/>
            <a:chOff x="0" y="0"/>
            <a:chExt cx="685800" cy="647700"/>
          </a:xfrm>
        </p:grpSpPr>
        <p:sp>
          <p:nvSpPr>
            <p:cNvPr id="53" name="Freeform 53"/>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54" name="TextBox 54"/>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42582" y="127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063180" y="6734584"/>
            <a:ext cx="15897608" cy="2523715"/>
            <a:chOff x="0" y="0"/>
            <a:chExt cx="4274726" cy="1135764"/>
          </a:xfrm>
        </p:grpSpPr>
        <p:sp>
          <p:nvSpPr>
            <p:cNvPr id="5" name="Freeform 5"/>
            <p:cNvSpPr/>
            <p:nvPr/>
          </p:nvSpPr>
          <p:spPr>
            <a:xfrm>
              <a:off x="0" y="0"/>
              <a:ext cx="4274726" cy="1135764"/>
            </a:xfrm>
            <a:custGeom>
              <a:avLst/>
              <a:gdLst/>
              <a:ahLst/>
              <a:cxnLst/>
              <a:rect l="l" t="t" r="r" b="b"/>
              <a:pathLst>
                <a:path w="4274726" h="1135764">
                  <a:moveTo>
                    <a:pt x="24327" y="0"/>
                  </a:moveTo>
                  <a:lnTo>
                    <a:pt x="4250399" y="0"/>
                  </a:lnTo>
                  <a:cubicBezTo>
                    <a:pt x="4263834" y="0"/>
                    <a:pt x="4274726" y="10891"/>
                    <a:pt x="4274726" y="24327"/>
                  </a:cubicBezTo>
                  <a:lnTo>
                    <a:pt x="4274726" y="1111437"/>
                  </a:lnTo>
                  <a:cubicBezTo>
                    <a:pt x="4274726" y="1117889"/>
                    <a:pt x="4272163" y="1124077"/>
                    <a:pt x="4267601" y="1128639"/>
                  </a:cubicBezTo>
                  <a:cubicBezTo>
                    <a:pt x="4263039" y="1133201"/>
                    <a:pt x="4256851" y="1135764"/>
                    <a:pt x="4250399" y="1135764"/>
                  </a:cubicBezTo>
                  <a:lnTo>
                    <a:pt x="24327" y="1135764"/>
                  </a:lnTo>
                  <a:cubicBezTo>
                    <a:pt x="10891" y="1135764"/>
                    <a:pt x="0" y="1124872"/>
                    <a:pt x="0" y="1111437"/>
                  </a:cubicBezTo>
                  <a:lnTo>
                    <a:pt x="0" y="24327"/>
                  </a:lnTo>
                  <a:cubicBezTo>
                    <a:pt x="0" y="10891"/>
                    <a:pt x="10891" y="0"/>
                    <a:pt x="24327" y="0"/>
                  </a:cubicBezTo>
                  <a:close/>
                </a:path>
              </a:pathLst>
            </a:custGeom>
            <a:ln w="19050" cap="rnd">
              <a:solidFill>
                <a:srgbClr val="283396"/>
              </a:solidFill>
              <a:prstDash val="solid"/>
              <a:round/>
            </a:ln>
          </p:spPr>
        </p:sp>
        <p:sp>
          <p:nvSpPr>
            <p:cNvPr id="6" name="TextBox 6"/>
            <p:cNvSpPr txBox="1"/>
            <p:nvPr/>
          </p:nvSpPr>
          <p:spPr>
            <a:xfrm>
              <a:off x="0" y="-38100"/>
              <a:ext cx="4274726" cy="1173864"/>
            </a:xfrm>
            <a:prstGeom prst="rect">
              <a:avLst/>
            </a:prstGeom>
          </p:spPr>
          <p:txBody>
            <a:bodyPr lIns="50800" tIns="50800" rIns="50800" bIns="50800" rtlCol="0" anchor="ctr"/>
            <a:lstStyle/>
            <a:p>
              <a:pPr marL="0" lvl="0" indent="0" algn="ctr">
                <a:lnSpc>
                  <a:spcPts val="2659"/>
                </a:lnSpc>
              </a:pPr>
              <a:endParaRPr/>
            </a:p>
          </p:txBody>
        </p:sp>
      </p:grpSp>
      <p:sp>
        <p:nvSpPr>
          <p:cNvPr id="7" name="AutoShape 7"/>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8" name="Freeform 8"/>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9" name="Group 9"/>
          <p:cNvGrpSpPr/>
          <p:nvPr/>
        </p:nvGrpSpPr>
        <p:grpSpPr>
          <a:xfrm>
            <a:off x="1085850" y="665030"/>
            <a:ext cx="92277" cy="524320"/>
            <a:chOff x="0" y="0"/>
            <a:chExt cx="24303" cy="138092"/>
          </a:xfrm>
        </p:grpSpPr>
        <p:sp>
          <p:nvSpPr>
            <p:cNvPr id="10" name="Freeform 10"/>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11" name="TextBox 11"/>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5675612" y="1359977"/>
            <a:ext cx="1080278" cy="106932"/>
            <a:chOff x="0" y="0"/>
            <a:chExt cx="284518" cy="28163"/>
          </a:xfrm>
        </p:grpSpPr>
        <p:sp>
          <p:nvSpPr>
            <p:cNvPr id="13" name="Freeform 13"/>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4" name="TextBox 14"/>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8005151"/>
            <a:ext cx="16230600" cy="1253149"/>
            <a:chOff x="0" y="0"/>
            <a:chExt cx="4274726" cy="330048"/>
          </a:xfrm>
        </p:grpSpPr>
        <p:sp>
          <p:nvSpPr>
            <p:cNvPr id="16" name="Freeform 16"/>
            <p:cNvSpPr/>
            <p:nvPr/>
          </p:nvSpPr>
          <p:spPr>
            <a:xfrm>
              <a:off x="0" y="0"/>
              <a:ext cx="4274726" cy="330048"/>
            </a:xfrm>
            <a:custGeom>
              <a:avLst/>
              <a:gdLst/>
              <a:ahLst/>
              <a:cxnLst/>
              <a:rect l="l" t="t" r="r" b="b"/>
              <a:pathLst>
                <a:path w="4274726" h="330048">
                  <a:moveTo>
                    <a:pt x="24327" y="0"/>
                  </a:moveTo>
                  <a:lnTo>
                    <a:pt x="4250399" y="0"/>
                  </a:lnTo>
                  <a:cubicBezTo>
                    <a:pt x="4263834" y="0"/>
                    <a:pt x="4274726" y="10891"/>
                    <a:pt x="4274726" y="24327"/>
                  </a:cubicBezTo>
                  <a:lnTo>
                    <a:pt x="4274726" y="305721"/>
                  </a:lnTo>
                  <a:cubicBezTo>
                    <a:pt x="4274726" y="312173"/>
                    <a:pt x="4272163" y="318360"/>
                    <a:pt x="4267601" y="322922"/>
                  </a:cubicBezTo>
                  <a:cubicBezTo>
                    <a:pt x="4263039" y="327485"/>
                    <a:pt x="4256851" y="330048"/>
                    <a:pt x="4250399" y="330048"/>
                  </a:cubicBezTo>
                  <a:lnTo>
                    <a:pt x="24327" y="330048"/>
                  </a:lnTo>
                  <a:cubicBezTo>
                    <a:pt x="10891" y="330048"/>
                    <a:pt x="0" y="319156"/>
                    <a:pt x="0" y="305721"/>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4274726" cy="368148"/>
            </a:xfrm>
            <a:prstGeom prst="rect">
              <a:avLst/>
            </a:prstGeom>
          </p:spPr>
          <p:txBody>
            <a:bodyPr lIns="50800" tIns="50800" rIns="50800" bIns="50800" rtlCol="0" anchor="ctr"/>
            <a:lstStyle/>
            <a:p>
              <a:pPr marL="0" lvl="0" indent="0" algn="ctr">
                <a:lnSpc>
                  <a:spcPts val="2659"/>
                </a:lnSpc>
              </a:pPr>
              <a:endParaRPr/>
            </a:p>
          </p:txBody>
        </p:sp>
      </p:grpSp>
      <p:sp>
        <p:nvSpPr>
          <p:cNvPr id="18" name="Freeform 18"/>
          <p:cNvSpPr/>
          <p:nvPr/>
        </p:nvSpPr>
        <p:spPr>
          <a:xfrm>
            <a:off x="2154699" y="6734583"/>
            <a:ext cx="3206296" cy="2133568"/>
          </a:xfrm>
          <a:custGeom>
            <a:avLst/>
            <a:gdLst/>
            <a:ahLst/>
            <a:cxnLst/>
            <a:rect l="l" t="t" r="r" b="b"/>
            <a:pathLst>
              <a:path w="3206296" h="3685397">
                <a:moveTo>
                  <a:pt x="0" y="0"/>
                </a:moveTo>
                <a:lnTo>
                  <a:pt x="3206296" y="0"/>
                </a:lnTo>
                <a:lnTo>
                  <a:pt x="3206296" y="3685398"/>
                </a:lnTo>
                <a:lnTo>
                  <a:pt x="0" y="3685398"/>
                </a:lnTo>
                <a:lnTo>
                  <a:pt x="0" y="0"/>
                </a:lnTo>
                <a:close/>
              </a:path>
            </a:pathLst>
          </a:custGeom>
          <a:blipFill>
            <a:blip r:embed="rId4"/>
            <a:stretch>
              <a:fillRect/>
            </a:stretch>
          </a:blipFill>
        </p:spPr>
      </p:sp>
      <p:sp>
        <p:nvSpPr>
          <p:cNvPr id="19" name="Freeform 19"/>
          <p:cNvSpPr/>
          <p:nvPr/>
        </p:nvSpPr>
        <p:spPr>
          <a:xfrm>
            <a:off x="12693353" y="6770970"/>
            <a:ext cx="3439948" cy="2273476"/>
          </a:xfrm>
          <a:custGeom>
            <a:avLst/>
            <a:gdLst/>
            <a:ahLst/>
            <a:cxnLst/>
            <a:rect l="l" t="t" r="r" b="b"/>
            <a:pathLst>
              <a:path w="3439948" h="2829357">
                <a:moveTo>
                  <a:pt x="0" y="0"/>
                </a:moveTo>
                <a:lnTo>
                  <a:pt x="3439947" y="0"/>
                </a:lnTo>
                <a:lnTo>
                  <a:pt x="3439947" y="2829358"/>
                </a:lnTo>
                <a:lnTo>
                  <a:pt x="0" y="2829358"/>
                </a:lnTo>
                <a:lnTo>
                  <a:pt x="0" y="0"/>
                </a:lnTo>
                <a:close/>
              </a:path>
            </a:pathLst>
          </a:custGeom>
          <a:blipFill>
            <a:blip r:embed="rId5"/>
            <a:stretch>
              <a:fillRect/>
            </a:stretch>
          </a:blipFill>
        </p:spPr>
      </p:sp>
      <p:sp>
        <p:nvSpPr>
          <p:cNvPr id="20" name="Freeform 20"/>
          <p:cNvSpPr/>
          <p:nvPr/>
        </p:nvSpPr>
        <p:spPr>
          <a:xfrm>
            <a:off x="7287284" y="6734583"/>
            <a:ext cx="3084560" cy="2273476"/>
          </a:xfrm>
          <a:custGeom>
            <a:avLst/>
            <a:gdLst/>
            <a:ahLst/>
            <a:cxnLst/>
            <a:rect l="l" t="t" r="r" b="b"/>
            <a:pathLst>
              <a:path w="3084560" h="3784737">
                <a:moveTo>
                  <a:pt x="0" y="0"/>
                </a:moveTo>
                <a:lnTo>
                  <a:pt x="3084561" y="0"/>
                </a:lnTo>
                <a:lnTo>
                  <a:pt x="3084561" y="3784736"/>
                </a:lnTo>
                <a:lnTo>
                  <a:pt x="0" y="3784736"/>
                </a:lnTo>
                <a:lnTo>
                  <a:pt x="0" y="0"/>
                </a:lnTo>
                <a:close/>
              </a:path>
            </a:pathLst>
          </a:custGeom>
          <a:blipFill>
            <a:blip r:embed="rId6"/>
            <a:stretch>
              <a:fillRect/>
            </a:stretch>
          </a:blipFill>
        </p:spPr>
      </p:sp>
      <p:sp>
        <p:nvSpPr>
          <p:cNvPr id="27" name="TextBox 27"/>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APPLICATIONS</a:t>
            </a:r>
          </a:p>
        </p:txBody>
      </p:sp>
      <p:sp>
        <p:nvSpPr>
          <p:cNvPr id="28" name="TextBox 28"/>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HOME</a:t>
            </a:r>
          </a:p>
        </p:txBody>
      </p:sp>
      <p:sp>
        <p:nvSpPr>
          <p:cNvPr id="29" name="TextBox 29"/>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0" name="TextBox 30"/>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CONTENT</a:t>
            </a:r>
          </a:p>
        </p:txBody>
      </p:sp>
      <p:sp>
        <p:nvSpPr>
          <p:cNvPr id="31" name="TextBox 31"/>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2" name="TextBox 32"/>
          <p:cNvSpPr txBox="1"/>
          <p:nvPr/>
        </p:nvSpPr>
        <p:spPr>
          <a:xfrm>
            <a:off x="998169" y="1434933"/>
            <a:ext cx="9987441" cy="793359"/>
          </a:xfrm>
          <a:prstGeom prst="rect">
            <a:avLst/>
          </a:prstGeom>
        </p:spPr>
        <p:txBody>
          <a:bodyPr wrap="square" lIns="0" tIns="0" rIns="0" bIns="0" rtlCol="0" anchor="t">
            <a:spAutoFit/>
          </a:bodyPr>
          <a:lstStyle/>
          <a:p>
            <a:pPr marL="0" lvl="0" indent="0">
              <a:lnSpc>
                <a:spcPts val="6654"/>
              </a:lnSpc>
            </a:pPr>
            <a:r>
              <a:rPr lang="en-US" sz="4400" b="1" dirty="0">
                <a:solidFill>
                  <a:srgbClr val="283396"/>
                </a:solidFill>
                <a:latin typeface="+mj-lt"/>
                <a:ea typeface="Agrandir Grand Bold"/>
                <a:cs typeface="Agrandir Grand Bold"/>
                <a:sym typeface="Agrandir Grand Bold"/>
              </a:rPr>
              <a:t>Popular Applications Of Python</a:t>
            </a:r>
          </a:p>
        </p:txBody>
      </p:sp>
      <p:sp>
        <p:nvSpPr>
          <p:cNvPr id="40" name="TextBox 39">
            <a:extLst>
              <a:ext uri="{FF2B5EF4-FFF2-40B4-BE49-F238E27FC236}">
                <a16:creationId xmlns:a16="http://schemas.microsoft.com/office/drawing/2014/main" id="{F3D4F0AE-C198-A55A-13FA-74FD2C322F5D}"/>
              </a:ext>
            </a:extLst>
          </p:cNvPr>
          <p:cNvSpPr txBox="1"/>
          <p:nvPr/>
        </p:nvSpPr>
        <p:spPr>
          <a:xfrm>
            <a:off x="815519" y="2539351"/>
            <a:ext cx="7327527" cy="2985433"/>
          </a:xfrm>
          <a:prstGeom prst="rect">
            <a:avLst/>
          </a:prstGeom>
          <a:noFill/>
        </p:spPr>
        <p:txBody>
          <a:bodyPr wrap="square">
            <a:spAutoFit/>
          </a:bodyPr>
          <a:lstStyle/>
          <a:p>
            <a:r>
              <a:rPr lang="en-US" sz="3200" b="1" dirty="0">
                <a:solidFill>
                  <a:srgbClr val="283396"/>
                </a:solidFill>
                <a:latin typeface="+mj-lt"/>
              </a:rPr>
              <a:t> 1. Data Science and Analytics</a:t>
            </a:r>
          </a:p>
          <a:p>
            <a:pPr>
              <a:buNone/>
            </a:pPr>
            <a:r>
              <a:rPr lang="en-US" sz="2400" b="1" dirty="0">
                <a:solidFill>
                  <a:srgbClr val="283396"/>
                </a:solidFill>
              </a:rPr>
              <a:t>Python is the undisputed king of data science. Its clear syntax allows data analysts and scientists to clean, manipulate, and analyze massive datasets without getting bogged down by complex code.</a:t>
            </a:r>
          </a:p>
          <a:p>
            <a:pPr>
              <a:buFont typeface="Arial" panose="020B0604020202020204" pitchFamily="34" charset="0"/>
              <a:buChar char="•"/>
            </a:pPr>
            <a:r>
              <a:rPr lang="en-US" sz="3200" b="1" dirty="0">
                <a:solidFill>
                  <a:srgbClr val="283396"/>
                </a:solidFill>
                <a:latin typeface="+mj-lt"/>
              </a:rPr>
              <a:t>Key Libraries: </a:t>
            </a:r>
            <a:r>
              <a:rPr lang="en-US" sz="2400" b="1" dirty="0">
                <a:solidFill>
                  <a:srgbClr val="283396"/>
                </a:solidFill>
              </a:rPr>
              <a:t>Pandas (for data manipulation), NumPy (for numerical computing).</a:t>
            </a:r>
          </a:p>
        </p:txBody>
      </p:sp>
      <p:sp>
        <p:nvSpPr>
          <p:cNvPr id="42" name="TextBox 41">
            <a:extLst>
              <a:ext uri="{FF2B5EF4-FFF2-40B4-BE49-F238E27FC236}">
                <a16:creationId xmlns:a16="http://schemas.microsoft.com/office/drawing/2014/main" id="{8107E8A9-9BBE-A049-2232-07ABD48CDD4A}"/>
              </a:ext>
            </a:extLst>
          </p:cNvPr>
          <p:cNvSpPr txBox="1"/>
          <p:nvPr/>
        </p:nvSpPr>
        <p:spPr>
          <a:xfrm>
            <a:off x="8610600" y="2552051"/>
            <a:ext cx="9071767" cy="2308324"/>
          </a:xfrm>
          <a:prstGeom prst="rect">
            <a:avLst/>
          </a:prstGeom>
          <a:noFill/>
        </p:spPr>
        <p:txBody>
          <a:bodyPr wrap="square">
            <a:spAutoFit/>
          </a:bodyPr>
          <a:lstStyle/>
          <a:p>
            <a:pPr>
              <a:buNone/>
            </a:pPr>
            <a:r>
              <a:rPr lang="en-US" sz="3600" b="1" dirty="0">
                <a:solidFill>
                  <a:srgbClr val="283396"/>
                </a:solidFill>
                <a:latin typeface="+mj-lt"/>
              </a:rPr>
              <a:t>2. </a:t>
            </a:r>
            <a:r>
              <a:rPr lang="en-US" sz="3200" b="1" dirty="0">
                <a:solidFill>
                  <a:srgbClr val="283396"/>
                </a:solidFill>
                <a:latin typeface="+mj-lt"/>
              </a:rPr>
              <a:t>Machine Learning and Artificial Intelligence (AI)</a:t>
            </a:r>
          </a:p>
          <a:p>
            <a:pPr>
              <a:buNone/>
            </a:pPr>
            <a:r>
              <a:rPr lang="en-US" sz="2400" b="1" dirty="0">
                <a:solidFill>
                  <a:srgbClr val="283396"/>
                </a:solidFill>
              </a:rPr>
              <a:t>Because of its flexibility and robust community support, Python is the primary language used to build AI systems, predictive models, and deep learning algorithms.</a:t>
            </a:r>
          </a:p>
          <a:p>
            <a:pPr>
              <a:buFont typeface="Arial" panose="020B0604020202020204" pitchFamily="34" charset="0"/>
              <a:buChar char="•"/>
            </a:pPr>
            <a:r>
              <a:rPr lang="en-US" sz="3200" b="1" dirty="0">
                <a:solidFill>
                  <a:srgbClr val="283396"/>
                </a:solidFill>
                <a:latin typeface="+mj-lt"/>
              </a:rPr>
              <a:t>Key Libraries: </a:t>
            </a:r>
            <a:r>
              <a:rPr lang="en-US" sz="2400" b="1" dirty="0">
                <a:solidFill>
                  <a:srgbClr val="283396"/>
                </a:solidFill>
              </a:rPr>
              <a:t>Scikit-Learn, TensorFlow, </a:t>
            </a:r>
            <a:r>
              <a:rPr lang="en-US" sz="2400" b="1" dirty="0" err="1">
                <a:solidFill>
                  <a:srgbClr val="283396"/>
                </a:solidFill>
              </a:rPr>
              <a:t>PyTorch</a:t>
            </a:r>
            <a:r>
              <a:rPr lang="en-US" sz="2400" b="1" dirty="0">
                <a:solidFill>
                  <a:srgbClr val="283396"/>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C89C-F560-2B07-65A0-C8E6C2FA20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23236F-BDB2-7FD2-EDF6-356B77DE95F4}"/>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AFFBB62B-1712-9867-2657-11618C8A9B65}"/>
              </a:ext>
            </a:extLst>
          </p:cNvPr>
          <p:cNvSpPr/>
          <p:nvPr/>
        </p:nvSpPr>
        <p:spPr>
          <a:xfrm>
            <a:off x="-389266" y="381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4" name="Group 4">
            <a:extLst>
              <a:ext uri="{FF2B5EF4-FFF2-40B4-BE49-F238E27FC236}">
                <a16:creationId xmlns:a16="http://schemas.microsoft.com/office/drawing/2014/main" id="{C2D9971F-A3BC-2851-73E6-B9766D43E149}"/>
              </a:ext>
            </a:extLst>
          </p:cNvPr>
          <p:cNvGrpSpPr/>
          <p:nvPr/>
        </p:nvGrpSpPr>
        <p:grpSpPr>
          <a:xfrm>
            <a:off x="1063180" y="6734584"/>
            <a:ext cx="15897608" cy="2523715"/>
            <a:chOff x="0" y="0"/>
            <a:chExt cx="4274726" cy="1135764"/>
          </a:xfrm>
        </p:grpSpPr>
        <p:sp>
          <p:nvSpPr>
            <p:cNvPr id="5" name="Freeform 5">
              <a:extLst>
                <a:ext uri="{FF2B5EF4-FFF2-40B4-BE49-F238E27FC236}">
                  <a16:creationId xmlns:a16="http://schemas.microsoft.com/office/drawing/2014/main" id="{86016F8D-6B96-71F0-F7ED-341895A25DC4}"/>
                </a:ext>
              </a:extLst>
            </p:cNvPr>
            <p:cNvSpPr/>
            <p:nvPr/>
          </p:nvSpPr>
          <p:spPr>
            <a:xfrm>
              <a:off x="0" y="0"/>
              <a:ext cx="4274726" cy="1135764"/>
            </a:xfrm>
            <a:custGeom>
              <a:avLst/>
              <a:gdLst/>
              <a:ahLst/>
              <a:cxnLst/>
              <a:rect l="l" t="t" r="r" b="b"/>
              <a:pathLst>
                <a:path w="4274726" h="1135764">
                  <a:moveTo>
                    <a:pt x="24327" y="0"/>
                  </a:moveTo>
                  <a:lnTo>
                    <a:pt x="4250399" y="0"/>
                  </a:lnTo>
                  <a:cubicBezTo>
                    <a:pt x="4263834" y="0"/>
                    <a:pt x="4274726" y="10891"/>
                    <a:pt x="4274726" y="24327"/>
                  </a:cubicBezTo>
                  <a:lnTo>
                    <a:pt x="4274726" y="1111437"/>
                  </a:lnTo>
                  <a:cubicBezTo>
                    <a:pt x="4274726" y="1117889"/>
                    <a:pt x="4272163" y="1124077"/>
                    <a:pt x="4267601" y="1128639"/>
                  </a:cubicBezTo>
                  <a:cubicBezTo>
                    <a:pt x="4263039" y="1133201"/>
                    <a:pt x="4256851" y="1135764"/>
                    <a:pt x="4250399" y="1135764"/>
                  </a:cubicBezTo>
                  <a:lnTo>
                    <a:pt x="24327" y="1135764"/>
                  </a:lnTo>
                  <a:cubicBezTo>
                    <a:pt x="10891" y="1135764"/>
                    <a:pt x="0" y="1124872"/>
                    <a:pt x="0" y="1111437"/>
                  </a:cubicBezTo>
                  <a:lnTo>
                    <a:pt x="0" y="24327"/>
                  </a:lnTo>
                  <a:cubicBezTo>
                    <a:pt x="0" y="10891"/>
                    <a:pt x="10891" y="0"/>
                    <a:pt x="24327" y="0"/>
                  </a:cubicBezTo>
                  <a:close/>
                </a:path>
              </a:pathLst>
            </a:custGeom>
            <a:ln w="19050" cap="rnd">
              <a:solidFill>
                <a:srgbClr val="283396"/>
              </a:solidFill>
              <a:prstDash val="solid"/>
              <a:round/>
            </a:ln>
          </p:spPr>
        </p:sp>
        <p:sp>
          <p:nvSpPr>
            <p:cNvPr id="6" name="TextBox 6">
              <a:extLst>
                <a:ext uri="{FF2B5EF4-FFF2-40B4-BE49-F238E27FC236}">
                  <a16:creationId xmlns:a16="http://schemas.microsoft.com/office/drawing/2014/main" id="{DD74F5A0-AB1C-B086-2076-4842DB24CF3C}"/>
                </a:ext>
              </a:extLst>
            </p:cNvPr>
            <p:cNvSpPr txBox="1"/>
            <p:nvPr/>
          </p:nvSpPr>
          <p:spPr>
            <a:xfrm>
              <a:off x="0" y="-38100"/>
              <a:ext cx="4274726" cy="1173864"/>
            </a:xfrm>
            <a:prstGeom prst="rect">
              <a:avLst/>
            </a:prstGeom>
          </p:spPr>
          <p:txBody>
            <a:bodyPr lIns="50800" tIns="50800" rIns="50800" bIns="50800" rtlCol="0" anchor="ctr"/>
            <a:lstStyle/>
            <a:p>
              <a:pPr marL="0" lvl="0" indent="0" algn="ctr">
                <a:lnSpc>
                  <a:spcPts val="2659"/>
                </a:lnSpc>
              </a:pPr>
              <a:endParaRPr/>
            </a:p>
          </p:txBody>
        </p:sp>
      </p:grpSp>
      <p:sp>
        <p:nvSpPr>
          <p:cNvPr id="7" name="AutoShape 7">
            <a:extLst>
              <a:ext uri="{FF2B5EF4-FFF2-40B4-BE49-F238E27FC236}">
                <a16:creationId xmlns:a16="http://schemas.microsoft.com/office/drawing/2014/main" id="{127DF451-0587-3777-8C70-15482AC21871}"/>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8" name="Freeform 8">
            <a:extLst>
              <a:ext uri="{FF2B5EF4-FFF2-40B4-BE49-F238E27FC236}">
                <a16:creationId xmlns:a16="http://schemas.microsoft.com/office/drawing/2014/main" id="{D1F84649-63F7-FF8D-90BA-D37ED2198E4F}"/>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9" name="Group 9">
            <a:extLst>
              <a:ext uri="{FF2B5EF4-FFF2-40B4-BE49-F238E27FC236}">
                <a16:creationId xmlns:a16="http://schemas.microsoft.com/office/drawing/2014/main" id="{A7D6E2AA-1D14-C4F9-0DC2-46A17A5912C1}"/>
              </a:ext>
            </a:extLst>
          </p:cNvPr>
          <p:cNvGrpSpPr/>
          <p:nvPr/>
        </p:nvGrpSpPr>
        <p:grpSpPr>
          <a:xfrm>
            <a:off x="1085850" y="665030"/>
            <a:ext cx="92277" cy="524320"/>
            <a:chOff x="0" y="0"/>
            <a:chExt cx="24303" cy="138092"/>
          </a:xfrm>
        </p:grpSpPr>
        <p:sp>
          <p:nvSpPr>
            <p:cNvPr id="10" name="Freeform 10">
              <a:extLst>
                <a:ext uri="{FF2B5EF4-FFF2-40B4-BE49-F238E27FC236}">
                  <a16:creationId xmlns:a16="http://schemas.microsoft.com/office/drawing/2014/main" id="{E537FE25-CA4E-F80A-BC68-4F8E1ECEF927}"/>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11" name="TextBox 11">
              <a:extLst>
                <a:ext uri="{FF2B5EF4-FFF2-40B4-BE49-F238E27FC236}">
                  <a16:creationId xmlns:a16="http://schemas.microsoft.com/office/drawing/2014/main" id="{29EDE7EA-CC4D-E4D6-6512-1FE726CABDB6}"/>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16ED6068-3BED-9327-163E-8B05DAD80789}"/>
              </a:ext>
            </a:extLst>
          </p:cNvPr>
          <p:cNvGrpSpPr/>
          <p:nvPr/>
        </p:nvGrpSpPr>
        <p:grpSpPr>
          <a:xfrm>
            <a:off x="5675612" y="1359977"/>
            <a:ext cx="1080278" cy="106932"/>
            <a:chOff x="0" y="0"/>
            <a:chExt cx="284518" cy="28163"/>
          </a:xfrm>
        </p:grpSpPr>
        <p:sp>
          <p:nvSpPr>
            <p:cNvPr id="13" name="Freeform 13">
              <a:extLst>
                <a:ext uri="{FF2B5EF4-FFF2-40B4-BE49-F238E27FC236}">
                  <a16:creationId xmlns:a16="http://schemas.microsoft.com/office/drawing/2014/main" id="{F56A1FAB-BA59-5967-1731-40C3EBDB4870}"/>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4" name="TextBox 14">
              <a:extLst>
                <a:ext uri="{FF2B5EF4-FFF2-40B4-BE49-F238E27FC236}">
                  <a16:creationId xmlns:a16="http://schemas.microsoft.com/office/drawing/2014/main" id="{D543C5B6-344E-8E01-87DB-6ADEF059532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03E87D62-6989-3FC6-C812-CF8C578059F9}"/>
              </a:ext>
            </a:extLst>
          </p:cNvPr>
          <p:cNvGrpSpPr/>
          <p:nvPr/>
        </p:nvGrpSpPr>
        <p:grpSpPr>
          <a:xfrm>
            <a:off x="1028700" y="8005151"/>
            <a:ext cx="16230600" cy="1253149"/>
            <a:chOff x="0" y="0"/>
            <a:chExt cx="4274726" cy="330048"/>
          </a:xfrm>
        </p:grpSpPr>
        <p:sp>
          <p:nvSpPr>
            <p:cNvPr id="16" name="Freeform 16">
              <a:extLst>
                <a:ext uri="{FF2B5EF4-FFF2-40B4-BE49-F238E27FC236}">
                  <a16:creationId xmlns:a16="http://schemas.microsoft.com/office/drawing/2014/main" id="{4EE66E2F-2A1A-2705-F516-9C094488A3CC}"/>
                </a:ext>
              </a:extLst>
            </p:cNvPr>
            <p:cNvSpPr/>
            <p:nvPr/>
          </p:nvSpPr>
          <p:spPr>
            <a:xfrm>
              <a:off x="0" y="0"/>
              <a:ext cx="4274726" cy="330048"/>
            </a:xfrm>
            <a:custGeom>
              <a:avLst/>
              <a:gdLst/>
              <a:ahLst/>
              <a:cxnLst/>
              <a:rect l="l" t="t" r="r" b="b"/>
              <a:pathLst>
                <a:path w="4274726" h="330048">
                  <a:moveTo>
                    <a:pt x="24327" y="0"/>
                  </a:moveTo>
                  <a:lnTo>
                    <a:pt x="4250399" y="0"/>
                  </a:lnTo>
                  <a:cubicBezTo>
                    <a:pt x="4263834" y="0"/>
                    <a:pt x="4274726" y="10891"/>
                    <a:pt x="4274726" y="24327"/>
                  </a:cubicBezTo>
                  <a:lnTo>
                    <a:pt x="4274726" y="305721"/>
                  </a:lnTo>
                  <a:cubicBezTo>
                    <a:pt x="4274726" y="312173"/>
                    <a:pt x="4272163" y="318360"/>
                    <a:pt x="4267601" y="322922"/>
                  </a:cubicBezTo>
                  <a:cubicBezTo>
                    <a:pt x="4263039" y="327485"/>
                    <a:pt x="4256851" y="330048"/>
                    <a:pt x="4250399" y="330048"/>
                  </a:cubicBezTo>
                  <a:lnTo>
                    <a:pt x="24327" y="330048"/>
                  </a:lnTo>
                  <a:cubicBezTo>
                    <a:pt x="10891" y="330048"/>
                    <a:pt x="0" y="319156"/>
                    <a:pt x="0" y="305721"/>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9E8135FE-A4A5-3824-BFBD-46AA7F40EE17}"/>
                </a:ext>
              </a:extLst>
            </p:cNvPr>
            <p:cNvSpPr txBox="1"/>
            <p:nvPr/>
          </p:nvSpPr>
          <p:spPr>
            <a:xfrm>
              <a:off x="0" y="-38100"/>
              <a:ext cx="4274726" cy="36814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781C64A3-69D3-F921-E2CC-BFEF170CAC81}"/>
              </a:ext>
            </a:extLst>
          </p:cNvPr>
          <p:cNvSpPr/>
          <p:nvPr/>
        </p:nvSpPr>
        <p:spPr>
          <a:xfrm>
            <a:off x="2154699" y="6734583"/>
            <a:ext cx="3206296" cy="2133568"/>
          </a:xfrm>
          <a:custGeom>
            <a:avLst/>
            <a:gdLst/>
            <a:ahLst/>
            <a:cxnLst/>
            <a:rect l="l" t="t" r="r" b="b"/>
            <a:pathLst>
              <a:path w="3206296" h="3685397">
                <a:moveTo>
                  <a:pt x="0" y="0"/>
                </a:moveTo>
                <a:lnTo>
                  <a:pt x="3206296" y="0"/>
                </a:lnTo>
                <a:lnTo>
                  <a:pt x="3206296" y="3685398"/>
                </a:lnTo>
                <a:lnTo>
                  <a:pt x="0" y="3685398"/>
                </a:lnTo>
                <a:lnTo>
                  <a:pt x="0" y="0"/>
                </a:lnTo>
                <a:close/>
              </a:path>
            </a:pathLst>
          </a:custGeom>
          <a:blipFill>
            <a:blip r:embed="rId4"/>
            <a:stretch>
              <a:fillRect/>
            </a:stretch>
          </a:blipFill>
        </p:spPr>
      </p:sp>
      <p:sp>
        <p:nvSpPr>
          <p:cNvPr id="19" name="Freeform 19">
            <a:extLst>
              <a:ext uri="{FF2B5EF4-FFF2-40B4-BE49-F238E27FC236}">
                <a16:creationId xmlns:a16="http://schemas.microsoft.com/office/drawing/2014/main" id="{639070BA-2AEF-8CA0-D351-605CD46A896D}"/>
              </a:ext>
            </a:extLst>
          </p:cNvPr>
          <p:cNvSpPr/>
          <p:nvPr/>
        </p:nvSpPr>
        <p:spPr>
          <a:xfrm>
            <a:off x="12693353" y="6770970"/>
            <a:ext cx="3439948" cy="2273476"/>
          </a:xfrm>
          <a:custGeom>
            <a:avLst/>
            <a:gdLst/>
            <a:ahLst/>
            <a:cxnLst/>
            <a:rect l="l" t="t" r="r" b="b"/>
            <a:pathLst>
              <a:path w="3439948" h="2829357">
                <a:moveTo>
                  <a:pt x="0" y="0"/>
                </a:moveTo>
                <a:lnTo>
                  <a:pt x="3439947" y="0"/>
                </a:lnTo>
                <a:lnTo>
                  <a:pt x="3439947" y="2829358"/>
                </a:lnTo>
                <a:lnTo>
                  <a:pt x="0" y="2829358"/>
                </a:lnTo>
                <a:lnTo>
                  <a:pt x="0" y="0"/>
                </a:lnTo>
                <a:close/>
              </a:path>
            </a:pathLst>
          </a:custGeom>
          <a:blipFill>
            <a:blip r:embed="rId5"/>
            <a:stretch>
              <a:fillRect/>
            </a:stretch>
          </a:blipFill>
        </p:spPr>
      </p:sp>
      <p:sp>
        <p:nvSpPr>
          <p:cNvPr id="20" name="Freeform 20">
            <a:extLst>
              <a:ext uri="{FF2B5EF4-FFF2-40B4-BE49-F238E27FC236}">
                <a16:creationId xmlns:a16="http://schemas.microsoft.com/office/drawing/2014/main" id="{77F70B83-6DDC-2D31-22C5-BD0143B91D3B}"/>
              </a:ext>
            </a:extLst>
          </p:cNvPr>
          <p:cNvSpPr/>
          <p:nvPr/>
        </p:nvSpPr>
        <p:spPr>
          <a:xfrm>
            <a:off x="7287284" y="6734583"/>
            <a:ext cx="3084560" cy="2273476"/>
          </a:xfrm>
          <a:custGeom>
            <a:avLst/>
            <a:gdLst/>
            <a:ahLst/>
            <a:cxnLst/>
            <a:rect l="l" t="t" r="r" b="b"/>
            <a:pathLst>
              <a:path w="3084560" h="3784737">
                <a:moveTo>
                  <a:pt x="0" y="0"/>
                </a:moveTo>
                <a:lnTo>
                  <a:pt x="3084561" y="0"/>
                </a:lnTo>
                <a:lnTo>
                  <a:pt x="3084561" y="3784736"/>
                </a:lnTo>
                <a:lnTo>
                  <a:pt x="0" y="3784736"/>
                </a:lnTo>
                <a:lnTo>
                  <a:pt x="0" y="0"/>
                </a:lnTo>
                <a:close/>
              </a:path>
            </a:pathLst>
          </a:custGeom>
          <a:blipFill>
            <a:blip r:embed="rId6"/>
            <a:stretch>
              <a:fillRect/>
            </a:stretch>
          </a:blipFill>
        </p:spPr>
      </p:sp>
      <p:sp>
        <p:nvSpPr>
          <p:cNvPr id="27" name="TextBox 27">
            <a:extLst>
              <a:ext uri="{FF2B5EF4-FFF2-40B4-BE49-F238E27FC236}">
                <a16:creationId xmlns:a16="http://schemas.microsoft.com/office/drawing/2014/main" id="{11021C7B-8159-3474-9D5D-7518E433655D}"/>
              </a:ext>
            </a:extLst>
          </p:cNvPr>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APPLICATIONS</a:t>
            </a:r>
          </a:p>
        </p:txBody>
      </p:sp>
      <p:sp>
        <p:nvSpPr>
          <p:cNvPr id="28" name="TextBox 28">
            <a:extLst>
              <a:ext uri="{FF2B5EF4-FFF2-40B4-BE49-F238E27FC236}">
                <a16:creationId xmlns:a16="http://schemas.microsoft.com/office/drawing/2014/main" id="{4C6D8403-5220-B6F5-E5BB-1EAAD4699E28}"/>
              </a:ext>
            </a:extLst>
          </p:cNvPr>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HOME</a:t>
            </a:r>
          </a:p>
        </p:txBody>
      </p:sp>
      <p:sp>
        <p:nvSpPr>
          <p:cNvPr id="29" name="TextBox 29">
            <a:extLst>
              <a:ext uri="{FF2B5EF4-FFF2-40B4-BE49-F238E27FC236}">
                <a16:creationId xmlns:a16="http://schemas.microsoft.com/office/drawing/2014/main" id="{C4FC898C-A8E6-A35D-A267-E49DC754104C}"/>
              </a:ext>
            </a:extLst>
          </p:cNvPr>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0" name="TextBox 30">
            <a:extLst>
              <a:ext uri="{FF2B5EF4-FFF2-40B4-BE49-F238E27FC236}">
                <a16:creationId xmlns:a16="http://schemas.microsoft.com/office/drawing/2014/main" id="{C40D92D2-CECF-E8FF-0903-8046BB883F8B}"/>
              </a:ext>
            </a:extLst>
          </p:cNvPr>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CONTENT</a:t>
            </a:r>
          </a:p>
        </p:txBody>
      </p:sp>
      <p:sp>
        <p:nvSpPr>
          <p:cNvPr id="31" name="TextBox 31">
            <a:extLst>
              <a:ext uri="{FF2B5EF4-FFF2-40B4-BE49-F238E27FC236}">
                <a16:creationId xmlns:a16="http://schemas.microsoft.com/office/drawing/2014/main" id="{5BB9E94D-CF05-5729-7DBA-1271B45DBEA6}"/>
              </a:ext>
            </a:extLst>
          </p:cNvPr>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2" name="TextBox 32">
            <a:extLst>
              <a:ext uri="{FF2B5EF4-FFF2-40B4-BE49-F238E27FC236}">
                <a16:creationId xmlns:a16="http://schemas.microsoft.com/office/drawing/2014/main" id="{E36B812D-20EA-8E33-FC82-B61A7AF66A6A}"/>
              </a:ext>
            </a:extLst>
          </p:cNvPr>
          <p:cNvSpPr txBox="1"/>
          <p:nvPr/>
        </p:nvSpPr>
        <p:spPr>
          <a:xfrm>
            <a:off x="998169" y="1434933"/>
            <a:ext cx="9987441" cy="793359"/>
          </a:xfrm>
          <a:prstGeom prst="rect">
            <a:avLst/>
          </a:prstGeom>
        </p:spPr>
        <p:txBody>
          <a:bodyPr wrap="square" lIns="0" tIns="0" rIns="0" bIns="0" rtlCol="0" anchor="t">
            <a:spAutoFit/>
          </a:bodyPr>
          <a:lstStyle/>
          <a:p>
            <a:pPr marL="0" lvl="0" indent="0">
              <a:lnSpc>
                <a:spcPts val="6654"/>
              </a:lnSpc>
            </a:pPr>
            <a:r>
              <a:rPr lang="en-US" sz="4400" b="1" spc="-234" dirty="0">
                <a:solidFill>
                  <a:schemeClr val="tx2">
                    <a:lumMod val="75000"/>
                  </a:schemeClr>
                </a:solidFill>
                <a:latin typeface="+mj-lt"/>
                <a:ea typeface="Agrandir Grand Bold"/>
                <a:cs typeface="Agrandir Grand Bold"/>
                <a:sym typeface="Agrandir Grand Bold"/>
              </a:rPr>
              <a:t>Popular Applications of Python</a:t>
            </a:r>
          </a:p>
        </p:txBody>
      </p:sp>
      <p:sp>
        <p:nvSpPr>
          <p:cNvPr id="44" name="TextBox 43">
            <a:extLst>
              <a:ext uri="{FF2B5EF4-FFF2-40B4-BE49-F238E27FC236}">
                <a16:creationId xmlns:a16="http://schemas.microsoft.com/office/drawing/2014/main" id="{C0A4EBDC-C00C-BE69-E20F-2D2C0411A406}"/>
              </a:ext>
            </a:extLst>
          </p:cNvPr>
          <p:cNvSpPr txBox="1"/>
          <p:nvPr/>
        </p:nvSpPr>
        <p:spPr>
          <a:xfrm>
            <a:off x="964486" y="2900961"/>
            <a:ext cx="6989880" cy="3231654"/>
          </a:xfrm>
          <a:prstGeom prst="rect">
            <a:avLst/>
          </a:prstGeom>
          <a:noFill/>
        </p:spPr>
        <p:txBody>
          <a:bodyPr wrap="square">
            <a:spAutoFit/>
          </a:bodyPr>
          <a:lstStyle/>
          <a:p>
            <a:pPr>
              <a:buNone/>
            </a:pPr>
            <a:r>
              <a:rPr lang="en-US" sz="2800" b="1" dirty="0">
                <a:solidFill>
                  <a:schemeClr val="tx2">
                    <a:lumMod val="75000"/>
                  </a:schemeClr>
                </a:solidFill>
              </a:rPr>
              <a:t>3. </a:t>
            </a:r>
            <a:r>
              <a:rPr lang="en-US" sz="3200" b="1" dirty="0">
                <a:solidFill>
                  <a:schemeClr val="tx2">
                    <a:lumMod val="75000"/>
                  </a:schemeClr>
                </a:solidFill>
              </a:rPr>
              <a:t>Data Visualization</a:t>
            </a:r>
          </a:p>
          <a:p>
            <a:pPr>
              <a:buNone/>
            </a:pPr>
            <a:r>
              <a:rPr lang="en-US" sz="2800" b="1" dirty="0">
                <a:solidFill>
                  <a:schemeClr val="tx2">
                    <a:lumMod val="75000"/>
                  </a:schemeClr>
                </a:solidFill>
              </a:rPr>
              <a:t>Python makes it easy to turn raw, complex data into visual, easy-to-understand charts, graphs, and dashboards for business intelligence.</a:t>
            </a:r>
          </a:p>
          <a:p>
            <a:pPr>
              <a:buFont typeface="Arial" panose="020B0604020202020204" pitchFamily="34" charset="0"/>
              <a:buChar char="•"/>
            </a:pPr>
            <a:r>
              <a:rPr lang="en-US" sz="3200" b="1" dirty="0">
                <a:solidFill>
                  <a:schemeClr val="tx2">
                    <a:lumMod val="75000"/>
                  </a:schemeClr>
                </a:solidFill>
              </a:rPr>
              <a:t>Key Libraries:</a:t>
            </a:r>
            <a:r>
              <a:rPr lang="en-US" sz="3200" dirty="0">
                <a:solidFill>
                  <a:schemeClr val="tx2">
                    <a:lumMod val="75000"/>
                  </a:schemeClr>
                </a:solidFill>
              </a:rPr>
              <a:t> </a:t>
            </a:r>
            <a:r>
              <a:rPr lang="en-US" sz="2800" b="1" dirty="0">
                <a:solidFill>
                  <a:schemeClr val="tx2">
                    <a:lumMod val="75000"/>
                  </a:schemeClr>
                </a:solidFill>
                <a:latin typeface="Courier New" panose="02070309020205020404" pitchFamily="49" charset="0"/>
              </a:rPr>
              <a:t>Matplotlib</a:t>
            </a:r>
            <a:r>
              <a:rPr lang="en-US" sz="2800" b="1" dirty="0">
                <a:solidFill>
                  <a:schemeClr val="tx2">
                    <a:lumMod val="75000"/>
                  </a:schemeClr>
                </a:solidFill>
              </a:rPr>
              <a:t>, </a:t>
            </a:r>
            <a:r>
              <a:rPr lang="en-US" sz="2800" b="1" dirty="0">
                <a:solidFill>
                  <a:schemeClr val="tx2">
                    <a:lumMod val="75000"/>
                  </a:schemeClr>
                </a:solidFill>
                <a:latin typeface="Courier New" panose="02070309020205020404" pitchFamily="49" charset="0"/>
              </a:rPr>
              <a:t>Seaborn</a:t>
            </a:r>
            <a:r>
              <a:rPr lang="en-US" sz="2800" b="1" dirty="0">
                <a:solidFill>
                  <a:schemeClr val="tx2">
                    <a:lumMod val="75000"/>
                  </a:schemeClr>
                </a:solidFill>
              </a:rPr>
              <a:t>, </a:t>
            </a:r>
            <a:r>
              <a:rPr lang="en-US" sz="2800" b="1" dirty="0">
                <a:solidFill>
                  <a:schemeClr val="tx2">
                    <a:lumMod val="75000"/>
                  </a:schemeClr>
                </a:solidFill>
                <a:latin typeface="Courier New" panose="02070309020205020404" pitchFamily="49" charset="0"/>
              </a:rPr>
              <a:t>Plotly</a:t>
            </a:r>
            <a:r>
              <a:rPr lang="en-US" sz="2800" b="1" dirty="0">
                <a:solidFill>
                  <a:schemeClr val="tx2">
                    <a:lumMod val="75000"/>
                  </a:schemeClr>
                </a:solidFill>
              </a:rPr>
              <a:t>.</a:t>
            </a:r>
          </a:p>
        </p:txBody>
      </p:sp>
      <p:sp>
        <p:nvSpPr>
          <p:cNvPr id="46" name="TextBox 45">
            <a:extLst>
              <a:ext uri="{FF2B5EF4-FFF2-40B4-BE49-F238E27FC236}">
                <a16:creationId xmlns:a16="http://schemas.microsoft.com/office/drawing/2014/main" id="{70804F00-96D7-17F5-7F46-EAF12D2A62C4}"/>
              </a:ext>
            </a:extLst>
          </p:cNvPr>
          <p:cNvSpPr txBox="1"/>
          <p:nvPr/>
        </p:nvSpPr>
        <p:spPr>
          <a:xfrm>
            <a:off x="8661460" y="2868712"/>
            <a:ext cx="8137520" cy="3662541"/>
          </a:xfrm>
          <a:prstGeom prst="rect">
            <a:avLst/>
          </a:prstGeom>
          <a:noFill/>
        </p:spPr>
        <p:txBody>
          <a:bodyPr wrap="square">
            <a:spAutoFit/>
          </a:bodyPr>
          <a:lstStyle/>
          <a:p>
            <a:pPr>
              <a:buNone/>
            </a:pPr>
            <a:r>
              <a:rPr lang="en-US" sz="2800" b="1" dirty="0">
                <a:solidFill>
                  <a:schemeClr val="tx2">
                    <a:lumMod val="75000"/>
                  </a:schemeClr>
                </a:solidFill>
              </a:rPr>
              <a:t>4. </a:t>
            </a:r>
            <a:r>
              <a:rPr lang="en-US" sz="3200" b="1" dirty="0">
                <a:solidFill>
                  <a:schemeClr val="tx2">
                    <a:lumMod val="75000"/>
                  </a:schemeClr>
                </a:solidFill>
              </a:rPr>
              <a:t>Automation and Scripting</a:t>
            </a:r>
          </a:p>
          <a:p>
            <a:pPr>
              <a:buNone/>
            </a:pPr>
            <a:r>
              <a:rPr lang="en-US" sz="2800" b="1" dirty="0">
                <a:solidFill>
                  <a:schemeClr val="tx2">
                    <a:lumMod val="75000"/>
                  </a:schemeClr>
                </a:solidFill>
              </a:rPr>
              <a:t>If a task is repetitive, Python can probably automate it. "Scripting" refers to writing short programs to automate simple daily tasks.</a:t>
            </a:r>
          </a:p>
          <a:p>
            <a:pPr>
              <a:buFont typeface="Arial" panose="020B0604020202020204" pitchFamily="34" charset="0"/>
              <a:buChar char="•"/>
            </a:pPr>
            <a:r>
              <a:rPr lang="en-US" sz="3200" b="1" dirty="0">
                <a:solidFill>
                  <a:schemeClr val="tx2">
                    <a:lumMod val="75000"/>
                  </a:schemeClr>
                </a:solidFill>
              </a:rPr>
              <a:t>Use Case:</a:t>
            </a:r>
            <a:r>
              <a:rPr lang="en-US" sz="3200" dirty="0">
                <a:solidFill>
                  <a:schemeClr val="tx2">
                    <a:lumMod val="75000"/>
                  </a:schemeClr>
                </a:solidFill>
              </a:rPr>
              <a:t> </a:t>
            </a:r>
            <a:r>
              <a:rPr lang="en-US" sz="2800" b="1" dirty="0">
                <a:solidFill>
                  <a:schemeClr val="tx2">
                    <a:lumMod val="75000"/>
                  </a:schemeClr>
                </a:solidFill>
              </a:rPr>
              <a:t>Automating Excel report generation, renaming thousands of files at once, scraping data from websites (using </a:t>
            </a:r>
            <a:r>
              <a:rPr lang="en-US" sz="2800" b="1" dirty="0" err="1">
                <a:solidFill>
                  <a:schemeClr val="tx2">
                    <a:lumMod val="75000"/>
                  </a:schemeClr>
                </a:solidFill>
                <a:latin typeface="Courier New" panose="02070309020205020404" pitchFamily="49" charset="0"/>
              </a:rPr>
              <a:t>BeautifulSoup</a:t>
            </a:r>
            <a:r>
              <a:rPr lang="en-US" sz="2800" b="1" dirty="0">
                <a:solidFill>
                  <a:schemeClr val="tx2">
                    <a:lumMod val="75000"/>
                  </a:schemeClr>
                </a:solidFill>
              </a:rPr>
              <a:t> or </a:t>
            </a:r>
            <a:r>
              <a:rPr lang="en-US" sz="2800" b="1" dirty="0">
                <a:solidFill>
                  <a:schemeClr val="tx2">
                    <a:lumMod val="75000"/>
                  </a:schemeClr>
                </a:solidFill>
                <a:latin typeface="Courier New" panose="02070309020205020404" pitchFamily="49" charset="0"/>
              </a:rPr>
              <a:t>Scrapy</a:t>
            </a:r>
            <a:r>
              <a:rPr lang="en-US" sz="2800" b="1" dirty="0">
                <a:solidFill>
                  <a:schemeClr val="tx2">
                    <a:lumMod val="75000"/>
                  </a:schemeClr>
                </a:solidFill>
              </a:rPr>
              <a:t>), or sending automated email alerts</a:t>
            </a:r>
          </a:p>
        </p:txBody>
      </p:sp>
    </p:spTree>
    <p:extLst>
      <p:ext uri="{BB962C8B-B14F-4D97-AF65-F5344CB8AC3E}">
        <p14:creationId xmlns:p14="http://schemas.microsoft.com/office/powerpoint/2010/main" val="399369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8291-BA24-2CD8-F399-C3757CC5B2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11978B-7BCD-4EBF-DCE3-BB319A8D113C}"/>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FAB0B8C7-D7D5-3E51-339E-B47723955357}"/>
              </a:ext>
            </a:extLst>
          </p:cNvPr>
          <p:cNvSpPr/>
          <p:nvPr/>
        </p:nvSpPr>
        <p:spPr>
          <a:xfrm>
            <a:off x="-389266" y="381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4" name="Group 4">
            <a:extLst>
              <a:ext uri="{FF2B5EF4-FFF2-40B4-BE49-F238E27FC236}">
                <a16:creationId xmlns:a16="http://schemas.microsoft.com/office/drawing/2014/main" id="{8E8935EE-F20E-C2F5-5B9E-543BD7D2CCA8}"/>
              </a:ext>
            </a:extLst>
          </p:cNvPr>
          <p:cNvGrpSpPr/>
          <p:nvPr/>
        </p:nvGrpSpPr>
        <p:grpSpPr>
          <a:xfrm>
            <a:off x="1063180" y="6734584"/>
            <a:ext cx="15897608" cy="2523715"/>
            <a:chOff x="0" y="0"/>
            <a:chExt cx="4274726" cy="1135764"/>
          </a:xfrm>
        </p:grpSpPr>
        <p:sp>
          <p:nvSpPr>
            <p:cNvPr id="5" name="Freeform 5">
              <a:extLst>
                <a:ext uri="{FF2B5EF4-FFF2-40B4-BE49-F238E27FC236}">
                  <a16:creationId xmlns:a16="http://schemas.microsoft.com/office/drawing/2014/main" id="{FB1281C5-114D-A6A8-840F-96C64FD1DF9A}"/>
                </a:ext>
              </a:extLst>
            </p:cNvPr>
            <p:cNvSpPr/>
            <p:nvPr/>
          </p:nvSpPr>
          <p:spPr>
            <a:xfrm>
              <a:off x="0" y="0"/>
              <a:ext cx="4274726" cy="1135764"/>
            </a:xfrm>
            <a:custGeom>
              <a:avLst/>
              <a:gdLst/>
              <a:ahLst/>
              <a:cxnLst/>
              <a:rect l="l" t="t" r="r" b="b"/>
              <a:pathLst>
                <a:path w="4274726" h="1135764">
                  <a:moveTo>
                    <a:pt x="24327" y="0"/>
                  </a:moveTo>
                  <a:lnTo>
                    <a:pt x="4250399" y="0"/>
                  </a:lnTo>
                  <a:cubicBezTo>
                    <a:pt x="4263834" y="0"/>
                    <a:pt x="4274726" y="10891"/>
                    <a:pt x="4274726" y="24327"/>
                  </a:cubicBezTo>
                  <a:lnTo>
                    <a:pt x="4274726" y="1111437"/>
                  </a:lnTo>
                  <a:cubicBezTo>
                    <a:pt x="4274726" y="1117889"/>
                    <a:pt x="4272163" y="1124077"/>
                    <a:pt x="4267601" y="1128639"/>
                  </a:cubicBezTo>
                  <a:cubicBezTo>
                    <a:pt x="4263039" y="1133201"/>
                    <a:pt x="4256851" y="1135764"/>
                    <a:pt x="4250399" y="1135764"/>
                  </a:cubicBezTo>
                  <a:lnTo>
                    <a:pt x="24327" y="1135764"/>
                  </a:lnTo>
                  <a:cubicBezTo>
                    <a:pt x="10891" y="1135764"/>
                    <a:pt x="0" y="1124872"/>
                    <a:pt x="0" y="1111437"/>
                  </a:cubicBezTo>
                  <a:lnTo>
                    <a:pt x="0" y="24327"/>
                  </a:lnTo>
                  <a:cubicBezTo>
                    <a:pt x="0" y="10891"/>
                    <a:pt x="10891" y="0"/>
                    <a:pt x="24327" y="0"/>
                  </a:cubicBezTo>
                  <a:close/>
                </a:path>
              </a:pathLst>
            </a:custGeom>
            <a:ln w="19050" cap="rnd">
              <a:solidFill>
                <a:srgbClr val="283396"/>
              </a:solidFill>
              <a:prstDash val="solid"/>
              <a:round/>
            </a:ln>
          </p:spPr>
        </p:sp>
        <p:sp>
          <p:nvSpPr>
            <p:cNvPr id="6" name="TextBox 6">
              <a:extLst>
                <a:ext uri="{FF2B5EF4-FFF2-40B4-BE49-F238E27FC236}">
                  <a16:creationId xmlns:a16="http://schemas.microsoft.com/office/drawing/2014/main" id="{2B5CB86F-D5EE-6D9F-329C-2FA68B8EC68F}"/>
                </a:ext>
              </a:extLst>
            </p:cNvPr>
            <p:cNvSpPr txBox="1"/>
            <p:nvPr/>
          </p:nvSpPr>
          <p:spPr>
            <a:xfrm>
              <a:off x="0" y="-38100"/>
              <a:ext cx="4274726" cy="1173864"/>
            </a:xfrm>
            <a:prstGeom prst="rect">
              <a:avLst/>
            </a:prstGeom>
          </p:spPr>
          <p:txBody>
            <a:bodyPr lIns="50800" tIns="50800" rIns="50800" bIns="50800" rtlCol="0" anchor="ctr"/>
            <a:lstStyle/>
            <a:p>
              <a:pPr marL="0" lvl="0" indent="0" algn="ctr">
                <a:lnSpc>
                  <a:spcPts val="2659"/>
                </a:lnSpc>
              </a:pPr>
              <a:endParaRPr/>
            </a:p>
          </p:txBody>
        </p:sp>
      </p:grpSp>
      <p:sp>
        <p:nvSpPr>
          <p:cNvPr id="7" name="AutoShape 7">
            <a:extLst>
              <a:ext uri="{FF2B5EF4-FFF2-40B4-BE49-F238E27FC236}">
                <a16:creationId xmlns:a16="http://schemas.microsoft.com/office/drawing/2014/main" id="{AB8FE760-3F1B-2CA9-0261-EF7A0B3956FD}"/>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8" name="Freeform 8">
            <a:extLst>
              <a:ext uri="{FF2B5EF4-FFF2-40B4-BE49-F238E27FC236}">
                <a16:creationId xmlns:a16="http://schemas.microsoft.com/office/drawing/2014/main" id="{7A06DA76-07F5-82A7-98C0-FFA12575F2E4}"/>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9" name="Group 9">
            <a:extLst>
              <a:ext uri="{FF2B5EF4-FFF2-40B4-BE49-F238E27FC236}">
                <a16:creationId xmlns:a16="http://schemas.microsoft.com/office/drawing/2014/main" id="{06E61A71-749D-EEBD-BBB8-80A03E7A1F3A}"/>
              </a:ext>
            </a:extLst>
          </p:cNvPr>
          <p:cNvGrpSpPr/>
          <p:nvPr/>
        </p:nvGrpSpPr>
        <p:grpSpPr>
          <a:xfrm>
            <a:off x="1085850" y="665030"/>
            <a:ext cx="92277" cy="524320"/>
            <a:chOff x="0" y="0"/>
            <a:chExt cx="24303" cy="138092"/>
          </a:xfrm>
        </p:grpSpPr>
        <p:sp>
          <p:nvSpPr>
            <p:cNvPr id="10" name="Freeform 10">
              <a:extLst>
                <a:ext uri="{FF2B5EF4-FFF2-40B4-BE49-F238E27FC236}">
                  <a16:creationId xmlns:a16="http://schemas.microsoft.com/office/drawing/2014/main" id="{78A5AE56-26DD-31A0-35D8-3E0A910B2BD2}"/>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11" name="TextBox 11">
              <a:extLst>
                <a:ext uri="{FF2B5EF4-FFF2-40B4-BE49-F238E27FC236}">
                  <a16:creationId xmlns:a16="http://schemas.microsoft.com/office/drawing/2014/main" id="{7837EC69-7E18-494D-0F3A-1C9CAC17EC82}"/>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3297B07A-4F2F-0D93-06AD-3F2BF712796B}"/>
              </a:ext>
            </a:extLst>
          </p:cNvPr>
          <p:cNvGrpSpPr/>
          <p:nvPr/>
        </p:nvGrpSpPr>
        <p:grpSpPr>
          <a:xfrm>
            <a:off x="5675612" y="1359977"/>
            <a:ext cx="1080278" cy="106932"/>
            <a:chOff x="0" y="0"/>
            <a:chExt cx="284518" cy="28163"/>
          </a:xfrm>
        </p:grpSpPr>
        <p:sp>
          <p:nvSpPr>
            <p:cNvPr id="13" name="Freeform 13">
              <a:extLst>
                <a:ext uri="{FF2B5EF4-FFF2-40B4-BE49-F238E27FC236}">
                  <a16:creationId xmlns:a16="http://schemas.microsoft.com/office/drawing/2014/main" id="{F756C6C3-F035-D0C7-480C-25A7D27BA0F5}"/>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4" name="TextBox 14">
              <a:extLst>
                <a:ext uri="{FF2B5EF4-FFF2-40B4-BE49-F238E27FC236}">
                  <a16:creationId xmlns:a16="http://schemas.microsoft.com/office/drawing/2014/main" id="{DB334E1D-0015-4177-D4B7-68F41F6CC6AC}"/>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9AE74790-DF0F-0857-1B84-11A1AC51B829}"/>
              </a:ext>
            </a:extLst>
          </p:cNvPr>
          <p:cNvGrpSpPr/>
          <p:nvPr/>
        </p:nvGrpSpPr>
        <p:grpSpPr>
          <a:xfrm>
            <a:off x="1028700" y="8005151"/>
            <a:ext cx="16230600" cy="1253149"/>
            <a:chOff x="0" y="0"/>
            <a:chExt cx="4274726" cy="330048"/>
          </a:xfrm>
        </p:grpSpPr>
        <p:sp>
          <p:nvSpPr>
            <p:cNvPr id="16" name="Freeform 16">
              <a:extLst>
                <a:ext uri="{FF2B5EF4-FFF2-40B4-BE49-F238E27FC236}">
                  <a16:creationId xmlns:a16="http://schemas.microsoft.com/office/drawing/2014/main" id="{4AB872D5-0CB4-E055-0DD6-0C8954B63BAA}"/>
                </a:ext>
              </a:extLst>
            </p:cNvPr>
            <p:cNvSpPr/>
            <p:nvPr/>
          </p:nvSpPr>
          <p:spPr>
            <a:xfrm>
              <a:off x="0" y="0"/>
              <a:ext cx="4274726" cy="330048"/>
            </a:xfrm>
            <a:custGeom>
              <a:avLst/>
              <a:gdLst/>
              <a:ahLst/>
              <a:cxnLst/>
              <a:rect l="l" t="t" r="r" b="b"/>
              <a:pathLst>
                <a:path w="4274726" h="330048">
                  <a:moveTo>
                    <a:pt x="24327" y="0"/>
                  </a:moveTo>
                  <a:lnTo>
                    <a:pt x="4250399" y="0"/>
                  </a:lnTo>
                  <a:cubicBezTo>
                    <a:pt x="4263834" y="0"/>
                    <a:pt x="4274726" y="10891"/>
                    <a:pt x="4274726" y="24327"/>
                  </a:cubicBezTo>
                  <a:lnTo>
                    <a:pt x="4274726" y="305721"/>
                  </a:lnTo>
                  <a:cubicBezTo>
                    <a:pt x="4274726" y="312173"/>
                    <a:pt x="4272163" y="318360"/>
                    <a:pt x="4267601" y="322922"/>
                  </a:cubicBezTo>
                  <a:cubicBezTo>
                    <a:pt x="4263039" y="327485"/>
                    <a:pt x="4256851" y="330048"/>
                    <a:pt x="4250399" y="330048"/>
                  </a:cubicBezTo>
                  <a:lnTo>
                    <a:pt x="24327" y="330048"/>
                  </a:lnTo>
                  <a:cubicBezTo>
                    <a:pt x="10891" y="330048"/>
                    <a:pt x="0" y="319156"/>
                    <a:pt x="0" y="305721"/>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8E77DBE-11D5-F09C-A985-79C200C596D4}"/>
                </a:ext>
              </a:extLst>
            </p:cNvPr>
            <p:cNvSpPr txBox="1"/>
            <p:nvPr/>
          </p:nvSpPr>
          <p:spPr>
            <a:xfrm>
              <a:off x="0" y="-38100"/>
              <a:ext cx="4274726" cy="36814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DB182618-BD2B-A8E8-5574-E4DFE954C437}"/>
              </a:ext>
            </a:extLst>
          </p:cNvPr>
          <p:cNvSpPr/>
          <p:nvPr/>
        </p:nvSpPr>
        <p:spPr>
          <a:xfrm>
            <a:off x="2154699" y="6734583"/>
            <a:ext cx="3206296" cy="2133568"/>
          </a:xfrm>
          <a:custGeom>
            <a:avLst/>
            <a:gdLst/>
            <a:ahLst/>
            <a:cxnLst/>
            <a:rect l="l" t="t" r="r" b="b"/>
            <a:pathLst>
              <a:path w="3206296" h="3685397">
                <a:moveTo>
                  <a:pt x="0" y="0"/>
                </a:moveTo>
                <a:lnTo>
                  <a:pt x="3206296" y="0"/>
                </a:lnTo>
                <a:lnTo>
                  <a:pt x="3206296" y="3685398"/>
                </a:lnTo>
                <a:lnTo>
                  <a:pt x="0" y="3685398"/>
                </a:lnTo>
                <a:lnTo>
                  <a:pt x="0" y="0"/>
                </a:lnTo>
                <a:close/>
              </a:path>
            </a:pathLst>
          </a:custGeom>
          <a:blipFill>
            <a:blip r:embed="rId4"/>
            <a:stretch>
              <a:fillRect/>
            </a:stretch>
          </a:blipFill>
        </p:spPr>
      </p:sp>
      <p:sp>
        <p:nvSpPr>
          <p:cNvPr id="19" name="Freeform 19">
            <a:extLst>
              <a:ext uri="{FF2B5EF4-FFF2-40B4-BE49-F238E27FC236}">
                <a16:creationId xmlns:a16="http://schemas.microsoft.com/office/drawing/2014/main" id="{831AF5ED-0491-9901-CF26-EC61EFD38302}"/>
              </a:ext>
            </a:extLst>
          </p:cNvPr>
          <p:cNvSpPr/>
          <p:nvPr/>
        </p:nvSpPr>
        <p:spPr>
          <a:xfrm>
            <a:off x="12693353" y="6770970"/>
            <a:ext cx="3439948" cy="2273476"/>
          </a:xfrm>
          <a:custGeom>
            <a:avLst/>
            <a:gdLst/>
            <a:ahLst/>
            <a:cxnLst/>
            <a:rect l="l" t="t" r="r" b="b"/>
            <a:pathLst>
              <a:path w="3439948" h="2829357">
                <a:moveTo>
                  <a:pt x="0" y="0"/>
                </a:moveTo>
                <a:lnTo>
                  <a:pt x="3439947" y="0"/>
                </a:lnTo>
                <a:lnTo>
                  <a:pt x="3439947" y="2829358"/>
                </a:lnTo>
                <a:lnTo>
                  <a:pt x="0" y="2829358"/>
                </a:lnTo>
                <a:lnTo>
                  <a:pt x="0" y="0"/>
                </a:lnTo>
                <a:close/>
              </a:path>
            </a:pathLst>
          </a:custGeom>
          <a:blipFill>
            <a:blip r:embed="rId5"/>
            <a:stretch>
              <a:fillRect/>
            </a:stretch>
          </a:blipFill>
        </p:spPr>
      </p:sp>
      <p:sp>
        <p:nvSpPr>
          <p:cNvPr id="20" name="Freeform 20">
            <a:extLst>
              <a:ext uri="{FF2B5EF4-FFF2-40B4-BE49-F238E27FC236}">
                <a16:creationId xmlns:a16="http://schemas.microsoft.com/office/drawing/2014/main" id="{73FE9AE1-072C-E206-1E23-907F92852F33}"/>
              </a:ext>
            </a:extLst>
          </p:cNvPr>
          <p:cNvSpPr/>
          <p:nvPr/>
        </p:nvSpPr>
        <p:spPr>
          <a:xfrm>
            <a:off x="7287284" y="6734583"/>
            <a:ext cx="3084560" cy="2273476"/>
          </a:xfrm>
          <a:custGeom>
            <a:avLst/>
            <a:gdLst/>
            <a:ahLst/>
            <a:cxnLst/>
            <a:rect l="l" t="t" r="r" b="b"/>
            <a:pathLst>
              <a:path w="3084560" h="3784737">
                <a:moveTo>
                  <a:pt x="0" y="0"/>
                </a:moveTo>
                <a:lnTo>
                  <a:pt x="3084561" y="0"/>
                </a:lnTo>
                <a:lnTo>
                  <a:pt x="3084561" y="3784736"/>
                </a:lnTo>
                <a:lnTo>
                  <a:pt x="0" y="3784736"/>
                </a:lnTo>
                <a:lnTo>
                  <a:pt x="0" y="0"/>
                </a:lnTo>
                <a:close/>
              </a:path>
            </a:pathLst>
          </a:custGeom>
          <a:blipFill>
            <a:blip r:embed="rId6"/>
            <a:stretch>
              <a:fillRect/>
            </a:stretch>
          </a:blipFill>
        </p:spPr>
      </p:sp>
      <p:sp>
        <p:nvSpPr>
          <p:cNvPr id="27" name="TextBox 27">
            <a:extLst>
              <a:ext uri="{FF2B5EF4-FFF2-40B4-BE49-F238E27FC236}">
                <a16:creationId xmlns:a16="http://schemas.microsoft.com/office/drawing/2014/main" id="{00808F48-2471-E70F-4FE6-F59E1DCFBDDE}"/>
              </a:ext>
            </a:extLst>
          </p:cNvPr>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APPLICATIONS</a:t>
            </a:r>
          </a:p>
        </p:txBody>
      </p:sp>
      <p:sp>
        <p:nvSpPr>
          <p:cNvPr id="28" name="TextBox 28">
            <a:extLst>
              <a:ext uri="{FF2B5EF4-FFF2-40B4-BE49-F238E27FC236}">
                <a16:creationId xmlns:a16="http://schemas.microsoft.com/office/drawing/2014/main" id="{29B70D0F-6865-CAD2-BE4D-C9324167D7CA}"/>
              </a:ext>
            </a:extLst>
          </p:cNvPr>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HOME</a:t>
            </a:r>
          </a:p>
        </p:txBody>
      </p:sp>
      <p:sp>
        <p:nvSpPr>
          <p:cNvPr id="29" name="TextBox 29">
            <a:extLst>
              <a:ext uri="{FF2B5EF4-FFF2-40B4-BE49-F238E27FC236}">
                <a16:creationId xmlns:a16="http://schemas.microsoft.com/office/drawing/2014/main" id="{7BE48E6A-8897-BAFF-E371-9F36FA0B8696}"/>
              </a:ext>
            </a:extLst>
          </p:cNvPr>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30" name="TextBox 30">
            <a:extLst>
              <a:ext uri="{FF2B5EF4-FFF2-40B4-BE49-F238E27FC236}">
                <a16:creationId xmlns:a16="http://schemas.microsoft.com/office/drawing/2014/main" id="{8D2513F8-C0F8-9C20-6491-AF6EE9CC2C48}"/>
              </a:ext>
            </a:extLst>
          </p:cNvPr>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CONTENT</a:t>
            </a:r>
          </a:p>
        </p:txBody>
      </p:sp>
      <p:sp>
        <p:nvSpPr>
          <p:cNvPr id="31" name="TextBox 31">
            <a:extLst>
              <a:ext uri="{FF2B5EF4-FFF2-40B4-BE49-F238E27FC236}">
                <a16:creationId xmlns:a16="http://schemas.microsoft.com/office/drawing/2014/main" id="{D7DAAEDF-FBAC-5539-C55A-4381CB801948}"/>
              </a:ext>
            </a:extLst>
          </p:cNvPr>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2" name="TextBox 32">
            <a:extLst>
              <a:ext uri="{FF2B5EF4-FFF2-40B4-BE49-F238E27FC236}">
                <a16:creationId xmlns:a16="http://schemas.microsoft.com/office/drawing/2014/main" id="{291CE921-AD69-9A38-EECB-3108E2CD3982}"/>
              </a:ext>
            </a:extLst>
          </p:cNvPr>
          <p:cNvSpPr txBox="1"/>
          <p:nvPr/>
        </p:nvSpPr>
        <p:spPr>
          <a:xfrm>
            <a:off x="998169" y="1434933"/>
            <a:ext cx="9987441" cy="793359"/>
          </a:xfrm>
          <a:prstGeom prst="rect">
            <a:avLst/>
          </a:prstGeom>
        </p:spPr>
        <p:txBody>
          <a:bodyPr wrap="square" lIns="0" tIns="0" rIns="0" bIns="0" rtlCol="0" anchor="t">
            <a:spAutoFit/>
          </a:bodyPr>
          <a:lstStyle/>
          <a:p>
            <a:pPr marL="0" lvl="0" indent="0">
              <a:lnSpc>
                <a:spcPts val="6654"/>
              </a:lnSpc>
            </a:pPr>
            <a:r>
              <a:rPr lang="en-US" sz="4400" b="1" spc="-234" dirty="0">
                <a:solidFill>
                  <a:srgbClr val="283396"/>
                </a:solidFill>
                <a:latin typeface="+mj-lt"/>
                <a:ea typeface="Agrandir Grand Bold"/>
                <a:cs typeface="Agrandir Grand Bold"/>
                <a:sym typeface="Agrandir Grand Bold"/>
              </a:rPr>
              <a:t>Popular Applications of Python</a:t>
            </a:r>
          </a:p>
        </p:txBody>
      </p:sp>
      <p:sp>
        <p:nvSpPr>
          <p:cNvPr id="48" name="TextBox 47">
            <a:extLst>
              <a:ext uri="{FF2B5EF4-FFF2-40B4-BE49-F238E27FC236}">
                <a16:creationId xmlns:a16="http://schemas.microsoft.com/office/drawing/2014/main" id="{3964ED4E-3AAC-334D-0947-E52A78262D34}"/>
              </a:ext>
            </a:extLst>
          </p:cNvPr>
          <p:cNvSpPr txBox="1"/>
          <p:nvPr/>
        </p:nvSpPr>
        <p:spPr>
          <a:xfrm>
            <a:off x="912002" y="2624011"/>
            <a:ext cx="12431612" cy="2677656"/>
          </a:xfrm>
          <a:prstGeom prst="rect">
            <a:avLst/>
          </a:prstGeom>
          <a:noFill/>
        </p:spPr>
        <p:txBody>
          <a:bodyPr wrap="square">
            <a:spAutoFit/>
          </a:bodyPr>
          <a:lstStyle/>
          <a:p>
            <a:pPr>
              <a:buNone/>
            </a:pPr>
            <a:r>
              <a:rPr lang="en-US" sz="2800" b="1" dirty="0">
                <a:solidFill>
                  <a:schemeClr val="tx2">
                    <a:lumMod val="75000"/>
                  </a:schemeClr>
                </a:solidFill>
              </a:rPr>
              <a:t>5. </a:t>
            </a:r>
            <a:r>
              <a:rPr lang="en-US" sz="3200" b="1" dirty="0">
                <a:solidFill>
                  <a:schemeClr val="tx2">
                    <a:lumMod val="75000"/>
                  </a:schemeClr>
                </a:solidFill>
              </a:rPr>
              <a:t>Software Testing and Prototyping</a:t>
            </a:r>
          </a:p>
          <a:p>
            <a:pPr>
              <a:buNone/>
            </a:pPr>
            <a:r>
              <a:rPr lang="en-US" sz="2400" b="1" dirty="0">
                <a:solidFill>
                  <a:schemeClr val="tx2">
                    <a:lumMod val="75000"/>
                  </a:schemeClr>
                </a:solidFill>
              </a:rPr>
              <a:t>Python is widely used in Software Quality Assurance (QA) to catch bugs and ensure applications work smoothly before launch. Because it is so fast to write, developers also use it to build "proof-of-concept" prototypes.</a:t>
            </a:r>
          </a:p>
          <a:p>
            <a:pPr>
              <a:buFont typeface="Arial" panose="020B0604020202020204" pitchFamily="34" charset="0"/>
              <a:buChar char="•"/>
            </a:pPr>
            <a:r>
              <a:rPr lang="en-US" sz="3200" b="1" dirty="0">
                <a:solidFill>
                  <a:schemeClr val="tx2">
                    <a:lumMod val="75000"/>
                  </a:schemeClr>
                </a:solidFill>
              </a:rPr>
              <a:t>Key Tools: </a:t>
            </a:r>
            <a:r>
              <a:rPr lang="en-US" sz="2400" b="1" dirty="0">
                <a:solidFill>
                  <a:schemeClr val="tx2">
                    <a:lumMod val="75000"/>
                  </a:schemeClr>
                </a:solidFill>
                <a:latin typeface="Courier New" panose="02070309020205020404" pitchFamily="49" charset="0"/>
              </a:rPr>
              <a:t>Selenium</a:t>
            </a:r>
            <a:r>
              <a:rPr lang="en-US" sz="2400" b="1" dirty="0">
                <a:solidFill>
                  <a:schemeClr val="tx2">
                    <a:lumMod val="75000"/>
                  </a:schemeClr>
                </a:solidFill>
              </a:rPr>
              <a:t>, </a:t>
            </a:r>
            <a:r>
              <a:rPr lang="en-US" sz="2400" b="1" dirty="0" err="1">
                <a:solidFill>
                  <a:schemeClr val="tx2">
                    <a:lumMod val="75000"/>
                  </a:schemeClr>
                </a:solidFill>
                <a:latin typeface="Courier New" panose="02070309020205020404" pitchFamily="49" charset="0"/>
              </a:rPr>
              <a:t>PyTest</a:t>
            </a:r>
            <a:r>
              <a:rPr lang="en-US" sz="2400" b="1" dirty="0">
                <a:solidFill>
                  <a:schemeClr val="tx2">
                    <a:lumMod val="75000"/>
                  </a:schemeClr>
                </a:solidFill>
              </a:rPr>
              <a:t>.</a:t>
            </a:r>
          </a:p>
          <a:p>
            <a:pPr>
              <a:buFont typeface="Arial" panose="020B0604020202020204" pitchFamily="34" charset="0"/>
              <a:buChar char="•"/>
            </a:pPr>
            <a:r>
              <a:rPr lang="en-US" sz="3200" b="1" dirty="0">
                <a:solidFill>
                  <a:schemeClr val="tx2">
                    <a:lumMod val="75000"/>
                  </a:schemeClr>
                </a:solidFill>
              </a:rPr>
              <a:t>Use Case: </a:t>
            </a:r>
            <a:r>
              <a:rPr lang="en-US" sz="2400" b="1" dirty="0">
                <a:solidFill>
                  <a:schemeClr val="tx2">
                    <a:lumMod val="75000"/>
                  </a:schemeClr>
                </a:solidFill>
              </a:rPr>
              <a:t>Automatically clicking through a web application to test user registration forms.</a:t>
            </a:r>
          </a:p>
        </p:txBody>
      </p:sp>
    </p:spTree>
    <p:extLst>
      <p:ext uri="{BB962C8B-B14F-4D97-AF65-F5344CB8AC3E}">
        <p14:creationId xmlns:p14="http://schemas.microsoft.com/office/powerpoint/2010/main" val="3456453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2228619"/>
            <a:ext cx="16230600" cy="7193374"/>
            <a:chOff x="0" y="0"/>
            <a:chExt cx="4274726" cy="1894551"/>
          </a:xfrm>
        </p:grpSpPr>
        <p:sp>
          <p:nvSpPr>
            <p:cNvPr id="13" name="Freeform 13"/>
            <p:cNvSpPr/>
            <p:nvPr/>
          </p:nvSpPr>
          <p:spPr>
            <a:xfrm>
              <a:off x="0" y="0"/>
              <a:ext cx="4274726" cy="1894551"/>
            </a:xfrm>
            <a:custGeom>
              <a:avLst/>
              <a:gdLst/>
              <a:ahLst/>
              <a:cxnLst/>
              <a:rect l="l" t="t" r="r" b="b"/>
              <a:pathLst>
                <a:path w="4274726" h="1894551">
                  <a:moveTo>
                    <a:pt x="24327" y="0"/>
                  </a:moveTo>
                  <a:lnTo>
                    <a:pt x="4250399" y="0"/>
                  </a:lnTo>
                  <a:cubicBezTo>
                    <a:pt x="4263834" y="0"/>
                    <a:pt x="4274726" y="10891"/>
                    <a:pt x="4274726" y="24327"/>
                  </a:cubicBezTo>
                  <a:lnTo>
                    <a:pt x="4274726" y="1870224"/>
                  </a:lnTo>
                  <a:cubicBezTo>
                    <a:pt x="4274726" y="1883660"/>
                    <a:pt x="4263834" y="1894551"/>
                    <a:pt x="4250399" y="1894551"/>
                  </a:cubicBezTo>
                  <a:lnTo>
                    <a:pt x="24327" y="1894551"/>
                  </a:lnTo>
                  <a:cubicBezTo>
                    <a:pt x="17875" y="1894551"/>
                    <a:pt x="11687" y="1891988"/>
                    <a:pt x="7125" y="1887426"/>
                  </a:cubicBezTo>
                  <a:cubicBezTo>
                    <a:pt x="2563" y="1882864"/>
                    <a:pt x="0" y="1876676"/>
                    <a:pt x="0" y="1870224"/>
                  </a:cubicBezTo>
                  <a:lnTo>
                    <a:pt x="0" y="24327"/>
                  </a:lnTo>
                  <a:cubicBezTo>
                    <a:pt x="0" y="10891"/>
                    <a:pt x="10891" y="0"/>
                    <a:pt x="24327" y="0"/>
                  </a:cubicBezTo>
                  <a:close/>
                </a:path>
              </a:pathLst>
            </a:custGeom>
            <a:ln w="19050" cap="rnd">
              <a:solidFill>
                <a:srgbClr val="283396"/>
              </a:solidFill>
              <a:prstDash val="solid"/>
              <a:round/>
            </a:ln>
          </p:spPr>
        </p:sp>
        <p:sp>
          <p:nvSpPr>
            <p:cNvPr id="14" name="TextBox 14"/>
            <p:cNvSpPr txBox="1"/>
            <p:nvPr/>
          </p:nvSpPr>
          <p:spPr>
            <a:xfrm>
              <a:off x="0" y="-38100"/>
              <a:ext cx="4274726" cy="1932651"/>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2228619"/>
            <a:ext cx="6660588" cy="7193374"/>
            <a:chOff x="0" y="0"/>
            <a:chExt cx="1754229" cy="1894551"/>
          </a:xfrm>
        </p:grpSpPr>
        <p:sp>
          <p:nvSpPr>
            <p:cNvPr id="16" name="Freeform 16"/>
            <p:cNvSpPr/>
            <p:nvPr/>
          </p:nvSpPr>
          <p:spPr>
            <a:xfrm>
              <a:off x="0" y="0"/>
              <a:ext cx="1754229" cy="1894551"/>
            </a:xfrm>
            <a:custGeom>
              <a:avLst/>
              <a:gdLst/>
              <a:ahLst/>
              <a:cxnLst/>
              <a:rect l="l" t="t" r="r" b="b"/>
              <a:pathLst>
                <a:path w="1754229" h="1894551">
                  <a:moveTo>
                    <a:pt x="59280" y="0"/>
                  </a:moveTo>
                  <a:lnTo>
                    <a:pt x="1694949" y="0"/>
                  </a:lnTo>
                  <a:cubicBezTo>
                    <a:pt x="1710671" y="0"/>
                    <a:pt x="1725749" y="6246"/>
                    <a:pt x="1736866" y="17363"/>
                  </a:cubicBezTo>
                  <a:cubicBezTo>
                    <a:pt x="1747983" y="28480"/>
                    <a:pt x="1754229" y="43558"/>
                    <a:pt x="1754229" y="59280"/>
                  </a:cubicBezTo>
                  <a:lnTo>
                    <a:pt x="1754229" y="1835272"/>
                  </a:lnTo>
                  <a:cubicBezTo>
                    <a:pt x="1754229" y="1850993"/>
                    <a:pt x="1747983" y="1866072"/>
                    <a:pt x="1736866" y="1877189"/>
                  </a:cubicBezTo>
                  <a:cubicBezTo>
                    <a:pt x="1725749" y="1888306"/>
                    <a:pt x="1710671" y="1894551"/>
                    <a:pt x="1694949" y="1894551"/>
                  </a:cubicBezTo>
                  <a:lnTo>
                    <a:pt x="59280" y="1894551"/>
                  </a:lnTo>
                  <a:cubicBezTo>
                    <a:pt x="43558" y="1894551"/>
                    <a:pt x="28480" y="1888306"/>
                    <a:pt x="17363" y="1877189"/>
                  </a:cubicBezTo>
                  <a:cubicBezTo>
                    <a:pt x="6246" y="1866072"/>
                    <a:pt x="0" y="1850993"/>
                    <a:pt x="0" y="1835272"/>
                  </a:cubicBezTo>
                  <a:lnTo>
                    <a:pt x="0" y="59280"/>
                  </a:lnTo>
                  <a:cubicBezTo>
                    <a:pt x="0" y="43558"/>
                    <a:pt x="6246" y="28480"/>
                    <a:pt x="17363" y="17363"/>
                  </a:cubicBezTo>
                  <a:cubicBezTo>
                    <a:pt x="28480" y="6246"/>
                    <a:pt x="43558" y="0"/>
                    <a:pt x="59280" y="0"/>
                  </a:cubicBezTo>
                  <a:close/>
                </a:path>
              </a:pathLst>
            </a:custGeom>
            <a:ln w="19050" cap="rnd">
              <a:solidFill>
                <a:srgbClr val="283396"/>
              </a:solidFill>
              <a:prstDash val="solid"/>
              <a:round/>
            </a:ln>
          </p:spPr>
        </p:sp>
        <p:sp>
          <p:nvSpPr>
            <p:cNvPr id="17" name="TextBox 17"/>
            <p:cNvSpPr txBox="1"/>
            <p:nvPr/>
          </p:nvSpPr>
          <p:spPr>
            <a:xfrm>
              <a:off x="0" y="-38100"/>
              <a:ext cx="1754229" cy="193265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28700" y="8478095"/>
            <a:ext cx="16230600" cy="943898"/>
            <a:chOff x="0" y="0"/>
            <a:chExt cx="4274726" cy="248599"/>
          </a:xfrm>
        </p:grpSpPr>
        <p:sp>
          <p:nvSpPr>
            <p:cNvPr id="19" name="Freeform 19"/>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1683088" y="2814902"/>
            <a:ext cx="5091894" cy="5819308"/>
          </a:xfrm>
          <a:custGeom>
            <a:avLst/>
            <a:gdLst/>
            <a:ahLst/>
            <a:cxnLst/>
            <a:rect l="l" t="t" r="r" b="b"/>
            <a:pathLst>
              <a:path w="5091894" h="5819308">
                <a:moveTo>
                  <a:pt x="0" y="0"/>
                </a:moveTo>
                <a:lnTo>
                  <a:pt x="5091894" y="0"/>
                </a:lnTo>
                <a:lnTo>
                  <a:pt x="5091894" y="5819308"/>
                </a:lnTo>
                <a:lnTo>
                  <a:pt x="0" y="5819308"/>
                </a:lnTo>
                <a:lnTo>
                  <a:pt x="0" y="0"/>
                </a:lnTo>
                <a:close/>
              </a:path>
            </a:pathLst>
          </a:custGeom>
          <a:blipFill>
            <a:blip r:embed="rId4"/>
            <a:stretch>
              <a:fillRect/>
            </a:stretch>
          </a:blipFill>
        </p:spPr>
      </p:sp>
      <p:sp>
        <p:nvSpPr>
          <p:cNvPr id="22" name="TextBox 22"/>
          <p:cNvSpPr txBox="1"/>
          <p:nvPr/>
        </p:nvSpPr>
        <p:spPr>
          <a:xfrm>
            <a:off x="1350057" y="703130"/>
            <a:ext cx="2657415" cy="408330"/>
          </a:xfrm>
          <a:prstGeom prst="rect">
            <a:avLst/>
          </a:prstGeom>
        </p:spPr>
        <p:txBody>
          <a:bodyPr lIns="0" tIns="0" rIns="0" bIns="0" rtlCol="0" anchor="t">
            <a:spAutoFit/>
          </a:bodyPr>
          <a:lstStyle/>
          <a:p>
            <a:pPr marL="0" lvl="0" indent="0" algn="l">
              <a:lnSpc>
                <a:spcPts val="1626"/>
              </a:lnSpc>
            </a:pPr>
            <a:r>
              <a:rPr lang="en-US" sz="1659" b="1" spc="-101">
                <a:solidFill>
                  <a:srgbClr val="283396"/>
                </a:solidFill>
                <a:latin typeface="Montaser Arabic Bold"/>
                <a:ea typeface="Montaser Arabic Bold"/>
                <a:cs typeface="Montaser Arabic Bold"/>
                <a:sym typeface="Montaser Arabic Bold"/>
              </a:rPr>
              <a:t>PYTHON</a:t>
            </a:r>
          </a:p>
          <a:p>
            <a:pPr marL="0" lvl="0" indent="0" algn="l">
              <a:lnSpc>
                <a:spcPts val="1626"/>
              </a:lnSpc>
            </a:pPr>
            <a:r>
              <a:rPr lang="en-US" sz="1659" b="1" spc="-101">
                <a:solidFill>
                  <a:srgbClr val="283396"/>
                </a:solidFill>
                <a:latin typeface="Montaser Arabic Bold"/>
                <a:ea typeface="Montaser Arabic Bold"/>
                <a:cs typeface="Montaser Arabic Bold"/>
                <a:sym typeface="Montaser Arabic Bold"/>
              </a:rPr>
              <a:t>PRESENTATION</a:t>
            </a:r>
          </a:p>
        </p:txBody>
      </p:sp>
      <p:sp>
        <p:nvSpPr>
          <p:cNvPr id="23" name="TextBox 23"/>
          <p:cNvSpPr txBox="1"/>
          <p:nvPr/>
        </p:nvSpPr>
        <p:spPr>
          <a:xfrm>
            <a:off x="5337971" y="774825"/>
            <a:ext cx="1755559"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HOME</a:t>
            </a:r>
          </a:p>
        </p:txBody>
      </p:sp>
      <p:sp>
        <p:nvSpPr>
          <p:cNvPr id="24" name="TextBox 24"/>
          <p:cNvSpPr txBox="1"/>
          <p:nvPr/>
        </p:nvSpPr>
        <p:spPr>
          <a:xfrm>
            <a:off x="7463217" y="774825"/>
            <a:ext cx="2013772"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ABOUT</a:t>
            </a:r>
          </a:p>
        </p:txBody>
      </p:sp>
      <p:sp>
        <p:nvSpPr>
          <p:cNvPr id="25" name="TextBox 25"/>
          <p:cNvSpPr txBox="1"/>
          <p:nvPr/>
        </p:nvSpPr>
        <p:spPr>
          <a:xfrm>
            <a:off x="9856201" y="774825"/>
            <a:ext cx="2024119" cy="272162"/>
          </a:xfrm>
          <a:prstGeom prst="rect">
            <a:avLst/>
          </a:prstGeom>
        </p:spPr>
        <p:txBody>
          <a:bodyPr lIns="0" tIns="0" rIns="0" bIns="0" rtlCol="0" anchor="t">
            <a:spAutoFit/>
          </a:bodyPr>
          <a:lstStyle/>
          <a:p>
            <a:pPr marL="0" lvl="0" indent="0" algn="ctr">
              <a:lnSpc>
                <a:spcPts val="2323"/>
              </a:lnSpc>
              <a:spcBef>
                <a:spcPct val="0"/>
              </a:spcBef>
            </a:pPr>
            <a:r>
              <a:rPr lang="en-US" sz="1659" b="1">
                <a:solidFill>
                  <a:srgbClr val="283396"/>
                </a:solidFill>
                <a:latin typeface="Montaser Arabic Bold"/>
                <a:ea typeface="Montaser Arabic Bold"/>
                <a:cs typeface="Montaser Arabic Bold"/>
                <a:sym typeface="Montaser Arabic Bold"/>
              </a:rPr>
              <a:t>CONTENT</a:t>
            </a:r>
          </a:p>
        </p:txBody>
      </p:sp>
      <p:sp>
        <p:nvSpPr>
          <p:cNvPr id="26" name="TextBox 26"/>
          <p:cNvSpPr txBox="1"/>
          <p:nvPr/>
        </p:nvSpPr>
        <p:spPr>
          <a:xfrm>
            <a:off x="12101593" y="774825"/>
            <a:ext cx="2349448"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OTHERS</a:t>
            </a:r>
          </a:p>
        </p:txBody>
      </p:sp>
      <p:sp>
        <p:nvSpPr>
          <p:cNvPr id="27" name="TextBox 27"/>
          <p:cNvSpPr txBox="1"/>
          <p:nvPr/>
        </p:nvSpPr>
        <p:spPr>
          <a:xfrm>
            <a:off x="1080344" y="8763645"/>
            <a:ext cx="16127312" cy="466033"/>
          </a:xfrm>
          <a:prstGeom prst="rect">
            <a:avLst/>
          </a:prstGeom>
        </p:spPr>
        <p:txBody>
          <a:bodyPr lIns="0" tIns="0" rIns="0" bIns="0" rtlCol="0" anchor="t">
            <a:spAutoFit/>
          </a:bodyPr>
          <a:lstStyle/>
          <a:p>
            <a:pPr marL="0" lvl="0" indent="0" algn="ctr">
              <a:lnSpc>
                <a:spcPts val="2944"/>
              </a:lnSpc>
            </a:pPr>
            <a:r>
              <a:rPr lang="en-US" sz="2886" b="1" spc="-103">
                <a:solidFill>
                  <a:srgbClr val="EFEEEB"/>
                </a:solidFill>
                <a:latin typeface="Agrandir Grand Bold"/>
                <a:ea typeface="Agrandir Grand Bold"/>
                <a:cs typeface="Agrandir Grand Bold"/>
                <a:sym typeface="Agrandir Grand Bold"/>
              </a:rPr>
              <a:t>PYTHON PRESENTATION - PYTHON PRESENTATION</a:t>
            </a:r>
          </a:p>
        </p:txBody>
      </p:sp>
      <p:sp>
        <p:nvSpPr>
          <p:cNvPr id="28" name="TextBox 28"/>
          <p:cNvSpPr txBox="1"/>
          <p:nvPr/>
        </p:nvSpPr>
        <p:spPr>
          <a:xfrm>
            <a:off x="8371326" y="2915395"/>
            <a:ext cx="8361017" cy="830227"/>
          </a:xfrm>
          <a:prstGeom prst="rect">
            <a:avLst/>
          </a:prstGeom>
        </p:spPr>
        <p:txBody>
          <a:bodyPr lIns="0" tIns="0" rIns="0" bIns="0" rtlCol="0" anchor="t">
            <a:spAutoFit/>
          </a:bodyPr>
          <a:lstStyle/>
          <a:p>
            <a:pPr marL="0" lvl="0" indent="0" algn="l">
              <a:lnSpc>
                <a:spcPts val="6356"/>
              </a:lnSpc>
            </a:pPr>
            <a:r>
              <a:rPr lang="en-US" sz="6231" b="1" dirty="0">
                <a:solidFill>
                  <a:srgbClr val="283396"/>
                </a:solidFill>
                <a:latin typeface="+mj-lt"/>
                <a:ea typeface="Agrandir Grand Bold"/>
                <a:cs typeface="Agrandir Grand Bold"/>
                <a:sym typeface="Agrandir Grand Bold"/>
              </a:rPr>
              <a:t>Summary</a:t>
            </a:r>
          </a:p>
        </p:txBody>
      </p:sp>
      <p:sp>
        <p:nvSpPr>
          <p:cNvPr id="29" name="TextBox 29"/>
          <p:cNvSpPr txBox="1"/>
          <p:nvPr/>
        </p:nvSpPr>
        <p:spPr>
          <a:xfrm>
            <a:off x="8514954" y="4024181"/>
            <a:ext cx="8089957" cy="2154436"/>
          </a:xfrm>
          <a:prstGeom prst="rect">
            <a:avLst/>
          </a:prstGeom>
        </p:spPr>
        <p:txBody>
          <a:bodyPr wrap="square" lIns="0" tIns="0" rIns="0" bIns="0" rtlCol="0" anchor="t">
            <a:spAutoFit/>
          </a:bodyPr>
          <a:lstStyle/>
          <a:p>
            <a:pPr marL="0" lvl="0" indent="0" algn="just"/>
            <a:r>
              <a:rPr lang="en-US" sz="2800" b="1" dirty="0">
                <a:solidFill>
                  <a:srgbClr val="283396"/>
                </a:solidFill>
                <a:latin typeface="+mj-lt"/>
                <a:ea typeface="Montaser Arabic Light"/>
                <a:cs typeface="Montaser Arabic Light"/>
                <a:sym typeface="Montaser Arabic Light"/>
              </a:rPr>
              <a:t>We covered programming language levels (high, mid, low), Python's origins by Guido van Rossum, and its evolution through versions 1, 2, and 3. Python's popularity stems from its simplicity and versatility across diverse applications.</a:t>
            </a:r>
          </a:p>
        </p:txBody>
      </p:sp>
      <p:grpSp>
        <p:nvGrpSpPr>
          <p:cNvPr id="30" name="Group 30"/>
          <p:cNvGrpSpPr/>
          <p:nvPr/>
        </p:nvGrpSpPr>
        <p:grpSpPr>
          <a:xfrm>
            <a:off x="8371326" y="6843092"/>
            <a:ext cx="2119546" cy="627805"/>
            <a:chOff x="0" y="0"/>
            <a:chExt cx="558234" cy="165348"/>
          </a:xfrm>
        </p:grpSpPr>
        <p:sp>
          <p:nvSpPr>
            <p:cNvPr id="31" name="Freeform 31"/>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32" name="TextBox 32"/>
            <p:cNvSpPr txBox="1"/>
            <p:nvPr/>
          </p:nvSpPr>
          <p:spPr>
            <a:xfrm>
              <a:off x="0" y="-28575"/>
              <a:ext cx="558234" cy="193923"/>
            </a:xfrm>
            <a:prstGeom prst="rect">
              <a:avLst/>
            </a:prstGeom>
          </p:spPr>
          <p:txBody>
            <a:bodyPr lIns="50800" tIns="50800" rIns="50800" bIns="50800" rtlCol="0" anchor="ctr"/>
            <a:lstStyle/>
            <a:p>
              <a:pPr marL="0" lvl="0" indent="0" algn="ctr">
                <a:lnSpc>
                  <a:spcPts val="2323"/>
                </a:lnSpc>
              </a:pPr>
              <a:r>
                <a:rPr lang="en-US" sz="1659" b="1">
                  <a:solidFill>
                    <a:srgbClr val="FFFFFF"/>
                  </a:solidFill>
                  <a:latin typeface="Montaser Arabic Bold"/>
                  <a:ea typeface="Montaser Arabic Bold"/>
                  <a:cs typeface="Montaser Arabic Bold"/>
                  <a:sym typeface="Montaser Arabic Bold"/>
                </a:rPr>
                <a:t>NEXT SLIDE</a:t>
              </a:r>
            </a:p>
          </p:txBody>
        </p:sp>
      </p:grpSp>
      <p:grpSp>
        <p:nvGrpSpPr>
          <p:cNvPr id="33" name="Group 33"/>
          <p:cNvGrpSpPr/>
          <p:nvPr/>
        </p:nvGrpSpPr>
        <p:grpSpPr>
          <a:xfrm>
            <a:off x="15196410" y="6433517"/>
            <a:ext cx="1535933" cy="153593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5" name="TextBox 3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6" name="Group 36"/>
          <p:cNvGrpSpPr/>
          <p:nvPr/>
        </p:nvGrpSpPr>
        <p:grpSpPr>
          <a:xfrm>
            <a:off x="15529526" y="6790791"/>
            <a:ext cx="869701" cy="821384"/>
            <a:chOff x="0" y="0"/>
            <a:chExt cx="685800" cy="647700"/>
          </a:xfrm>
        </p:grpSpPr>
        <p:sp>
          <p:nvSpPr>
            <p:cNvPr id="37" name="Freeform 37"/>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8" name="TextBox 38"/>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39" name="Group 39"/>
          <p:cNvGrpSpPr/>
          <p:nvPr/>
        </p:nvGrpSpPr>
        <p:grpSpPr>
          <a:xfrm>
            <a:off x="573096" y="2031154"/>
            <a:ext cx="1210061" cy="1210061"/>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2" name="Group 42"/>
          <p:cNvGrpSpPr/>
          <p:nvPr/>
        </p:nvGrpSpPr>
        <p:grpSpPr>
          <a:xfrm>
            <a:off x="835536" y="2312627"/>
            <a:ext cx="685181" cy="647115"/>
            <a:chOff x="0" y="0"/>
            <a:chExt cx="685800" cy="647700"/>
          </a:xfrm>
        </p:grpSpPr>
        <p:sp>
          <p:nvSpPr>
            <p:cNvPr id="43" name="Freeform 43"/>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4" name="TextBox 44"/>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2736178"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8478095"/>
            <a:ext cx="16230600" cy="943898"/>
            <a:chOff x="0" y="0"/>
            <a:chExt cx="4274726" cy="248599"/>
          </a:xfrm>
        </p:grpSpPr>
        <p:sp>
          <p:nvSpPr>
            <p:cNvPr id="13" name="Freeform 13"/>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4" name="TextBox 14"/>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4749434"/>
            <a:ext cx="16230600" cy="4672559"/>
            <a:chOff x="0" y="0"/>
            <a:chExt cx="4274726" cy="1230633"/>
          </a:xfrm>
        </p:grpSpPr>
        <p:sp>
          <p:nvSpPr>
            <p:cNvPr id="16" name="Freeform 16"/>
            <p:cNvSpPr/>
            <p:nvPr/>
          </p:nvSpPr>
          <p:spPr>
            <a:xfrm>
              <a:off x="0" y="0"/>
              <a:ext cx="4274726" cy="1230633"/>
            </a:xfrm>
            <a:custGeom>
              <a:avLst/>
              <a:gdLst/>
              <a:ahLst/>
              <a:cxnLst/>
              <a:rect l="l" t="t" r="r" b="b"/>
              <a:pathLst>
                <a:path w="4274726" h="1230633">
                  <a:moveTo>
                    <a:pt x="24327" y="0"/>
                  </a:moveTo>
                  <a:lnTo>
                    <a:pt x="4250399" y="0"/>
                  </a:lnTo>
                  <a:cubicBezTo>
                    <a:pt x="4263834" y="0"/>
                    <a:pt x="4274726" y="10891"/>
                    <a:pt x="4274726" y="24327"/>
                  </a:cubicBezTo>
                  <a:lnTo>
                    <a:pt x="4274726" y="1206306"/>
                  </a:lnTo>
                  <a:cubicBezTo>
                    <a:pt x="4274726" y="1212758"/>
                    <a:pt x="4272163" y="1218946"/>
                    <a:pt x="4267601" y="1223508"/>
                  </a:cubicBezTo>
                  <a:cubicBezTo>
                    <a:pt x="4263039" y="1228070"/>
                    <a:pt x="4256851" y="1230633"/>
                    <a:pt x="4250399" y="1230633"/>
                  </a:cubicBezTo>
                  <a:lnTo>
                    <a:pt x="24327" y="1230633"/>
                  </a:lnTo>
                  <a:cubicBezTo>
                    <a:pt x="10891" y="1230633"/>
                    <a:pt x="0" y="1219741"/>
                    <a:pt x="0" y="1206306"/>
                  </a:cubicBezTo>
                  <a:lnTo>
                    <a:pt x="0" y="24327"/>
                  </a:lnTo>
                  <a:cubicBezTo>
                    <a:pt x="0" y="10891"/>
                    <a:pt x="10891" y="0"/>
                    <a:pt x="24327" y="0"/>
                  </a:cubicBezTo>
                  <a:close/>
                </a:path>
              </a:pathLst>
            </a:custGeom>
            <a:ln w="19050" cap="rnd">
              <a:solidFill>
                <a:srgbClr val="283396"/>
              </a:solidFill>
              <a:prstDash val="solid"/>
              <a:round/>
            </a:ln>
          </p:spPr>
        </p:sp>
        <p:sp>
          <p:nvSpPr>
            <p:cNvPr id="17" name="TextBox 17"/>
            <p:cNvSpPr txBox="1"/>
            <p:nvPr/>
          </p:nvSpPr>
          <p:spPr>
            <a:xfrm>
              <a:off x="0" y="-38100"/>
              <a:ext cx="4274726" cy="1268733"/>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28700" y="2228619"/>
            <a:ext cx="16230600" cy="2914881"/>
            <a:chOff x="0" y="0"/>
            <a:chExt cx="4274726" cy="767705"/>
          </a:xfrm>
        </p:grpSpPr>
        <p:sp>
          <p:nvSpPr>
            <p:cNvPr id="19" name="Freeform 19"/>
            <p:cNvSpPr/>
            <p:nvPr/>
          </p:nvSpPr>
          <p:spPr>
            <a:xfrm>
              <a:off x="0" y="0"/>
              <a:ext cx="4274726" cy="767705"/>
            </a:xfrm>
            <a:custGeom>
              <a:avLst/>
              <a:gdLst/>
              <a:ahLst/>
              <a:cxnLst/>
              <a:rect l="l" t="t" r="r" b="b"/>
              <a:pathLst>
                <a:path w="4274726" h="767705">
                  <a:moveTo>
                    <a:pt x="24327" y="0"/>
                  </a:moveTo>
                  <a:lnTo>
                    <a:pt x="4250399" y="0"/>
                  </a:lnTo>
                  <a:cubicBezTo>
                    <a:pt x="4263834" y="0"/>
                    <a:pt x="4274726" y="10891"/>
                    <a:pt x="4274726" y="24327"/>
                  </a:cubicBezTo>
                  <a:lnTo>
                    <a:pt x="4274726" y="743379"/>
                  </a:lnTo>
                  <a:cubicBezTo>
                    <a:pt x="4274726" y="749830"/>
                    <a:pt x="4272163" y="756018"/>
                    <a:pt x="4267601" y="760580"/>
                  </a:cubicBezTo>
                  <a:cubicBezTo>
                    <a:pt x="4263039" y="765142"/>
                    <a:pt x="4256851" y="767705"/>
                    <a:pt x="4250399" y="767705"/>
                  </a:cubicBezTo>
                  <a:lnTo>
                    <a:pt x="24327" y="767705"/>
                  </a:lnTo>
                  <a:cubicBezTo>
                    <a:pt x="10891" y="767705"/>
                    <a:pt x="0" y="756814"/>
                    <a:pt x="0" y="743379"/>
                  </a:cubicBezTo>
                  <a:lnTo>
                    <a:pt x="0" y="24327"/>
                  </a:lnTo>
                  <a:cubicBezTo>
                    <a:pt x="0" y="10891"/>
                    <a:pt x="10891" y="0"/>
                    <a:pt x="24327" y="0"/>
                  </a:cubicBezTo>
                  <a:close/>
                </a:path>
              </a:pathLst>
            </a:custGeom>
            <a:ln w="19050" cap="rnd">
              <a:solidFill>
                <a:srgbClr val="283396"/>
              </a:solidFill>
              <a:prstDash val="solid"/>
              <a:round/>
            </a:ln>
          </p:spPr>
        </p:sp>
        <p:sp>
          <p:nvSpPr>
            <p:cNvPr id="20" name="TextBox 20"/>
            <p:cNvSpPr txBox="1"/>
            <p:nvPr/>
          </p:nvSpPr>
          <p:spPr>
            <a:xfrm>
              <a:off x="0" y="-38100"/>
              <a:ext cx="4274726" cy="805805"/>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2553649" y="4322625"/>
            <a:ext cx="3410343" cy="4108847"/>
          </a:xfrm>
          <a:custGeom>
            <a:avLst/>
            <a:gdLst/>
            <a:ahLst/>
            <a:cxnLst/>
            <a:rect l="l" t="t" r="r" b="b"/>
            <a:pathLst>
              <a:path w="3410343" h="4108847">
                <a:moveTo>
                  <a:pt x="0" y="0"/>
                </a:moveTo>
                <a:lnTo>
                  <a:pt x="3410343" y="0"/>
                </a:lnTo>
                <a:lnTo>
                  <a:pt x="3410343" y="4108847"/>
                </a:lnTo>
                <a:lnTo>
                  <a:pt x="0" y="4108847"/>
                </a:lnTo>
                <a:lnTo>
                  <a:pt x="0" y="0"/>
                </a:lnTo>
                <a:close/>
              </a:path>
            </a:pathLst>
          </a:custGeom>
          <a:blipFill>
            <a:blip r:embed="rId4"/>
            <a:stretch>
              <a:fillRect/>
            </a:stretch>
          </a:blipFill>
        </p:spPr>
      </p:sp>
      <p:sp>
        <p:nvSpPr>
          <p:cNvPr id="22" name="Freeform 22"/>
          <p:cNvSpPr/>
          <p:nvPr/>
        </p:nvSpPr>
        <p:spPr>
          <a:xfrm>
            <a:off x="7443060" y="4601350"/>
            <a:ext cx="3503110" cy="3596526"/>
          </a:xfrm>
          <a:custGeom>
            <a:avLst/>
            <a:gdLst/>
            <a:ahLst/>
            <a:cxnLst/>
            <a:rect l="l" t="t" r="r" b="b"/>
            <a:pathLst>
              <a:path w="3503110" h="3596526">
                <a:moveTo>
                  <a:pt x="0" y="0"/>
                </a:moveTo>
                <a:lnTo>
                  <a:pt x="3503110" y="0"/>
                </a:lnTo>
                <a:lnTo>
                  <a:pt x="3503110" y="3596526"/>
                </a:lnTo>
                <a:lnTo>
                  <a:pt x="0" y="3596526"/>
                </a:lnTo>
                <a:lnTo>
                  <a:pt x="0" y="0"/>
                </a:lnTo>
                <a:close/>
              </a:path>
            </a:pathLst>
          </a:custGeom>
          <a:blipFill>
            <a:blip r:embed="rId5"/>
            <a:stretch>
              <a:fillRect/>
            </a:stretch>
          </a:blipFill>
        </p:spPr>
      </p:sp>
      <p:sp>
        <p:nvSpPr>
          <p:cNvPr id="23" name="Freeform 23"/>
          <p:cNvSpPr/>
          <p:nvPr/>
        </p:nvSpPr>
        <p:spPr>
          <a:xfrm>
            <a:off x="12152008" y="4257315"/>
            <a:ext cx="3930065" cy="3974782"/>
          </a:xfrm>
          <a:custGeom>
            <a:avLst/>
            <a:gdLst/>
            <a:ahLst/>
            <a:cxnLst/>
            <a:rect l="l" t="t" r="r" b="b"/>
            <a:pathLst>
              <a:path w="3930065" h="3974782">
                <a:moveTo>
                  <a:pt x="0" y="0"/>
                </a:moveTo>
                <a:lnTo>
                  <a:pt x="3930065" y="0"/>
                </a:lnTo>
                <a:lnTo>
                  <a:pt x="3930065" y="3974782"/>
                </a:lnTo>
                <a:lnTo>
                  <a:pt x="0" y="3974782"/>
                </a:lnTo>
                <a:lnTo>
                  <a:pt x="0" y="0"/>
                </a:lnTo>
                <a:close/>
              </a:path>
            </a:pathLst>
          </a:custGeom>
          <a:blipFill>
            <a:blip r:embed="rId6"/>
            <a:stretch>
              <a:fillRect/>
            </a:stretch>
          </a:blipFill>
        </p:spPr>
      </p:sp>
      <p:sp>
        <p:nvSpPr>
          <p:cNvPr id="24" name="TextBox 24"/>
          <p:cNvSpPr txBox="1"/>
          <p:nvPr/>
        </p:nvSpPr>
        <p:spPr>
          <a:xfrm>
            <a:off x="1350057" y="693605"/>
            <a:ext cx="2657415" cy="396031"/>
          </a:xfrm>
          <a:prstGeom prst="rect">
            <a:avLst/>
          </a:prstGeom>
        </p:spPr>
        <p:txBody>
          <a:bodyPr lIns="0" tIns="0" rIns="0" bIns="0" rtlCol="0" anchor="t">
            <a:spAutoFit/>
          </a:bodyPr>
          <a:lstStyle/>
          <a:p>
            <a:pPr marL="0" lvl="0" indent="0" algn="l">
              <a:lnSpc>
                <a:spcPts val="1529"/>
              </a:lnSpc>
            </a:pPr>
            <a:r>
              <a:rPr lang="en-US" sz="1560" b="1" spc="-95">
                <a:solidFill>
                  <a:srgbClr val="283396"/>
                </a:solidFill>
                <a:latin typeface="Montaser Arabic Bold"/>
                <a:ea typeface="Montaser Arabic Bold"/>
                <a:cs typeface="Montaser Arabic Bold"/>
                <a:sym typeface="Montaser Arabic Bold"/>
              </a:rPr>
              <a:t>PYTHON</a:t>
            </a:r>
          </a:p>
          <a:p>
            <a:pPr marL="0" lvl="0" indent="0" algn="l">
              <a:lnSpc>
                <a:spcPts val="1529"/>
              </a:lnSpc>
            </a:pPr>
            <a:r>
              <a:rPr lang="en-US" sz="1560" b="1" spc="-95">
                <a:solidFill>
                  <a:srgbClr val="283396"/>
                </a:solidFill>
                <a:latin typeface="Montaser Arabic Bold"/>
                <a:ea typeface="Montaser Arabic Bold"/>
                <a:cs typeface="Montaser Arabic Bold"/>
                <a:sym typeface="Montaser Arabic Bold"/>
              </a:rPr>
              <a:t>PRESENTATION</a:t>
            </a:r>
          </a:p>
        </p:txBody>
      </p:sp>
      <p:sp>
        <p:nvSpPr>
          <p:cNvPr id="25" name="TextBox 25"/>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6" name="TextBox 26"/>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27" name="TextBox 27"/>
          <p:cNvSpPr txBox="1"/>
          <p:nvPr/>
        </p:nvSpPr>
        <p:spPr>
          <a:xfrm>
            <a:off x="9856201" y="774825"/>
            <a:ext cx="2024119" cy="265158"/>
          </a:xfrm>
          <a:prstGeom prst="rect">
            <a:avLst/>
          </a:prstGeom>
        </p:spPr>
        <p:txBody>
          <a:bodyPr lIns="0" tIns="0" rIns="0" bIns="0" rtlCol="0" anchor="t">
            <a:spAutoFit/>
          </a:bodyPr>
          <a:lstStyle/>
          <a:p>
            <a:pPr marL="0" lvl="0" indent="0" algn="ctr">
              <a:lnSpc>
                <a:spcPts val="2184"/>
              </a:lnSpc>
              <a:spcBef>
                <a:spcPct val="0"/>
              </a:spcBef>
            </a:pPr>
            <a:r>
              <a:rPr lang="en-US" sz="1560" b="1">
                <a:solidFill>
                  <a:srgbClr val="283396"/>
                </a:solidFill>
                <a:latin typeface="Montaser Arabic Bold"/>
                <a:ea typeface="Montaser Arabic Bold"/>
                <a:cs typeface="Montaser Arabic Bold"/>
                <a:sym typeface="Montaser Arabic Bold"/>
              </a:rPr>
              <a:t>CONTENT</a:t>
            </a:r>
          </a:p>
        </p:txBody>
      </p:sp>
      <p:sp>
        <p:nvSpPr>
          <p:cNvPr id="28" name="TextBox 28"/>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1" name="TextBox 31"/>
          <p:cNvSpPr txBox="1"/>
          <p:nvPr/>
        </p:nvSpPr>
        <p:spPr>
          <a:xfrm>
            <a:off x="8289176" y="8773641"/>
            <a:ext cx="1709648" cy="277558"/>
          </a:xfrm>
          <a:prstGeom prst="rect">
            <a:avLst/>
          </a:prstGeom>
        </p:spPr>
        <p:txBody>
          <a:bodyPr lIns="0" tIns="0" rIns="0" bIns="0" rtlCol="0" anchor="t">
            <a:spAutoFit/>
          </a:bodyPr>
          <a:lstStyle/>
          <a:p>
            <a:pPr marL="0" lvl="0" indent="0" algn="ctr">
              <a:lnSpc>
                <a:spcPts val="1759"/>
              </a:lnSpc>
            </a:pPr>
            <a:r>
              <a:rPr lang="en-US" sz="1725" b="1" spc="-62">
                <a:solidFill>
                  <a:srgbClr val="EFEEEB"/>
                </a:solidFill>
                <a:latin typeface="Agrandir Grand Bold"/>
                <a:ea typeface="Agrandir Grand Bold"/>
                <a:cs typeface="Agrandir Grand Bold"/>
                <a:sym typeface="Agrandir Grand Bold"/>
              </a:rPr>
              <a:t>-</a:t>
            </a:r>
          </a:p>
        </p:txBody>
      </p:sp>
      <p:sp>
        <p:nvSpPr>
          <p:cNvPr id="32" name="TextBox 32"/>
          <p:cNvSpPr txBox="1"/>
          <p:nvPr/>
        </p:nvSpPr>
        <p:spPr>
          <a:xfrm>
            <a:off x="1515883" y="2874044"/>
            <a:ext cx="8444841" cy="1125757"/>
          </a:xfrm>
          <a:prstGeom prst="rect">
            <a:avLst/>
          </a:prstGeom>
        </p:spPr>
        <p:txBody>
          <a:bodyPr lIns="0" tIns="0" rIns="0" bIns="0" rtlCol="0" anchor="t">
            <a:spAutoFit/>
          </a:bodyPr>
          <a:lstStyle/>
          <a:p>
            <a:pPr marL="0" lvl="0" indent="0" algn="l">
              <a:lnSpc>
                <a:spcPts val="8707"/>
              </a:lnSpc>
            </a:pPr>
            <a:r>
              <a:rPr lang="en-US" sz="8536" b="1" spc="-307" dirty="0">
                <a:solidFill>
                  <a:srgbClr val="283396"/>
                </a:solidFill>
                <a:latin typeface="+mj-lt"/>
                <a:ea typeface="Agrandir Grand Bold"/>
                <a:cs typeface="Agrandir Grand Bold"/>
                <a:sym typeface="Agrandir Grand Bold"/>
              </a:rPr>
              <a:t>THANK YOU</a:t>
            </a:r>
          </a:p>
        </p:txBody>
      </p:sp>
      <p:sp>
        <p:nvSpPr>
          <p:cNvPr id="33" name="TextBox 33"/>
          <p:cNvSpPr txBox="1"/>
          <p:nvPr/>
        </p:nvSpPr>
        <p:spPr>
          <a:xfrm>
            <a:off x="10161676" y="2798816"/>
            <a:ext cx="6627817" cy="1489382"/>
          </a:xfrm>
          <a:prstGeom prst="rect">
            <a:avLst/>
          </a:prstGeom>
        </p:spPr>
        <p:txBody>
          <a:bodyPr lIns="0" tIns="0" rIns="0" bIns="0" rtlCol="0" anchor="t">
            <a:spAutoFit/>
          </a:bodyPr>
          <a:lstStyle/>
          <a:p>
            <a:pPr marL="0" lvl="0" indent="0" algn="just">
              <a:lnSpc>
                <a:spcPts val="2937"/>
              </a:lnSpc>
            </a:pPr>
            <a:r>
              <a:rPr lang="en-US" sz="2800" b="1" dirty="0">
                <a:solidFill>
                  <a:srgbClr val="283396"/>
                </a:solidFill>
                <a:latin typeface="+mj-lt"/>
                <a:ea typeface="Montaser Arabic Light"/>
                <a:cs typeface="Montaser Arabic Light"/>
                <a:sym typeface="Montaser Arabic Light"/>
              </a:rPr>
              <a:t>Thank you for your attention! Questions and discussion are welcome. Feel free to reach out for further information about Python programming.</a:t>
            </a:r>
          </a:p>
        </p:txBody>
      </p:sp>
      <p:grpSp>
        <p:nvGrpSpPr>
          <p:cNvPr id="34" name="Group 34"/>
          <p:cNvGrpSpPr/>
          <p:nvPr/>
        </p:nvGrpSpPr>
        <p:grpSpPr>
          <a:xfrm>
            <a:off x="16654269" y="6417598"/>
            <a:ext cx="1210061" cy="12100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16916710" y="6699071"/>
            <a:ext cx="685181" cy="647115"/>
            <a:chOff x="0" y="0"/>
            <a:chExt cx="685800" cy="647700"/>
          </a:xfrm>
        </p:grpSpPr>
        <p:sp>
          <p:nvSpPr>
            <p:cNvPr id="38" name="Freeform 38"/>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9" name="TextBox 39"/>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0" name="Group 40"/>
          <p:cNvGrpSpPr/>
          <p:nvPr/>
        </p:nvGrpSpPr>
        <p:grpSpPr>
          <a:xfrm>
            <a:off x="573096" y="5489009"/>
            <a:ext cx="1210061" cy="12100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3" name="Group 43"/>
          <p:cNvGrpSpPr/>
          <p:nvPr/>
        </p:nvGrpSpPr>
        <p:grpSpPr>
          <a:xfrm>
            <a:off x="835536" y="5770482"/>
            <a:ext cx="685181" cy="647115"/>
            <a:chOff x="0" y="0"/>
            <a:chExt cx="685800" cy="647700"/>
          </a:xfrm>
        </p:grpSpPr>
        <p:sp>
          <p:nvSpPr>
            <p:cNvPr id="44" name="Freeform 4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5" name="TextBox 4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TotalTime>
  <Words>1331</Words>
  <Application>Microsoft Office PowerPoint</Application>
  <PresentationFormat>Custom</PresentationFormat>
  <Paragraphs>192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Montaser Arabic Light</vt:lpstr>
      <vt:lpstr>Courier New</vt:lpstr>
      <vt:lpstr>Calibri</vt:lpstr>
      <vt:lpstr>Agrandir Grand Bold</vt:lpstr>
      <vt:lpstr>Montaser Arabic Bold</vt:lpstr>
      <vt:lpstr>Arial</vt:lpstr>
      <vt:lpstr>Montaser 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Levels Overview</dc:title>
  <dc:creator>Triveni</dc:creator>
  <cp:lastModifiedBy>Triveni Singh</cp:lastModifiedBy>
  <cp:revision>6</cp:revision>
  <dcterms:created xsi:type="dcterms:W3CDTF">2006-08-16T00:00:00Z</dcterms:created>
  <dcterms:modified xsi:type="dcterms:W3CDTF">2026-05-19T04:38:10Z</dcterms:modified>
  <dc:identifier>DAHJ5bIsqAU</dc:identifier>
</cp:coreProperties>
</file>